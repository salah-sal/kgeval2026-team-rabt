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5673"/>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1874519"/>
            <a:ext cx="9692640" cy="2194560"/>
          </a:xfrm>
          <a:prstGeom prst="rect">
            <a:avLst/>
          </a:prstGeom>
          <a:noFill/>
        </p:spPr>
        <p:txBody>
          <a:bodyPr wrap="square" lIns="0" rIns="0" tIns="0" bIns="0">
            <a:spAutoFit/>
          </a:bodyPr>
          <a:lstStyle/>
          <a:p>
            <a:pPr>
              <a:lnSpc>
                <a:spcPct val="112000"/>
              </a:lnSpc>
            </a:pPr>
            <a:r>
              <a:rPr sz="4200" b="1">
                <a:solidFill>
                  <a:srgbClr val="FFFFFF"/>
                </a:solidFill>
                <a:latin typeface="Trebuchet MS"/>
              </a:rPr>
              <a:t>A New Researcher's Companion</a:t>
            </a:r>
            <a:br/>
            <a:r>
              <a:rPr sz="4200" b="1">
                <a:solidFill>
                  <a:srgbClr val="FFFFFF"/>
                </a:solidFill>
                <a:latin typeface="Trebuchet MS"/>
              </a:rPr>
              <a:t>to the Rabt System</a:t>
            </a:r>
          </a:p>
          <a:p>
            <a:pPr>
              <a:spcBef>
                <a:spcPts val="1600"/>
              </a:spcBef>
            </a:pPr>
            <a:r>
              <a:rPr sz="1900">
                <a:solidFill>
                  <a:srgbClr val="CBDDE6"/>
                </a:solidFill>
                <a:latin typeface="Trebuchet MS"/>
              </a:rPr>
              <a:t>Every concept, method, and model behind our KnowledgeGraphEval 2026 system paper</a:t>
            </a:r>
          </a:p>
        </p:txBody>
      </p:sp>
      <p:sp>
        <p:nvSpPr>
          <p:cNvPr id="4" name="Rectangle 3"/>
          <p:cNvSpPr/>
          <p:nvPr/>
        </p:nvSpPr>
        <p:spPr>
          <a:xfrm>
            <a:off x="1143000" y="4315968"/>
            <a:ext cx="2926080" cy="2540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4572000"/>
            <a:ext cx="9692640" cy="1280160"/>
          </a:xfrm>
          <a:prstGeom prst="rect">
            <a:avLst/>
          </a:prstGeom>
          <a:noFill/>
        </p:spPr>
        <p:txBody>
          <a:bodyPr wrap="square" lIns="0" rIns="0" tIns="0" bIns="0">
            <a:spAutoFit/>
          </a:bodyPr>
          <a:lstStyle/>
          <a:p>
            <a:pPr>
              <a:spcAft>
                <a:spcPts val="400"/>
              </a:spcAft>
            </a:pPr>
            <a:r>
              <a:rPr sz="1300">
                <a:solidFill>
                  <a:srgbClr val="A9C6D4"/>
                </a:solidFill>
                <a:latin typeface="Trebuchet MS"/>
              </a:rPr>
              <a:t>Team Rabt  ·  ArabicNLP 2026  ·  AdaptNER and Relation Extraction</a:t>
            </a:r>
          </a:p>
          <a:p>
            <a:pPr>
              <a:spcAft>
                <a:spcPts val="400"/>
              </a:spcAft>
            </a:pPr>
            <a:r>
              <a:rPr sz="1300">
                <a:solidFill>
                  <a:srgbClr val="A9C6D4"/>
                </a:solidFill>
                <a:latin typeface="Trebuchet MS"/>
              </a:rPr>
              <a:t>Salah Abdo and Faisal Muhammad Adam  ·  working meeting, 25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TEAM RABT · STATE OF PLAY</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Where we stand today</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2467279" cy="173736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2700" b="1">
                <a:solidFill>
                  <a:srgbClr val="1F5673"/>
                </a:solidFill>
                <a:latin typeface="Trebuchet MS"/>
              </a:rPr>
              <a:t>0.7483</a:t>
            </a:r>
          </a:p>
          <a:p>
            <a:pPr algn="ctr">
              <a:lnSpc>
                <a:spcPct val="115000"/>
              </a:lnSpc>
              <a:spcBef>
                <a:spcPts val="500"/>
              </a:spcBef>
            </a:pPr>
            <a:r>
              <a:rPr b="1" sz="1250">
                <a:solidFill>
                  <a:srgbClr val="6B6B6B"/>
                </a:solidFill>
                <a:latin typeface="Trebuchet MS"/>
              </a:rPr>
              <a:t>AdaptNER</a:t>
            </a:r>
            <a:r>
              <a:rPr sz="1250" b="0">
                <a:solidFill>
                  <a:srgbClr val="6B6B6B"/>
                </a:solidFill>
                <a:latin typeface="Trebuchet MS"/>
              </a:rPr>
              <a:t> blind micro-F1</a:t>
            </a:r>
            <a:br/>
            <a:r>
              <a:rPr sz="1250" b="0">
                <a:solidFill>
                  <a:srgbClr val="6B6B6B"/>
                </a:solidFill>
                <a:latin typeface="Trebuchet MS"/>
              </a:rPr>
              <a:t>3-seed majority vote, submitted Jul 24</a:t>
            </a:r>
          </a:p>
        </p:txBody>
      </p:sp>
      <p:sp>
        <p:nvSpPr>
          <p:cNvPr id="6" name="Rounded Rectangle 5"/>
          <p:cNvSpPr/>
          <p:nvPr/>
        </p:nvSpPr>
        <p:spPr>
          <a:xfrm>
            <a:off x="3500551" y="1572768"/>
            <a:ext cx="2467279" cy="173736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2700" b="1">
                <a:solidFill>
                  <a:srgbClr val="1F5673"/>
                </a:solidFill>
                <a:latin typeface="Trebuchet MS"/>
              </a:rPr>
              <a:t>0.9571</a:t>
            </a:r>
          </a:p>
          <a:p>
            <a:pPr algn="ctr">
              <a:lnSpc>
                <a:spcPct val="115000"/>
              </a:lnSpc>
              <a:spcBef>
                <a:spcPts val="500"/>
              </a:spcBef>
            </a:pPr>
            <a:r>
              <a:rPr b="1" sz="1250">
                <a:solidFill>
                  <a:srgbClr val="6B6B6B"/>
                </a:solidFill>
                <a:latin typeface="Trebuchet MS"/>
              </a:rPr>
              <a:t>Relation extraction</a:t>
            </a:r>
            <a:r>
              <a:rPr sz="1250" b="0">
                <a:solidFill>
                  <a:srgbClr val="6B6B6B"/>
                </a:solidFill>
                <a:latin typeface="Trebuchet MS"/>
              </a:rPr>
              <a:t> blind micro-F1</a:t>
            </a:r>
            <a:br/>
            <a:r>
              <a:rPr sz="1250" b="0">
                <a:solidFill>
                  <a:srgbClr val="6B6B6B"/>
                </a:solidFill>
                <a:latin typeface="Trebuchet MS"/>
              </a:rPr>
              <a:t>5-fold ensemble, submitted Jul 24</a:t>
            </a:r>
          </a:p>
        </p:txBody>
      </p:sp>
      <p:sp>
        <p:nvSpPr>
          <p:cNvPr id="7" name="Rounded Rectangle 6"/>
          <p:cNvSpPr/>
          <p:nvPr/>
        </p:nvSpPr>
        <p:spPr>
          <a:xfrm>
            <a:off x="6223863" y="1572768"/>
            <a:ext cx="2467279" cy="173736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2700" b="1">
                <a:solidFill>
                  <a:srgbClr val="1F5673"/>
                </a:solidFill>
                <a:latin typeface="Trebuchet MS"/>
              </a:rPr>
              <a:t>2 of 10</a:t>
            </a:r>
          </a:p>
          <a:p>
            <a:pPr algn="ctr">
              <a:lnSpc>
                <a:spcPct val="115000"/>
              </a:lnSpc>
              <a:spcBef>
                <a:spcPts val="500"/>
              </a:spcBef>
            </a:pPr>
            <a:r>
              <a:rPr sz="1250" b="0">
                <a:solidFill>
                  <a:srgbClr val="6B6B6B"/>
                </a:solidFill>
                <a:latin typeface="Trebuchet MS"/>
              </a:rPr>
              <a:t>Codabench submissions used</a:t>
            </a:r>
            <a:br/>
            <a:r>
              <a:rPr b="1" sz="1250">
                <a:solidFill>
                  <a:srgbClr val="6B6B6B"/>
                </a:solidFill>
                <a:latin typeface="Trebuchet MS"/>
              </a:rPr>
              <a:t>per subtask</a:t>
            </a:r>
            <a:r>
              <a:rPr sz="1250" b="0">
                <a:solidFill>
                  <a:srgbClr val="6B6B6B"/>
                </a:solidFill>
                <a:latin typeface="Trebuchet MS"/>
              </a:rPr>
              <a:t> (3/day, 10 total)</a:t>
            </a:r>
          </a:p>
        </p:txBody>
      </p:sp>
      <p:sp>
        <p:nvSpPr>
          <p:cNvPr id="8" name="Rounded Rectangle 7"/>
          <p:cNvSpPr/>
          <p:nvPr/>
        </p:nvSpPr>
        <p:spPr>
          <a:xfrm>
            <a:off x="8947175" y="1572768"/>
            <a:ext cx="2467279" cy="173736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2700" b="1">
                <a:solidFill>
                  <a:srgbClr val="1F5673"/>
                </a:solidFill>
                <a:latin typeface="Trebuchet MS"/>
              </a:rPr>
              <a:t>4 days</a:t>
            </a:r>
          </a:p>
          <a:p>
            <a:pPr algn="ctr">
              <a:lnSpc>
                <a:spcPct val="115000"/>
              </a:lnSpc>
              <a:spcBef>
                <a:spcPts val="500"/>
              </a:spcBef>
            </a:pPr>
            <a:r>
              <a:rPr sz="1250" b="0">
                <a:solidFill>
                  <a:srgbClr val="6B6B6B"/>
                </a:solidFill>
                <a:latin typeface="Trebuchet MS"/>
              </a:rPr>
              <a:t>until the test phase closes</a:t>
            </a:r>
            <a:br/>
            <a:r>
              <a:rPr b="1" sz="1250">
                <a:solidFill>
                  <a:srgbClr val="6B6B6B"/>
                </a:solidFill>
                <a:latin typeface="Trebuchet MS"/>
              </a:rPr>
              <a:t>29 July</a:t>
            </a:r>
          </a:p>
        </p:txBody>
      </p:sp>
      <p:sp>
        <p:nvSpPr>
          <p:cNvPr id="9" name="TextBox 8"/>
          <p:cNvSpPr txBox="1"/>
          <p:nvPr/>
        </p:nvSpPr>
        <p:spPr>
          <a:xfrm>
            <a:off x="777240" y="3529584"/>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Both subtasks are entered, submitted, and format-valid.</a:t>
            </a:r>
            <a:r>
              <a:rPr sz="1700" b="0">
                <a:solidFill>
                  <a:srgbClr val="1A1A1A"/>
                </a:solidFill>
                <a:latin typeface="Trebuchet MS"/>
              </a:rPr>
              <a:t> Each track improved on its own first submission: AdaptNER +0.98 F1, RE +0.52 F1</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Official ranks are not public until 30 July.</a:t>
            </a:r>
            <a:r>
              <a:rPr sz="1700" b="0">
                <a:solidFill>
                  <a:srgbClr val="1A1A1A"/>
                </a:solidFill>
                <a:latin typeface="Trebuchet MS"/>
              </a:rPr>
              <a:t> At the 21 July board snapshot both of our scores were ahead of the visible leaders, but that is a snapshot, not a result</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The system paper is drafted</a:t>
            </a:r>
            <a:r>
              <a:rPr sz="1700" b="0">
                <a:solidFill>
                  <a:srgbClr val="1A1A1A"/>
                </a:solidFill>
                <a:latin typeface="Trebuchet MS"/>
              </a:rPr>
              <a:t> in ACL LaTeX and is in the team repo </a:t>
            </a:r>
            <a:r>
              <a:rPr sz="1530" b="0">
                <a:solidFill>
                  <a:srgbClr val="1F5673"/>
                </a:solidFill>
                <a:latin typeface="Consolas"/>
              </a:rPr>
              <a:t>kgeval2026-team-rabt</a:t>
            </a:r>
            <a:r>
              <a:rPr sz="1700" b="0">
                <a:solidFill>
                  <a:srgbClr val="1A1A1A"/>
                </a:solidFill>
                <a:latin typeface="Trebuchet MS"/>
              </a:rPr>
              <a:t>, along with the full code for both subtasks</a:t>
            </a:r>
          </a:p>
        </p:txBody>
      </p:sp>
      <p:sp>
        <p:nvSpPr>
          <p:cNvPr id="10" name="TextBox 9"/>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Team Rabt · KnowledgeGraphEval 2026</a:t>
            </a:r>
          </a:p>
        </p:txBody>
      </p:sp>
      <p:sp>
        <p:nvSpPr>
          <p:cNvPr id="11" name="TextBox 10"/>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OFFICIAL DATES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The shared task timeline</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Two deadlines are still ahead of us, and they are different kinds of work: four days of careful submission, then four weeks of writing.</a:t>
            </a:r>
          </a:p>
        </p:txBody>
      </p:sp>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Team Rabt · KnowledgeGraphEval 2026</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3</a:t>
            </a:r>
          </a:p>
        </p:txBody>
      </p:sp>
      <p:sp>
        <p:nvSpPr>
          <p:cNvPr id="8" name="TextBox 7"/>
          <p:cNvSpPr txBox="1"/>
          <p:nvPr/>
        </p:nvSpPr>
        <p:spPr>
          <a:xfrm>
            <a:off x="960120" y="2304288"/>
            <a:ext cx="10241280" cy="292608"/>
          </a:xfrm>
          <a:prstGeom prst="rect">
            <a:avLst/>
          </a:prstGeom>
          <a:noFill/>
        </p:spPr>
        <p:txBody>
          <a:bodyPr wrap="square" lIns="0" rIns="0" tIns="0" bIns="0">
            <a:spAutoFit/>
          </a:bodyPr>
          <a:lstStyle/>
          <a:p>
            <a:pPr algn="l">
              <a:lnSpc>
                <a:spcPct val="115000"/>
              </a:lnSpc>
            </a:pPr>
            <a:r>
              <a:rPr sz="1300" b="1">
                <a:solidFill>
                  <a:srgbClr val="9E4A2B"/>
                </a:solidFill>
                <a:latin typeface="Trebuchet MS"/>
              </a:rPr>
              <a:t>today: 25 July 2026</a:t>
            </a:r>
          </a:p>
        </p:txBody>
      </p:sp>
      <p:sp>
        <p:nvSpPr>
          <p:cNvPr id="9" name="Rectangle 8"/>
          <p:cNvSpPr/>
          <p:nvPr/>
        </p:nvSpPr>
        <p:spPr>
          <a:xfrm>
            <a:off x="960120" y="2615184"/>
            <a:ext cx="4224528" cy="2540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60120" y="3657600"/>
            <a:ext cx="10241280" cy="254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115568" y="3552444"/>
            <a:ext cx="237744" cy="237744"/>
          </a:xfrm>
          <a:prstGeom prst="roundRect">
            <a:avLst>
              <a:gd name="adj" fmla="val 50000"/>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2" name="TextBox 11"/>
          <p:cNvSpPr txBox="1"/>
          <p:nvPr/>
        </p:nvSpPr>
        <p:spPr>
          <a:xfrm>
            <a:off x="448056" y="2761488"/>
            <a:ext cx="1572768" cy="292608"/>
          </a:xfrm>
          <a:prstGeom prst="rect">
            <a:avLst/>
          </a:prstGeom>
          <a:noFill/>
        </p:spPr>
        <p:txBody>
          <a:bodyPr wrap="square" lIns="0" rIns="0" tIns="0" bIns="0">
            <a:spAutoFit/>
          </a:bodyPr>
          <a:lstStyle/>
          <a:p>
            <a:pPr algn="ctr">
              <a:lnSpc>
                <a:spcPct val="115000"/>
              </a:lnSpc>
            </a:pPr>
            <a:r>
              <a:rPr sz="1450" b="1">
                <a:solidFill>
                  <a:srgbClr val="6B6B6B"/>
                </a:solidFill>
                <a:latin typeface="Trebuchet MS"/>
              </a:rPr>
              <a:t>16 May</a:t>
            </a:r>
          </a:p>
        </p:txBody>
      </p:sp>
      <p:sp>
        <p:nvSpPr>
          <p:cNvPr id="13" name="TextBox 12"/>
          <p:cNvSpPr txBox="1"/>
          <p:nvPr/>
        </p:nvSpPr>
        <p:spPr>
          <a:xfrm>
            <a:off x="448056" y="3017520"/>
            <a:ext cx="1572768" cy="640080"/>
          </a:xfrm>
          <a:prstGeom prst="rect">
            <a:avLst/>
          </a:prstGeom>
          <a:noFill/>
        </p:spPr>
        <p:txBody>
          <a:bodyPr wrap="square" lIns="0" rIns="0" tIns="0" bIns="0">
            <a:spAutoFit/>
          </a:bodyPr>
          <a:lstStyle/>
          <a:p>
            <a:pPr algn="ctr">
              <a:lnSpc>
                <a:spcPct val="115000"/>
              </a:lnSpc>
            </a:pPr>
            <a:r>
              <a:rPr sz="1200" b="0">
                <a:solidFill>
                  <a:srgbClr val="6B6B6B"/>
                </a:solidFill>
                <a:latin typeface="Trebuchet MS"/>
              </a:rPr>
              <a:t>Website and</a:t>
            </a:r>
            <a:br/>
            <a:r>
              <a:rPr sz="1200" b="0">
                <a:solidFill>
                  <a:srgbClr val="6B6B6B"/>
                </a:solidFill>
                <a:latin typeface="Trebuchet MS"/>
              </a:rPr>
              <a:t>registration open</a:t>
            </a:r>
          </a:p>
        </p:txBody>
      </p:sp>
      <p:sp>
        <p:nvSpPr>
          <p:cNvPr id="14" name="Rounded Rectangle 13"/>
          <p:cNvSpPr/>
          <p:nvPr/>
        </p:nvSpPr>
        <p:spPr>
          <a:xfrm>
            <a:off x="2743200" y="3552444"/>
            <a:ext cx="237744" cy="237744"/>
          </a:xfrm>
          <a:prstGeom prst="roundRect">
            <a:avLst>
              <a:gd name="adj" fmla="val 50000"/>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5" name="TextBox 14"/>
          <p:cNvSpPr txBox="1"/>
          <p:nvPr/>
        </p:nvSpPr>
        <p:spPr>
          <a:xfrm>
            <a:off x="2075688" y="3968496"/>
            <a:ext cx="1572768" cy="292608"/>
          </a:xfrm>
          <a:prstGeom prst="rect">
            <a:avLst/>
          </a:prstGeom>
          <a:noFill/>
        </p:spPr>
        <p:txBody>
          <a:bodyPr wrap="square" lIns="0" rIns="0" tIns="0" bIns="0">
            <a:spAutoFit/>
          </a:bodyPr>
          <a:lstStyle/>
          <a:p>
            <a:pPr algn="ctr">
              <a:lnSpc>
                <a:spcPct val="115000"/>
              </a:lnSpc>
            </a:pPr>
            <a:r>
              <a:rPr sz="1450" b="1">
                <a:solidFill>
                  <a:srgbClr val="6B6B6B"/>
                </a:solidFill>
                <a:latin typeface="Trebuchet MS"/>
              </a:rPr>
              <a:t>5 June</a:t>
            </a:r>
          </a:p>
        </p:txBody>
      </p:sp>
      <p:sp>
        <p:nvSpPr>
          <p:cNvPr id="16" name="TextBox 15"/>
          <p:cNvSpPr txBox="1"/>
          <p:nvPr/>
        </p:nvSpPr>
        <p:spPr>
          <a:xfrm>
            <a:off x="2075688" y="4224528"/>
            <a:ext cx="1572768" cy="640080"/>
          </a:xfrm>
          <a:prstGeom prst="rect">
            <a:avLst/>
          </a:prstGeom>
          <a:noFill/>
        </p:spPr>
        <p:txBody>
          <a:bodyPr wrap="square" lIns="0" rIns="0" tIns="0" bIns="0">
            <a:spAutoFit/>
          </a:bodyPr>
          <a:lstStyle/>
          <a:p>
            <a:pPr algn="ctr">
              <a:lnSpc>
                <a:spcPct val="115000"/>
              </a:lnSpc>
            </a:pPr>
            <a:r>
              <a:rPr sz="1200" b="0">
                <a:solidFill>
                  <a:srgbClr val="6B6B6B"/>
                </a:solidFill>
                <a:latin typeface="Trebuchet MS"/>
              </a:rPr>
              <a:t>Training data and</a:t>
            </a:r>
            <a:br/>
            <a:r>
              <a:rPr sz="1200" b="0">
                <a:solidFill>
                  <a:srgbClr val="6B6B6B"/>
                </a:solidFill>
                <a:latin typeface="Trebuchet MS"/>
              </a:rPr>
              <a:t>evaluation scripts</a:t>
            </a:r>
          </a:p>
        </p:txBody>
      </p:sp>
      <p:sp>
        <p:nvSpPr>
          <p:cNvPr id="17" name="Rounded Rectangle 16"/>
          <p:cNvSpPr/>
          <p:nvPr/>
        </p:nvSpPr>
        <p:spPr>
          <a:xfrm>
            <a:off x="4370832" y="3552444"/>
            <a:ext cx="237744" cy="237744"/>
          </a:xfrm>
          <a:prstGeom prst="roundRect">
            <a:avLst>
              <a:gd name="adj" fmla="val 50000"/>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8" name="TextBox 17"/>
          <p:cNvSpPr txBox="1"/>
          <p:nvPr/>
        </p:nvSpPr>
        <p:spPr>
          <a:xfrm>
            <a:off x="3703320" y="2761488"/>
            <a:ext cx="1572768" cy="292608"/>
          </a:xfrm>
          <a:prstGeom prst="rect">
            <a:avLst/>
          </a:prstGeom>
          <a:noFill/>
        </p:spPr>
        <p:txBody>
          <a:bodyPr wrap="square" lIns="0" rIns="0" tIns="0" bIns="0">
            <a:spAutoFit/>
          </a:bodyPr>
          <a:lstStyle/>
          <a:p>
            <a:pPr algn="ctr">
              <a:lnSpc>
                <a:spcPct val="115000"/>
              </a:lnSpc>
            </a:pPr>
            <a:r>
              <a:rPr sz="1450" b="1">
                <a:solidFill>
                  <a:srgbClr val="6B6B6B"/>
                </a:solidFill>
                <a:latin typeface="Trebuchet MS"/>
              </a:rPr>
              <a:t>20 July</a:t>
            </a:r>
          </a:p>
        </p:txBody>
      </p:sp>
      <p:sp>
        <p:nvSpPr>
          <p:cNvPr id="19" name="TextBox 18"/>
          <p:cNvSpPr txBox="1"/>
          <p:nvPr/>
        </p:nvSpPr>
        <p:spPr>
          <a:xfrm>
            <a:off x="3703320" y="3017520"/>
            <a:ext cx="1572768" cy="640080"/>
          </a:xfrm>
          <a:prstGeom prst="rect">
            <a:avLst/>
          </a:prstGeom>
          <a:noFill/>
        </p:spPr>
        <p:txBody>
          <a:bodyPr wrap="square" lIns="0" rIns="0" tIns="0" bIns="0">
            <a:spAutoFit/>
          </a:bodyPr>
          <a:lstStyle/>
          <a:p>
            <a:pPr algn="ctr">
              <a:lnSpc>
                <a:spcPct val="115000"/>
              </a:lnSpc>
            </a:pPr>
            <a:r>
              <a:rPr sz="1200" b="0">
                <a:solidFill>
                  <a:srgbClr val="6B6B6B"/>
                </a:solidFill>
                <a:latin typeface="Trebuchet MS"/>
              </a:rPr>
              <a:t>Registration closed,</a:t>
            </a:r>
            <a:br/>
            <a:r>
              <a:rPr sz="1200" b="0">
                <a:solidFill>
                  <a:srgbClr val="6B6B6B"/>
                </a:solidFill>
                <a:latin typeface="Trebuchet MS"/>
              </a:rPr>
              <a:t>blind test released</a:t>
            </a:r>
          </a:p>
        </p:txBody>
      </p:sp>
      <p:sp>
        <p:nvSpPr>
          <p:cNvPr id="20" name="Rounded Rectangle 19"/>
          <p:cNvSpPr/>
          <p:nvPr/>
        </p:nvSpPr>
        <p:spPr>
          <a:xfrm>
            <a:off x="5943599" y="3497579"/>
            <a:ext cx="347472" cy="347472"/>
          </a:xfrm>
          <a:prstGeom prst="roundRect">
            <a:avLst>
              <a:gd name="adj" fmla="val 50000"/>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21" name="TextBox 20"/>
          <p:cNvSpPr txBox="1"/>
          <p:nvPr/>
        </p:nvSpPr>
        <p:spPr>
          <a:xfrm>
            <a:off x="5330951" y="3968496"/>
            <a:ext cx="1572768" cy="292608"/>
          </a:xfrm>
          <a:prstGeom prst="rect">
            <a:avLst/>
          </a:prstGeom>
          <a:noFill/>
        </p:spPr>
        <p:txBody>
          <a:bodyPr wrap="square" lIns="0" rIns="0" tIns="0" bIns="0">
            <a:spAutoFit/>
          </a:bodyPr>
          <a:lstStyle/>
          <a:p>
            <a:pPr algn="ctr">
              <a:lnSpc>
                <a:spcPct val="115000"/>
              </a:lnSpc>
            </a:pPr>
            <a:r>
              <a:rPr sz="1450" b="1">
                <a:solidFill>
                  <a:srgbClr val="9E4A2B"/>
                </a:solidFill>
                <a:latin typeface="Trebuchet MS"/>
              </a:rPr>
              <a:t>29 July</a:t>
            </a:r>
          </a:p>
        </p:txBody>
      </p:sp>
      <p:sp>
        <p:nvSpPr>
          <p:cNvPr id="22" name="TextBox 21"/>
          <p:cNvSpPr txBox="1"/>
          <p:nvPr/>
        </p:nvSpPr>
        <p:spPr>
          <a:xfrm>
            <a:off x="5330951" y="4224528"/>
            <a:ext cx="1572768" cy="640080"/>
          </a:xfrm>
          <a:prstGeom prst="rect">
            <a:avLst/>
          </a:prstGeom>
          <a:noFill/>
        </p:spPr>
        <p:txBody>
          <a:bodyPr wrap="square" lIns="0" rIns="0" tIns="0" bIns="0">
            <a:spAutoFit/>
          </a:bodyPr>
          <a:lstStyle/>
          <a:p>
            <a:pPr algn="ctr">
              <a:lnSpc>
                <a:spcPct val="115000"/>
              </a:lnSpc>
            </a:pPr>
            <a:r>
              <a:rPr sz="1200" b="0">
                <a:solidFill>
                  <a:srgbClr val="1A1A1A"/>
                </a:solidFill>
                <a:latin typeface="Trebuchet MS"/>
              </a:rPr>
              <a:t>Test submissions</a:t>
            </a:r>
            <a:br/>
            <a:r>
              <a:rPr sz="1200" b="0">
                <a:solidFill>
                  <a:srgbClr val="1A1A1A"/>
                </a:solidFill>
                <a:latin typeface="Trebuchet MS"/>
              </a:rPr>
              <a:t>CLOSE</a:t>
            </a:r>
          </a:p>
        </p:txBody>
      </p:sp>
      <p:sp>
        <p:nvSpPr>
          <p:cNvPr id="23" name="Rounded Rectangle 22"/>
          <p:cNvSpPr/>
          <p:nvPr/>
        </p:nvSpPr>
        <p:spPr>
          <a:xfrm>
            <a:off x="7626096" y="3552444"/>
            <a:ext cx="237744" cy="237744"/>
          </a:xfrm>
          <a:prstGeom prst="roundRect">
            <a:avLst>
              <a:gd name="adj" fmla="val 50000"/>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24" name="TextBox 23"/>
          <p:cNvSpPr txBox="1"/>
          <p:nvPr/>
        </p:nvSpPr>
        <p:spPr>
          <a:xfrm>
            <a:off x="6958584" y="2761488"/>
            <a:ext cx="1572768" cy="292608"/>
          </a:xfrm>
          <a:prstGeom prst="rect">
            <a:avLst/>
          </a:prstGeom>
          <a:noFill/>
        </p:spPr>
        <p:txBody>
          <a:bodyPr wrap="square" lIns="0" rIns="0" tIns="0" bIns="0">
            <a:spAutoFit/>
          </a:bodyPr>
          <a:lstStyle/>
          <a:p>
            <a:pPr algn="ctr">
              <a:lnSpc>
                <a:spcPct val="115000"/>
              </a:lnSpc>
            </a:pPr>
            <a:r>
              <a:rPr sz="1450" b="1">
                <a:solidFill>
                  <a:srgbClr val="1F5673"/>
                </a:solidFill>
                <a:latin typeface="Trebuchet MS"/>
              </a:rPr>
              <a:t>30 July</a:t>
            </a:r>
          </a:p>
        </p:txBody>
      </p:sp>
      <p:sp>
        <p:nvSpPr>
          <p:cNvPr id="25" name="TextBox 24"/>
          <p:cNvSpPr txBox="1"/>
          <p:nvPr/>
        </p:nvSpPr>
        <p:spPr>
          <a:xfrm>
            <a:off x="6958584" y="3017520"/>
            <a:ext cx="1572768" cy="640080"/>
          </a:xfrm>
          <a:prstGeom prst="rect">
            <a:avLst/>
          </a:prstGeom>
          <a:noFill/>
        </p:spPr>
        <p:txBody>
          <a:bodyPr wrap="square" lIns="0" rIns="0" tIns="0" bIns="0">
            <a:spAutoFit/>
          </a:bodyPr>
          <a:lstStyle/>
          <a:p>
            <a:pPr algn="ctr">
              <a:lnSpc>
                <a:spcPct val="115000"/>
              </a:lnSpc>
            </a:pPr>
            <a:r>
              <a:rPr sz="1200" b="0">
                <a:solidFill>
                  <a:srgbClr val="1A1A1A"/>
                </a:solidFill>
                <a:latin typeface="Trebuchet MS"/>
              </a:rPr>
              <a:t>Official results</a:t>
            </a:r>
            <a:br/>
            <a:r>
              <a:rPr sz="1200" b="0">
                <a:solidFill>
                  <a:srgbClr val="1A1A1A"/>
                </a:solidFill>
                <a:latin typeface="Trebuchet MS"/>
              </a:rPr>
              <a:t>and rankings</a:t>
            </a:r>
          </a:p>
        </p:txBody>
      </p:sp>
      <p:sp>
        <p:nvSpPr>
          <p:cNvPr id="26" name="Rounded Rectangle 25"/>
          <p:cNvSpPr/>
          <p:nvPr/>
        </p:nvSpPr>
        <p:spPr>
          <a:xfrm>
            <a:off x="9253728" y="3552444"/>
            <a:ext cx="237744" cy="237744"/>
          </a:xfrm>
          <a:prstGeom prst="roundRect">
            <a:avLst>
              <a:gd name="adj" fmla="val 50000"/>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27" name="TextBox 26"/>
          <p:cNvSpPr txBox="1"/>
          <p:nvPr/>
        </p:nvSpPr>
        <p:spPr>
          <a:xfrm>
            <a:off x="8586216" y="3968496"/>
            <a:ext cx="1572768" cy="292608"/>
          </a:xfrm>
          <a:prstGeom prst="rect">
            <a:avLst/>
          </a:prstGeom>
          <a:noFill/>
        </p:spPr>
        <p:txBody>
          <a:bodyPr wrap="square" lIns="0" rIns="0" tIns="0" bIns="0">
            <a:spAutoFit/>
          </a:bodyPr>
          <a:lstStyle/>
          <a:p>
            <a:pPr algn="ctr">
              <a:lnSpc>
                <a:spcPct val="115000"/>
              </a:lnSpc>
            </a:pPr>
            <a:r>
              <a:rPr sz="1450" b="1">
                <a:solidFill>
                  <a:srgbClr val="1F5673"/>
                </a:solidFill>
                <a:latin typeface="Trebuchet MS"/>
              </a:rPr>
              <a:t>22 Aug</a:t>
            </a:r>
          </a:p>
        </p:txBody>
      </p:sp>
      <p:sp>
        <p:nvSpPr>
          <p:cNvPr id="28" name="TextBox 27"/>
          <p:cNvSpPr txBox="1"/>
          <p:nvPr/>
        </p:nvSpPr>
        <p:spPr>
          <a:xfrm>
            <a:off x="8586216" y="4224528"/>
            <a:ext cx="1572768" cy="640080"/>
          </a:xfrm>
          <a:prstGeom prst="rect">
            <a:avLst/>
          </a:prstGeom>
          <a:noFill/>
        </p:spPr>
        <p:txBody>
          <a:bodyPr wrap="square" lIns="0" rIns="0" tIns="0" bIns="0">
            <a:spAutoFit/>
          </a:bodyPr>
          <a:lstStyle/>
          <a:p>
            <a:pPr algn="ctr">
              <a:lnSpc>
                <a:spcPct val="115000"/>
              </a:lnSpc>
            </a:pPr>
            <a:r>
              <a:rPr sz="1200" b="0">
                <a:solidFill>
                  <a:srgbClr val="1A1A1A"/>
                </a:solidFill>
                <a:latin typeface="Trebuchet MS"/>
              </a:rPr>
              <a:t>Camera-ready</a:t>
            </a:r>
            <a:br/>
            <a:r>
              <a:rPr sz="1200" b="0">
                <a:solidFill>
                  <a:srgbClr val="1A1A1A"/>
                </a:solidFill>
                <a:latin typeface="Trebuchet MS"/>
              </a:rPr>
              <a:t>system paper</a:t>
            </a:r>
          </a:p>
        </p:txBody>
      </p:sp>
      <p:sp>
        <p:nvSpPr>
          <p:cNvPr id="29" name="Rounded Rectangle 28"/>
          <p:cNvSpPr/>
          <p:nvPr/>
        </p:nvSpPr>
        <p:spPr>
          <a:xfrm>
            <a:off x="10881359" y="3552444"/>
            <a:ext cx="237744" cy="237744"/>
          </a:xfrm>
          <a:prstGeom prst="roundRect">
            <a:avLst>
              <a:gd name="adj" fmla="val 50000"/>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30" name="TextBox 29"/>
          <p:cNvSpPr txBox="1"/>
          <p:nvPr/>
        </p:nvSpPr>
        <p:spPr>
          <a:xfrm>
            <a:off x="10213848" y="2761488"/>
            <a:ext cx="1572768" cy="292608"/>
          </a:xfrm>
          <a:prstGeom prst="rect">
            <a:avLst/>
          </a:prstGeom>
          <a:noFill/>
        </p:spPr>
        <p:txBody>
          <a:bodyPr wrap="square" lIns="0" rIns="0" tIns="0" bIns="0">
            <a:spAutoFit/>
          </a:bodyPr>
          <a:lstStyle/>
          <a:p>
            <a:pPr algn="ctr">
              <a:lnSpc>
                <a:spcPct val="115000"/>
              </a:lnSpc>
            </a:pPr>
            <a:r>
              <a:rPr sz="1450" b="1">
                <a:solidFill>
                  <a:srgbClr val="1F5673"/>
                </a:solidFill>
                <a:latin typeface="Trebuchet MS"/>
              </a:rPr>
              <a:t>24–29 Oct</a:t>
            </a:r>
          </a:p>
        </p:txBody>
      </p:sp>
      <p:sp>
        <p:nvSpPr>
          <p:cNvPr id="31" name="TextBox 30"/>
          <p:cNvSpPr txBox="1"/>
          <p:nvPr/>
        </p:nvSpPr>
        <p:spPr>
          <a:xfrm>
            <a:off x="10213848" y="3017520"/>
            <a:ext cx="1572768" cy="640080"/>
          </a:xfrm>
          <a:prstGeom prst="rect">
            <a:avLst/>
          </a:prstGeom>
          <a:noFill/>
        </p:spPr>
        <p:txBody>
          <a:bodyPr wrap="square" lIns="0" rIns="0" tIns="0" bIns="0">
            <a:spAutoFit/>
          </a:bodyPr>
          <a:lstStyle/>
          <a:p>
            <a:pPr algn="ctr">
              <a:lnSpc>
                <a:spcPct val="115000"/>
              </a:lnSpc>
            </a:pPr>
            <a:r>
              <a:rPr sz="1200" b="0">
                <a:solidFill>
                  <a:srgbClr val="1A1A1A"/>
                </a:solidFill>
                <a:latin typeface="Trebuchet MS"/>
              </a:rPr>
              <a:t>ArabicNLP 2026</a:t>
            </a:r>
            <a:br/>
            <a:r>
              <a:rPr sz="1200" b="0">
                <a:solidFill>
                  <a:srgbClr val="1A1A1A"/>
                </a:solidFill>
                <a:latin typeface="Trebuchet MS"/>
              </a:rPr>
              <a:t>Budapest</a:t>
            </a:r>
          </a:p>
        </p:txBody>
      </p:sp>
      <p:sp>
        <p:nvSpPr>
          <p:cNvPr id="32" name="Rounded Rectangle 31"/>
          <p:cNvSpPr/>
          <p:nvPr/>
        </p:nvSpPr>
        <p:spPr>
          <a:xfrm>
            <a:off x="777240" y="4983480"/>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WHAT THE LAST FOUR DAYS ARE FOR</a:t>
            </a:r>
          </a:p>
          <a:p>
            <a:pPr>
              <a:lnSpc>
                <a:spcPct val="124000"/>
              </a:lnSpc>
            </a:pPr>
            <a:r>
              <a:rPr sz="1500" b="0">
                <a:solidFill>
                  <a:srgbClr val="1A1A1A"/>
                </a:solidFill>
                <a:latin typeface="Trebuchet MS"/>
              </a:rPr>
              <a:t>Eight submissions remain on each track, three per day. The models are trained, so nothing runs on your side; the work is choosing which variants are worth a slot and keeping a second submitter ready.</a:t>
            </a:r>
          </a:p>
        </p:txBody>
      </p:sp>
      <p:sp>
        <p:nvSpPr>
          <p:cNvPr id="33" name="Rectangle 32"/>
          <p:cNvSpPr/>
          <p:nvPr/>
        </p:nvSpPr>
        <p:spPr>
          <a:xfrm>
            <a:off x="777240" y="4983480"/>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DELIVERABLES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What we owe, and what is done</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572768"/>
          <a:ext cx="10637214" cy="2523744"/>
        </p:xfrm>
        <a:graphic>
          <a:graphicData uri="http://schemas.openxmlformats.org/drawingml/2006/table">
            <a:tbl>
              <a:tblPr firstRow="0" bandRow="0">
                <a:tableStyleId>{5C22544A-7EE6-4342-B048-85BDC9FD1C3A}</a:tableStyleId>
              </a:tblPr>
              <a:tblGrid>
                <a:gridCol w="4676706"/>
                <a:gridCol w="1467202"/>
                <a:gridCol w="4493306"/>
              </a:tblGrid>
              <a:tr h="420624">
                <a:tc>
                  <a:txBody>
                    <a:bodyPr wrap="square"/>
                    <a:lstStyle/>
                    <a:p>
                      <a:pPr>
                        <a:lnSpc>
                          <a:spcPct val="110000"/>
                        </a:lnSpc>
                      </a:pPr>
                      <a:r>
                        <a:rPr sz="1450" b="1">
                          <a:solidFill>
                            <a:srgbClr val="FFFFFF"/>
                          </a:solidFill>
                          <a:latin typeface="Trebuchet MS"/>
                        </a:rPr>
                        <a:t>Deliverable</a:t>
                      </a:r>
                    </a:p>
                  </a:txBody>
                  <a:tcPr marL="118872" marR="91440" marT="27432" marB="27432" anchor="ctr">
                    <a:solidFill>
                      <a:srgbClr val="1F5673"/>
                    </a:solidFill>
                  </a:tcPr>
                </a:tc>
                <a:tc>
                  <a:txBody>
                    <a:bodyPr wrap="square"/>
                    <a:lstStyle/>
                    <a:p>
                      <a:pPr algn="ctr">
                        <a:lnSpc>
                          <a:spcPct val="110000"/>
                        </a:lnSpc>
                      </a:pPr>
                      <a:r>
                        <a:rPr sz="1450" b="1">
                          <a:solidFill>
                            <a:srgbClr val="FFFFFF"/>
                          </a:solidFill>
                          <a:latin typeface="Trebuchet MS"/>
                        </a:rPr>
                        <a:t>Due</a:t>
                      </a:r>
                    </a:p>
                  </a:txBody>
                  <a:tcPr marL="118872" marR="91440" marT="27432" marB="27432" anchor="ctr">
                    <a:solidFill>
                      <a:srgbClr val="1F5673"/>
                    </a:solidFill>
                  </a:tcPr>
                </a:tc>
                <a:tc>
                  <a:txBody>
                    <a:bodyPr wrap="square"/>
                    <a:lstStyle/>
                    <a:p>
                      <a:pPr>
                        <a:lnSpc>
                          <a:spcPct val="110000"/>
                        </a:lnSpc>
                      </a:pPr>
                      <a:r>
                        <a:rPr sz="1450" b="1">
                          <a:solidFill>
                            <a:srgbClr val="FFFFFF"/>
                          </a:solidFill>
                          <a:latin typeface="Trebuchet MS"/>
                        </a:rPr>
                        <a:t>Status</a:t>
                      </a:r>
                    </a:p>
                  </a:txBody>
                  <a:tcPr marL="118872" marR="91440" marT="27432" marB="27432" anchor="ctr">
                    <a:solidFill>
                      <a:srgbClr val="1F5673"/>
                    </a:solidFill>
                  </a:tcPr>
                </a:tc>
              </a:tr>
              <a:tr h="420624">
                <a:tc>
                  <a:txBody>
                    <a:bodyPr wrap="square"/>
                    <a:lstStyle/>
                    <a:p>
                      <a:pPr>
                        <a:lnSpc>
                          <a:spcPct val="110000"/>
                        </a:lnSpc>
                      </a:pPr>
                      <a:r>
                        <a:rPr sz="1450" b="0">
                          <a:solidFill>
                            <a:srgbClr val="1A1A1A"/>
                          </a:solidFill>
                          <a:latin typeface="Trebuchet MS"/>
                        </a:rPr>
                        <a:t>Valid Codabench submission, </a:t>
                      </a:r>
                      <a:r>
                        <a:rPr b="1" sz="1450">
                          <a:solidFill>
                            <a:srgbClr val="1A1A1A"/>
                          </a:solidFill>
                          <a:latin typeface="Trebuchet MS"/>
                        </a:rPr>
                        <a:t>AdaptNER</a:t>
                      </a:r>
                    </a:p>
                  </a:txBody>
                  <a:tcPr marL="118872" marR="91440" marT="27432" marB="27432" anchor="ctr">
                    <a:solidFill>
                      <a:srgbClr val="FDFCF9"/>
                    </a:solidFill>
                  </a:tcPr>
                </a:tc>
                <a:tc>
                  <a:txBody>
                    <a:bodyPr wrap="square"/>
                    <a:lstStyle/>
                    <a:p>
                      <a:pPr algn="ctr">
                        <a:lnSpc>
                          <a:spcPct val="110000"/>
                        </a:lnSpc>
                      </a:pPr>
                      <a:r>
                        <a:rPr sz="1450" b="0">
                          <a:solidFill>
                            <a:srgbClr val="1A1A1A"/>
                          </a:solidFill>
                          <a:latin typeface="Trebuchet MS"/>
                        </a:rPr>
                        <a:t>29 July</a:t>
                      </a:r>
                    </a:p>
                  </a:txBody>
                  <a:tcPr marL="118872" marR="91440" marT="27432" marB="27432" anchor="ctr">
                    <a:solidFill>
                      <a:srgbClr val="FDFCF9"/>
                    </a:solidFill>
                  </a:tcPr>
                </a:tc>
                <a:tc>
                  <a:txBody>
                    <a:bodyPr wrap="square"/>
                    <a:lstStyle/>
                    <a:p>
                      <a:pPr>
                        <a:lnSpc>
                          <a:spcPct val="110000"/>
                        </a:lnSpc>
                      </a:pPr>
                      <a:r>
                        <a:rPr b="1" sz="1450">
                          <a:solidFill>
                            <a:srgbClr val="1A1A1A"/>
                          </a:solidFill>
                          <a:latin typeface="Trebuchet MS"/>
                        </a:rPr>
                        <a:t>Done</a:t>
                      </a:r>
                      <a:r>
                        <a:rPr sz="1450" b="0">
                          <a:solidFill>
                            <a:srgbClr val="1A1A1A"/>
                          </a:solidFill>
                          <a:latin typeface="Trebuchet MS"/>
                        </a:rPr>
                        <a:t> · 0.7483, 8 slots left</a:t>
                      </a:r>
                    </a:p>
                  </a:txBody>
                  <a:tcPr marL="118872" marR="91440" marT="27432" marB="27432" anchor="ctr">
                    <a:solidFill>
                      <a:srgbClr val="FDFCF9"/>
                    </a:solidFill>
                  </a:tcPr>
                </a:tc>
              </a:tr>
              <a:tr h="420624">
                <a:tc>
                  <a:txBody>
                    <a:bodyPr wrap="square"/>
                    <a:lstStyle/>
                    <a:p>
                      <a:pPr>
                        <a:lnSpc>
                          <a:spcPct val="110000"/>
                        </a:lnSpc>
                      </a:pPr>
                      <a:r>
                        <a:rPr sz="1450" b="0">
                          <a:solidFill>
                            <a:srgbClr val="1A1A1A"/>
                          </a:solidFill>
                          <a:latin typeface="Trebuchet MS"/>
                        </a:rPr>
                        <a:t>Valid Codabench submission, </a:t>
                      </a:r>
                      <a:r>
                        <a:rPr b="1" sz="1450">
                          <a:solidFill>
                            <a:srgbClr val="1A1A1A"/>
                          </a:solidFill>
                          <a:latin typeface="Trebuchet MS"/>
                        </a:rPr>
                        <a:t>Relation extraction</a:t>
                      </a:r>
                    </a:p>
                  </a:txBody>
                  <a:tcPr marL="118872" marR="91440" marT="27432" marB="27432" anchor="ctr">
                    <a:solidFill>
                      <a:srgbClr val="F4F1EA"/>
                    </a:solidFill>
                  </a:tcPr>
                </a:tc>
                <a:tc>
                  <a:txBody>
                    <a:bodyPr wrap="square"/>
                    <a:lstStyle/>
                    <a:p>
                      <a:pPr algn="ctr">
                        <a:lnSpc>
                          <a:spcPct val="110000"/>
                        </a:lnSpc>
                      </a:pPr>
                      <a:r>
                        <a:rPr sz="1450" b="0">
                          <a:solidFill>
                            <a:srgbClr val="1A1A1A"/>
                          </a:solidFill>
                          <a:latin typeface="Trebuchet MS"/>
                        </a:rPr>
                        <a:t>29 July</a:t>
                      </a:r>
                    </a:p>
                  </a:txBody>
                  <a:tcPr marL="118872" marR="91440" marT="27432" marB="27432" anchor="ctr">
                    <a:solidFill>
                      <a:srgbClr val="F4F1EA"/>
                    </a:solidFill>
                  </a:tcPr>
                </a:tc>
                <a:tc>
                  <a:txBody>
                    <a:bodyPr wrap="square"/>
                    <a:lstStyle/>
                    <a:p>
                      <a:pPr>
                        <a:lnSpc>
                          <a:spcPct val="110000"/>
                        </a:lnSpc>
                      </a:pPr>
                      <a:r>
                        <a:rPr b="1" sz="1450">
                          <a:solidFill>
                            <a:srgbClr val="1A1A1A"/>
                          </a:solidFill>
                          <a:latin typeface="Trebuchet MS"/>
                        </a:rPr>
                        <a:t>Done</a:t>
                      </a:r>
                      <a:r>
                        <a:rPr sz="1450" b="0">
                          <a:solidFill>
                            <a:srgbClr val="1A1A1A"/>
                          </a:solidFill>
                          <a:latin typeface="Trebuchet MS"/>
                        </a:rPr>
                        <a:t> · 0.9571, 8 slots left</a:t>
                      </a:r>
                    </a:p>
                  </a:txBody>
                  <a:tcPr marL="118872" marR="91440" marT="27432" marB="27432" anchor="ctr">
                    <a:solidFill>
                      <a:srgbClr val="F4F1EA"/>
                    </a:solidFill>
                  </a:tcPr>
                </a:tc>
              </a:tr>
              <a:tr h="420624">
                <a:tc>
                  <a:txBody>
                    <a:bodyPr wrap="square"/>
                    <a:lstStyle/>
                    <a:p>
                      <a:pPr>
                        <a:lnSpc>
                          <a:spcPct val="110000"/>
                        </a:lnSpc>
                      </a:pPr>
                      <a:r>
                        <a:rPr sz="1450" b="0">
                          <a:solidFill>
                            <a:srgbClr val="1A1A1A"/>
                          </a:solidFill>
                          <a:latin typeface="Trebuchet MS"/>
                        </a:rPr>
                        <a:t>System description paper, camera-ready</a:t>
                      </a:r>
                    </a:p>
                  </a:txBody>
                  <a:tcPr marL="118872" marR="91440" marT="27432" marB="27432" anchor="ctr">
                    <a:solidFill>
                      <a:srgbClr val="FDFCF9"/>
                    </a:solidFill>
                  </a:tcPr>
                </a:tc>
                <a:tc>
                  <a:txBody>
                    <a:bodyPr wrap="square"/>
                    <a:lstStyle/>
                    <a:p>
                      <a:pPr algn="ctr">
                        <a:lnSpc>
                          <a:spcPct val="110000"/>
                        </a:lnSpc>
                      </a:pPr>
                      <a:r>
                        <a:rPr sz="1450" b="0">
                          <a:solidFill>
                            <a:srgbClr val="1A1A1A"/>
                          </a:solidFill>
                          <a:latin typeface="Trebuchet MS"/>
                        </a:rPr>
                        <a:t>22 Aug</a:t>
                      </a:r>
                    </a:p>
                  </a:txBody>
                  <a:tcPr marL="118872" marR="91440" marT="27432" marB="27432" anchor="ctr">
                    <a:solidFill>
                      <a:srgbClr val="FDFCF9"/>
                    </a:solidFill>
                  </a:tcPr>
                </a:tc>
                <a:tc>
                  <a:txBody>
                    <a:bodyPr wrap="square"/>
                    <a:lstStyle/>
                    <a:p>
                      <a:pPr>
                        <a:lnSpc>
                          <a:spcPct val="110000"/>
                        </a:lnSpc>
                      </a:pPr>
                      <a:r>
                        <a:rPr sz="1450" b="0">
                          <a:solidFill>
                            <a:srgbClr val="1A1A1A"/>
                          </a:solidFill>
                          <a:latin typeface="Trebuchet MS"/>
                        </a:rPr>
                        <a:t>Drafted; needs final ranks and your review</a:t>
                      </a:r>
                    </a:p>
                  </a:txBody>
                  <a:tcPr marL="118872" marR="91440" marT="27432" marB="27432" anchor="ctr">
                    <a:solidFill>
                      <a:srgbClr val="FDFCF9"/>
                    </a:solidFill>
                  </a:tcPr>
                </a:tc>
              </a:tr>
              <a:tr h="420624">
                <a:tc>
                  <a:txBody>
                    <a:bodyPr wrap="square"/>
                    <a:lstStyle/>
                    <a:p>
                      <a:pPr>
                        <a:lnSpc>
                          <a:spcPct val="110000"/>
                        </a:lnSpc>
                      </a:pPr>
                      <a:r>
                        <a:rPr sz="1450" b="0">
                          <a:solidFill>
                            <a:srgbClr val="1A1A1A"/>
                          </a:solidFill>
                          <a:latin typeface="Trebuchet MS"/>
                        </a:rPr>
                        <a:t>Code released alongside the paper</a:t>
                      </a:r>
                    </a:p>
                  </a:txBody>
                  <a:tcPr marL="118872" marR="91440" marT="27432" marB="27432" anchor="ctr">
                    <a:solidFill>
                      <a:srgbClr val="F4F1EA"/>
                    </a:solidFill>
                  </a:tcPr>
                </a:tc>
                <a:tc>
                  <a:txBody>
                    <a:bodyPr wrap="square"/>
                    <a:lstStyle/>
                    <a:p>
                      <a:pPr algn="ctr">
                        <a:lnSpc>
                          <a:spcPct val="110000"/>
                        </a:lnSpc>
                      </a:pPr>
                      <a:r>
                        <a:rPr sz="1450" b="0">
                          <a:solidFill>
                            <a:srgbClr val="1A1A1A"/>
                          </a:solidFill>
                          <a:latin typeface="Trebuchet MS"/>
                        </a:rPr>
                        <a:t>22 Aug</a:t>
                      </a:r>
                    </a:p>
                  </a:txBody>
                  <a:tcPr marL="118872" marR="91440" marT="27432" marB="27432" anchor="ctr">
                    <a:solidFill>
                      <a:srgbClr val="F4F1EA"/>
                    </a:solidFill>
                  </a:tcPr>
                </a:tc>
                <a:tc>
                  <a:txBody>
                    <a:bodyPr wrap="square"/>
                    <a:lstStyle/>
                    <a:p>
                      <a:pPr>
                        <a:lnSpc>
                          <a:spcPct val="110000"/>
                        </a:lnSpc>
                      </a:pPr>
                      <a:r>
                        <a:rPr sz="1450" b="0">
                          <a:solidFill>
                            <a:srgbClr val="1A1A1A"/>
                          </a:solidFill>
                          <a:latin typeface="Trebuchet MS"/>
                        </a:rPr>
                        <a:t>In </a:t>
                      </a:r>
                      <a:r>
                        <a:rPr sz="1305" b="0">
                          <a:solidFill>
                            <a:srgbClr val="1F5673"/>
                          </a:solidFill>
                          <a:latin typeface="Consolas"/>
                        </a:rPr>
                        <a:t>kgeval2026-team-rabt</a:t>
                      </a:r>
                      <a:r>
                        <a:rPr sz="1450" b="0">
                          <a:solidFill>
                            <a:srgbClr val="1A1A1A"/>
                          </a:solidFill>
                          <a:latin typeface="Trebuchet MS"/>
                        </a:rPr>
                        <a:t>, ready to go public</a:t>
                      </a:r>
                    </a:p>
                  </a:txBody>
                  <a:tcPr marL="118872" marR="91440" marT="27432" marB="27432" anchor="ctr">
                    <a:solidFill>
                      <a:srgbClr val="F4F1EA"/>
                    </a:solidFill>
                  </a:tcPr>
                </a:tc>
              </a:tr>
              <a:tr h="420624">
                <a:tc>
                  <a:txBody>
                    <a:bodyPr wrap="square"/>
                    <a:lstStyle/>
                    <a:p>
                      <a:pPr>
                        <a:lnSpc>
                          <a:spcPct val="110000"/>
                        </a:lnSpc>
                      </a:pPr>
                      <a:r>
                        <a:rPr sz="1450" b="0">
                          <a:solidFill>
                            <a:srgbClr val="1A1A1A"/>
                          </a:solidFill>
                          <a:latin typeface="Trebuchet MS"/>
                        </a:rPr>
                        <a:t>Presentation at ArabicNLP 2026, Budapest</a:t>
                      </a:r>
                    </a:p>
                  </a:txBody>
                  <a:tcPr marL="118872" marR="91440" marT="27432" marB="27432" anchor="ctr">
                    <a:solidFill>
                      <a:srgbClr val="FDFCF9"/>
                    </a:solidFill>
                  </a:tcPr>
                </a:tc>
                <a:tc>
                  <a:txBody>
                    <a:bodyPr wrap="square"/>
                    <a:lstStyle/>
                    <a:p>
                      <a:pPr algn="ctr">
                        <a:lnSpc>
                          <a:spcPct val="110000"/>
                        </a:lnSpc>
                      </a:pPr>
                      <a:r>
                        <a:rPr sz="1450" b="0">
                          <a:solidFill>
                            <a:srgbClr val="1A1A1A"/>
                          </a:solidFill>
                          <a:latin typeface="Trebuchet MS"/>
                        </a:rPr>
                        <a:t>24–29 Oct</a:t>
                      </a:r>
                    </a:p>
                  </a:txBody>
                  <a:tcPr marL="118872" marR="91440" marT="27432" marB="27432" anchor="ctr">
                    <a:solidFill>
                      <a:srgbClr val="FDFCF9"/>
                    </a:solidFill>
                  </a:tcPr>
                </a:tc>
                <a:tc>
                  <a:txBody>
                    <a:bodyPr wrap="square"/>
                    <a:lstStyle/>
                    <a:p>
                      <a:pPr>
                        <a:lnSpc>
                          <a:spcPct val="110000"/>
                        </a:lnSpc>
                      </a:pPr>
                      <a:r>
                        <a:rPr sz="1450" b="0">
                          <a:solidFill>
                            <a:srgbClr val="1A1A1A"/>
                          </a:solidFill>
                          <a:latin typeface="Trebuchet MS"/>
                        </a:rPr>
                        <a:t>Not yet discussed</a:t>
                      </a:r>
                    </a:p>
                  </a:txBody>
                  <a:tcPr marL="118872" marR="91440" marT="27432" marB="27432" anchor="ctr">
                    <a:solidFill>
                      <a:srgbClr val="FDFCF9"/>
                    </a:solidFill>
                  </a:tcPr>
                </a:tc>
              </a:tr>
            </a:tbl>
          </a:graphicData>
        </a:graphic>
      </p:graphicFrame>
      <p:sp>
        <p:nvSpPr>
          <p:cNvPr id="6" name="Rounded Rectangle 5"/>
          <p:cNvSpPr/>
          <p:nvPr/>
        </p:nvSpPr>
        <p:spPr>
          <a:xfrm>
            <a:off x="777240" y="4297680"/>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ONE CONSTRAINT WORTH RAISING EARLY</a:t>
            </a:r>
          </a:p>
          <a:p>
            <a:pPr>
              <a:lnSpc>
                <a:spcPct val="124000"/>
              </a:lnSpc>
            </a:pPr>
            <a:r>
              <a:rPr sz="1500" b="0">
                <a:solidFill>
                  <a:srgbClr val="1A1A1A"/>
                </a:solidFill>
                <a:latin typeface="Trebuchet MS"/>
              </a:rPr>
              <a:t>The paper guidelines cap system papers at </a:t>
            </a:r>
            <a:r>
              <a:rPr b="1" sz="1500">
                <a:solidFill>
                  <a:srgbClr val="1A1A1A"/>
                </a:solidFill>
                <a:latin typeface="Trebuchet MS"/>
              </a:rPr>
              <a:t>4 pages excluding references</a:t>
            </a:r>
            <a:r>
              <a:rPr sz="1500" b="0">
                <a:solidFill>
                  <a:srgbClr val="1A1A1A"/>
                </a:solidFill>
                <a:latin typeface="Trebuchet MS"/>
              </a:rPr>
              <a:t>. Our draft currently runs well past that, so before we polish anything we need to decide what gets cut, or confirm with the organizers that the ArabicNLP limit differs from the page as written.</a:t>
            </a:r>
          </a:p>
        </p:txBody>
      </p:sp>
      <p:sp>
        <p:nvSpPr>
          <p:cNvPr id="7" name="Rectangle 6"/>
          <p:cNvSpPr/>
          <p:nvPr/>
        </p:nvSpPr>
        <p:spPr>
          <a:xfrm>
            <a:off x="777240" y="4297680"/>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Team Rabt · KnowledgeGraphEval 2026</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DECISIONS, NOT UPDATES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What I need from you today</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Submission protocol for the final four days.</a:t>
            </a:r>
            <a:r>
              <a:rPr sz="1700" b="0">
                <a:solidFill>
                  <a:srgbClr val="1A1A1A"/>
                </a:solidFill>
                <a:latin typeface="Trebuchet MS"/>
              </a:rPr>
              <a:t> Eight slots per track. Your account </a:t>
            </a:r>
            <a:r>
              <a:rPr sz="1530" b="0">
                <a:solidFill>
                  <a:srgbClr val="1F5673"/>
                </a:solidFill>
                <a:latin typeface="Consolas"/>
              </a:rPr>
              <a:t>faisalm93</a:t>
            </a:r>
            <a:r>
              <a:rPr sz="1700" b="0">
                <a:solidFill>
                  <a:srgbClr val="1A1A1A"/>
                </a:solidFill>
                <a:latin typeface="Trebuchet MS"/>
              </a:rPr>
              <a:t> is our backup submitter under the same team name; we should agree who submits what, and by when</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The 4-page limit.</a:t>
            </a:r>
            <a:r>
              <a:rPr sz="1700" b="0">
                <a:solidFill>
                  <a:srgbClr val="1A1A1A"/>
                </a:solidFill>
                <a:latin typeface="Trebuchet MS"/>
              </a:rPr>
              <a:t> Cut the draft to fit, or write to the organizers first? This decides how much of the analysis survives</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Paper review split.</a:t>
            </a:r>
            <a:r>
              <a:rPr sz="1700" b="0">
                <a:solidFill>
                  <a:srgbClr val="1A1A1A"/>
                </a:solidFill>
                <a:latin typeface="Trebuchet MS"/>
              </a:rPr>
              <a:t> Which sections you take, plus your ORCID and how you want the contribution statement worded</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Budapest, 24–29 October.</a:t>
            </a:r>
            <a:r>
              <a:rPr sz="1700" b="0">
                <a:solidFill>
                  <a:srgbClr val="1A1A1A"/>
                </a:solidFill>
                <a:latin typeface="Trebuchet MS"/>
              </a:rPr>
              <a:t> Whether either of us can attend, and who would present if we can</a:t>
            </a:r>
          </a:p>
        </p:txBody>
      </p:sp>
      <p:sp>
        <p:nvSpPr>
          <p:cNvPr id="6" name="Rounded Rectangle 5"/>
          <p:cNvSpPr/>
          <p:nvPr/>
        </p:nvSpPr>
        <p:spPr>
          <a:xfrm>
            <a:off x="777240" y="4367530"/>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THEN THE REST OF THE SESSION</a:t>
            </a:r>
          </a:p>
          <a:p>
            <a:pPr>
              <a:lnSpc>
                <a:spcPct val="124000"/>
              </a:lnSpc>
            </a:pPr>
            <a:r>
              <a:rPr sz="1500" b="0">
                <a:solidFill>
                  <a:srgbClr val="1A1A1A"/>
                </a:solidFill>
                <a:latin typeface="Trebuchet MS"/>
              </a:rPr>
              <a:t>Everything after this slide is background: how the two systems actually work, built up from scratch, so that the paper you are reviewing reads as yours too. Stop me anywhere.</a:t>
            </a:r>
          </a:p>
        </p:txBody>
      </p:sp>
      <p:sp>
        <p:nvSpPr>
          <p:cNvPr id="7" name="Rectangle 6"/>
          <p:cNvSpPr/>
          <p:nvPr/>
        </p:nvSpPr>
        <p:spPr>
          <a:xfrm>
            <a:off x="777240" y="4367530"/>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Team Rabt · KnowledgeGraphEval 2026</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HOW TO USE IT</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Who this deck is for</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It assumes you can read Python and have met a neural network once. It assumes </a:t>
            </a:r>
            <a:r>
              <a:rPr b="1" sz="1600">
                <a:solidFill>
                  <a:srgbClr val="6B6B6B"/>
                </a:solidFill>
                <a:latin typeface="Trebuchet MS"/>
              </a:rPr>
              <a:t>nothing</a:t>
            </a:r>
            <a:r>
              <a:rPr sz="1600" b="0">
                <a:solidFill>
                  <a:srgbClr val="6B6B6B"/>
                </a:solidFill>
                <a:latin typeface="Trebuchet MS"/>
              </a:rPr>
              <a:t> about NER, relation extraction, Arabic NLP, or shared tasks; everything else is built up from scratch.</a:t>
            </a:r>
          </a:p>
        </p:txBody>
      </p:sp>
      <p:sp>
        <p:nvSpPr>
          <p:cNvPr id="6" name="Rounded Rectangle 5"/>
          <p:cNvSpPr/>
          <p:nvPr/>
        </p:nvSpPr>
        <p:spPr>
          <a:xfrm>
            <a:off x="777240" y="2263648"/>
            <a:ext cx="5163159" cy="320040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You will be able to</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Explain what each part of the system does and why it is there</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Read </a:t>
            </a:r>
            <a:r>
              <a:rPr sz="1260" b="0">
                <a:solidFill>
                  <a:srgbClr val="1F5673"/>
                </a:solidFill>
                <a:latin typeface="Consolas"/>
              </a:rPr>
              <a:t>src/kgeval/</a:t>
            </a:r>
            <a:r>
              <a:rPr sz="1400" b="0">
                <a:solidFill>
                  <a:srgbClr val="1A1A1A"/>
                </a:solidFill>
                <a:latin typeface="Trebuchet MS"/>
              </a:rPr>
              <a:t> without getting lost</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Judge which of our design choices were forced and which were free</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Pick up one of the open experiments at the end</a:t>
            </a:r>
          </a:p>
        </p:txBody>
      </p:sp>
      <p:sp>
        <p:nvSpPr>
          <p:cNvPr id="7" name="Rounded Rectangle 6"/>
          <p:cNvSpPr/>
          <p:nvPr/>
        </p:nvSpPr>
        <p:spPr>
          <a:xfrm>
            <a:off x="6251295" y="2263648"/>
            <a:ext cx="5163159" cy="320040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Two things this deck is not</a:t>
            </a:r>
          </a:p>
          <a:p>
            <a:pPr marL="182880" indent="-182880">
              <a:lnSpc>
                <a:spcPct val="120000"/>
              </a:lnSpc>
              <a:spcAft>
                <a:spcPts val="700"/>
              </a:spcAft>
            </a:pPr>
            <a:r>
              <a:rPr sz="1400">
                <a:solidFill>
                  <a:srgbClr val="9E4A2B"/>
                </a:solidFill>
                <a:latin typeface="Trebuchet MS"/>
              </a:rPr>
              <a:t>·  </a:t>
            </a:r>
            <a:r>
              <a:rPr b="1" sz="1400">
                <a:solidFill>
                  <a:srgbClr val="1A1A1A"/>
                </a:solidFill>
                <a:latin typeface="Trebuchet MS"/>
              </a:rPr>
              <a:t>Not a results presentation.</a:t>
            </a:r>
            <a:r>
              <a:rPr sz="1400" b="0">
                <a:solidFill>
                  <a:srgbClr val="1A1A1A"/>
                </a:solidFill>
                <a:latin typeface="Trebuchet MS"/>
              </a:rPr>
              <a:t> Numbers appear only where they settled an argument</a:t>
            </a:r>
          </a:p>
          <a:p>
            <a:pPr marL="182880" indent="-182880">
              <a:lnSpc>
                <a:spcPct val="120000"/>
              </a:lnSpc>
              <a:spcAft>
                <a:spcPts val="700"/>
              </a:spcAft>
            </a:pPr>
            <a:r>
              <a:rPr sz="1400">
                <a:solidFill>
                  <a:srgbClr val="9E4A2B"/>
                </a:solidFill>
                <a:latin typeface="Trebuchet MS"/>
              </a:rPr>
              <a:t>·  </a:t>
            </a:r>
            <a:r>
              <a:rPr b="1" sz="1400">
                <a:solidFill>
                  <a:srgbClr val="1A1A1A"/>
                </a:solidFill>
                <a:latin typeface="Trebuchet MS"/>
              </a:rPr>
              <a:t>Not the paper.</a:t>
            </a:r>
            <a:r>
              <a:rPr sz="1400" b="0">
                <a:solidFill>
                  <a:srgbClr val="1A1A1A"/>
                </a:solidFill>
                <a:latin typeface="Trebuchet MS"/>
              </a:rPr>
              <a:t> The paper argues; this explains</a:t>
            </a:r>
          </a:p>
          <a:p>
            <a:pPr>
              <a:lnSpc>
                <a:spcPct val="120000"/>
              </a:lnSpc>
              <a:spcBef>
                <a:spcPts val="900"/>
              </a:spcBef>
            </a:pPr>
            <a:r>
              <a:rPr sz="1300" b="0">
                <a:solidFill>
                  <a:srgbClr val="6B6B6B"/>
                </a:solidFill>
                <a:latin typeface="Trebuchet MS"/>
              </a:rPr>
              <a:t>Deeper dives live in </a:t>
            </a:r>
            <a:r>
              <a:rPr sz="1170" b="0">
                <a:solidFill>
                  <a:srgbClr val="1F5673"/>
                </a:solidFill>
                <a:latin typeface="Consolas"/>
              </a:rPr>
              <a:t>concepts.md</a:t>
            </a:r>
            <a:r>
              <a:rPr sz="1300" b="0">
                <a:solidFill>
                  <a:srgbClr val="6B6B6B"/>
                </a:solidFill>
                <a:latin typeface="Trebuchet MS"/>
              </a:rPr>
              <a:t> (scoring formulas) and </a:t>
            </a:r>
            <a:r>
              <a:rPr sz="1170" b="0">
                <a:solidFill>
                  <a:srgbClr val="1F5673"/>
                </a:solidFill>
                <a:latin typeface="Consolas"/>
              </a:rPr>
              <a:t>knowledgegrapheval_2026_theoretical_foundations.md</a:t>
            </a:r>
            <a:r>
              <a:rPr sz="1300" b="0">
                <a:solidFill>
                  <a:srgbClr val="6B6B6B"/>
                </a:solidFill>
                <a:latin typeface="Trebuchet MS"/>
              </a:rPr>
              <a:t> (task theory).</a:t>
            </a:r>
          </a:p>
        </p:txBody>
      </p:sp>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Team Rabt · KnowledgeGraphEval 2026</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ROADMAP</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The route</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572768"/>
          <a:ext cx="10637213" cy="3520440"/>
        </p:xfrm>
        <a:graphic>
          <a:graphicData uri="http://schemas.openxmlformats.org/drawingml/2006/table">
            <a:tbl>
              <a:tblPr firstRow="0" bandRow="0">
                <a:tableStyleId>{5C22544A-7EE6-4342-B048-85BDC9FD1C3A}</a:tableStyleId>
              </a:tblPr>
              <a:tblGrid>
                <a:gridCol w="647482"/>
                <a:gridCol w="3884895"/>
                <a:gridCol w="6104836"/>
              </a:tblGrid>
              <a:tr h="502920">
                <a:tc>
                  <a:txBody>
                    <a:bodyPr wrap="square"/>
                    <a:lstStyle/>
                    <a:p>
                      <a:pPr algn="ctr">
                        <a:lnSpc>
                          <a:spcPct val="110000"/>
                        </a:lnSpc>
                      </a:pPr>
                      <a:r>
                        <a:rPr sz="1500" b="1">
                          <a:solidFill>
                            <a:srgbClr val="FFFFFF"/>
                          </a:solidFill>
                          <a:latin typeface="Trebuchet MS"/>
                        </a:rPr>
                        <a:t>Part</a:t>
                      </a:r>
                    </a:p>
                  </a:txBody>
                  <a:tcPr marL="118872" marR="91440" marT="27432" marB="27432" anchor="ctr">
                    <a:solidFill>
                      <a:srgbClr val="1F5673"/>
                    </a:solidFill>
                  </a:tcPr>
                </a:tc>
                <a:tc>
                  <a:txBody>
                    <a:bodyPr wrap="square"/>
                    <a:lstStyle/>
                    <a:p>
                      <a:pPr>
                        <a:lnSpc>
                          <a:spcPct val="110000"/>
                        </a:lnSpc>
                      </a:pPr>
                      <a:r>
                        <a:rPr sz="1500" b="1">
                          <a:solidFill>
                            <a:srgbClr val="FFFFFF"/>
                          </a:solidFill>
                          <a:latin typeface="Trebuchet MS"/>
                        </a:rPr>
                        <a:t>What it covers</a:t>
                      </a:r>
                    </a:p>
                  </a:txBody>
                  <a:tcPr marL="118872" marR="91440" marT="27432" marB="27432" anchor="ctr">
                    <a:solidFill>
                      <a:srgbClr val="1F5673"/>
                    </a:solidFill>
                  </a:tcPr>
                </a:tc>
                <a:tc>
                  <a:txBody>
                    <a:bodyPr wrap="square"/>
                    <a:lstStyle/>
                    <a:p>
                      <a:pPr>
                        <a:lnSpc>
                          <a:spcPct val="110000"/>
                        </a:lnSpc>
                      </a:pPr>
                      <a:r>
                        <a:rPr sz="1500" b="1">
                          <a:solidFill>
                            <a:srgbClr val="FFFFFF"/>
                          </a:solidFill>
                          <a:latin typeface="Trebuchet MS"/>
                        </a:rPr>
                        <a:t>The question it answers</a:t>
                      </a:r>
                    </a:p>
                  </a:txBody>
                  <a:tcPr marL="118872" marR="91440" marT="27432" marB="27432" anchor="ctr">
                    <a:solidFill>
                      <a:srgbClr val="1F5673"/>
                    </a:solidFill>
                  </a:tcPr>
                </a:tc>
              </a:tr>
              <a:tr h="502920">
                <a:tc>
                  <a:txBody>
                    <a:bodyPr wrap="square"/>
                    <a:lstStyle/>
                    <a:p>
                      <a:pPr algn="ctr">
                        <a:lnSpc>
                          <a:spcPct val="110000"/>
                        </a:lnSpc>
                      </a:pPr>
                      <a:r>
                        <a:rPr sz="1500" b="0">
                          <a:solidFill>
                            <a:srgbClr val="1A1A1A"/>
                          </a:solidFill>
                          <a:latin typeface="Trebuchet MS"/>
                        </a:rPr>
                        <a:t>I</a:t>
                      </a:r>
                    </a:p>
                  </a:txBody>
                  <a:tcPr marL="118872" marR="91440" marT="27432" marB="27432" anchor="ctr">
                    <a:solidFill>
                      <a:srgbClr val="FDFCF9"/>
                    </a:solidFill>
                  </a:tcPr>
                </a:tc>
                <a:tc>
                  <a:txBody>
                    <a:bodyPr wrap="square"/>
                    <a:lstStyle/>
                    <a:p>
                      <a:pPr>
                        <a:lnSpc>
                          <a:spcPct val="110000"/>
                        </a:lnSpc>
                      </a:pPr>
                      <a:r>
                        <a:rPr sz="1500" b="0">
                          <a:solidFill>
                            <a:srgbClr val="1A1A1A"/>
                          </a:solidFill>
                          <a:latin typeface="Trebuchet MS"/>
                        </a:rPr>
                        <a:t>The problem and the foundation</a:t>
                      </a:r>
                    </a:p>
                  </a:txBody>
                  <a:tcPr marL="118872" marR="91440" marT="27432" marB="27432" anchor="ctr">
                    <a:solidFill>
                      <a:srgbClr val="FDFCF9"/>
                    </a:solidFill>
                  </a:tcPr>
                </a:tc>
                <a:tc>
                  <a:txBody>
                    <a:bodyPr wrap="square"/>
                    <a:lstStyle/>
                    <a:p>
                      <a:pPr>
                        <a:lnSpc>
                          <a:spcPct val="110000"/>
                        </a:lnSpc>
                      </a:pPr>
                      <a:r>
                        <a:rPr sz="1500" b="0">
                          <a:solidFill>
                            <a:srgbClr val="1A1A1A"/>
                          </a:solidFill>
                          <a:latin typeface="Trebuchet MS"/>
                        </a:rPr>
                        <a:t>What are we building, and on top of what?</a:t>
                      </a:r>
                    </a:p>
                  </a:txBody>
                  <a:tcPr marL="118872" marR="91440" marT="27432" marB="27432" anchor="ctr">
                    <a:solidFill>
                      <a:srgbClr val="FDFCF9"/>
                    </a:solidFill>
                  </a:tcPr>
                </a:tc>
              </a:tr>
              <a:tr h="502920">
                <a:tc>
                  <a:txBody>
                    <a:bodyPr wrap="square"/>
                    <a:lstStyle/>
                    <a:p>
                      <a:pPr algn="ctr">
                        <a:lnSpc>
                          <a:spcPct val="110000"/>
                        </a:lnSpc>
                      </a:pPr>
                      <a:r>
                        <a:rPr sz="1500" b="0">
                          <a:solidFill>
                            <a:srgbClr val="1A1A1A"/>
                          </a:solidFill>
                          <a:latin typeface="Trebuchet MS"/>
                        </a:rPr>
                        <a:t>II</a:t>
                      </a:r>
                    </a:p>
                  </a:txBody>
                  <a:tcPr marL="118872" marR="91440" marT="27432" marB="27432" anchor="ctr">
                    <a:solidFill>
                      <a:srgbClr val="F4F1EA"/>
                    </a:solidFill>
                  </a:tcPr>
                </a:tc>
                <a:tc>
                  <a:txBody>
                    <a:bodyPr wrap="square"/>
                    <a:lstStyle/>
                    <a:p>
                      <a:pPr>
                        <a:lnSpc>
                          <a:spcPct val="110000"/>
                        </a:lnSpc>
                      </a:pPr>
                      <a:r>
                        <a:rPr sz="1500" b="0">
                          <a:solidFill>
                            <a:srgbClr val="1A1A1A"/>
                          </a:solidFill>
                          <a:latin typeface="Trebuchet MS"/>
                        </a:rPr>
                        <a:t>Subtask 1: nested Arabic NER</a:t>
                      </a:r>
                    </a:p>
                  </a:txBody>
                  <a:tcPr marL="118872" marR="91440" marT="27432" marB="27432" anchor="ctr">
                    <a:solidFill>
                      <a:srgbClr val="F4F1EA"/>
                    </a:solidFill>
                  </a:tcPr>
                </a:tc>
                <a:tc>
                  <a:txBody>
                    <a:bodyPr wrap="square"/>
                    <a:lstStyle/>
                    <a:p>
                      <a:pPr>
                        <a:lnSpc>
                          <a:spcPct val="110000"/>
                        </a:lnSpc>
                      </a:pPr>
                      <a:r>
                        <a:rPr sz="1500" b="0">
                          <a:solidFill>
                            <a:srgbClr val="1A1A1A"/>
                          </a:solidFill>
                          <a:latin typeface="Trebuchet MS"/>
                        </a:rPr>
                        <a:t>How do you tag entities that live inside other entities?</a:t>
                      </a:r>
                    </a:p>
                  </a:txBody>
                  <a:tcPr marL="118872" marR="91440" marT="27432" marB="27432" anchor="ctr">
                    <a:solidFill>
                      <a:srgbClr val="F4F1EA"/>
                    </a:solidFill>
                  </a:tcPr>
                </a:tc>
              </a:tr>
              <a:tr h="502920">
                <a:tc>
                  <a:txBody>
                    <a:bodyPr wrap="square"/>
                    <a:lstStyle/>
                    <a:p>
                      <a:pPr algn="ctr">
                        <a:lnSpc>
                          <a:spcPct val="110000"/>
                        </a:lnSpc>
                      </a:pPr>
                      <a:r>
                        <a:rPr sz="1500" b="0">
                          <a:solidFill>
                            <a:srgbClr val="1A1A1A"/>
                          </a:solidFill>
                          <a:latin typeface="Trebuchet MS"/>
                        </a:rPr>
                        <a:t>III</a:t>
                      </a:r>
                    </a:p>
                  </a:txBody>
                  <a:tcPr marL="118872" marR="91440" marT="27432" marB="27432" anchor="ctr">
                    <a:solidFill>
                      <a:srgbClr val="FDFCF9"/>
                    </a:solidFill>
                  </a:tcPr>
                </a:tc>
                <a:tc>
                  <a:txBody>
                    <a:bodyPr wrap="square"/>
                    <a:lstStyle/>
                    <a:p>
                      <a:pPr>
                        <a:lnSpc>
                          <a:spcPct val="110000"/>
                        </a:lnSpc>
                      </a:pPr>
                      <a:r>
                        <a:rPr sz="1500" b="0">
                          <a:solidFill>
                            <a:srgbClr val="1A1A1A"/>
                          </a:solidFill>
                          <a:latin typeface="Trebuchet MS"/>
                        </a:rPr>
                        <a:t>Subtask 2: relation extraction</a:t>
                      </a:r>
                    </a:p>
                  </a:txBody>
                  <a:tcPr marL="118872" marR="91440" marT="27432" marB="27432" anchor="ctr">
                    <a:solidFill>
                      <a:srgbClr val="FDFCF9"/>
                    </a:solidFill>
                  </a:tcPr>
                </a:tc>
                <a:tc>
                  <a:txBody>
                    <a:bodyPr wrap="square"/>
                    <a:lstStyle/>
                    <a:p>
                      <a:pPr>
                        <a:lnSpc>
                          <a:spcPct val="110000"/>
                        </a:lnSpc>
                      </a:pPr>
                      <a:r>
                        <a:rPr sz="1500" b="0">
                          <a:solidFill>
                            <a:srgbClr val="1A1A1A"/>
                          </a:solidFill>
                          <a:latin typeface="Trebuchet MS"/>
                        </a:rPr>
                        <a:t>How do you tell a model which two entities you mean?</a:t>
                      </a:r>
                    </a:p>
                  </a:txBody>
                  <a:tcPr marL="118872" marR="91440" marT="27432" marB="27432" anchor="ctr">
                    <a:solidFill>
                      <a:srgbClr val="FDFCF9"/>
                    </a:solidFill>
                  </a:tcPr>
                </a:tc>
              </a:tr>
              <a:tr h="502920">
                <a:tc>
                  <a:txBody>
                    <a:bodyPr wrap="square"/>
                    <a:lstStyle/>
                    <a:p>
                      <a:pPr algn="ctr">
                        <a:lnSpc>
                          <a:spcPct val="110000"/>
                        </a:lnSpc>
                      </a:pPr>
                      <a:r>
                        <a:rPr sz="1500" b="0">
                          <a:solidFill>
                            <a:srgbClr val="1A1A1A"/>
                          </a:solidFill>
                          <a:latin typeface="Trebuchet MS"/>
                        </a:rPr>
                        <a:t>IV</a:t>
                      </a:r>
                    </a:p>
                  </a:txBody>
                  <a:tcPr marL="118872" marR="91440" marT="27432" marB="27432" anchor="ctr">
                    <a:solidFill>
                      <a:srgbClr val="F4F1EA"/>
                    </a:solidFill>
                  </a:tcPr>
                </a:tc>
                <a:tc>
                  <a:txBody>
                    <a:bodyPr wrap="square"/>
                    <a:lstStyle/>
                    <a:p>
                      <a:pPr>
                        <a:lnSpc>
                          <a:spcPct val="110000"/>
                        </a:lnSpc>
                      </a:pPr>
                      <a:r>
                        <a:rPr sz="1500" b="0">
                          <a:solidFill>
                            <a:srgbClr val="1A1A1A"/>
                          </a:solidFill>
                          <a:latin typeface="Trebuchet MS"/>
                        </a:rPr>
                        <a:t>Evaluation and domain shift</a:t>
                      </a:r>
                    </a:p>
                  </a:txBody>
                  <a:tcPr marL="118872" marR="91440" marT="27432" marB="27432" anchor="ctr">
                    <a:solidFill>
                      <a:srgbClr val="F4F1EA"/>
                    </a:solidFill>
                  </a:tcPr>
                </a:tc>
                <a:tc>
                  <a:txBody>
                    <a:bodyPr wrap="square"/>
                    <a:lstStyle/>
                    <a:p>
                      <a:pPr>
                        <a:lnSpc>
                          <a:spcPct val="110000"/>
                        </a:lnSpc>
                      </a:pPr>
                      <a:r>
                        <a:rPr sz="1500" b="0">
                          <a:solidFill>
                            <a:srgbClr val="1A1A1A"/>
                          </a:solidFill>
                          <a:latin typeface="Trebuchet MS"/>
                        </a:rPr>
                        <a:t>What do the numbers mean, and why did they drop 18 points?</a:t>
                      </a:r>
                    </a:p>
                  </a:txBody>
                  <a:tcPr marL="118872" marR="91440" marT="27432" marB="27432" anchor="ctr">
                    <a:solidFill>
                      <a:srgbClr val="F4F1EA"/>
                    </a:solidFill>
                  </a:tcPr>
                </a:tc>
              </a:tr>
              <a:tr h="502920">
                <a:tc>
                  <a:txBody>
                    <a:bodyPr wrap="square"/>
                    <a:lstStyle/>
                    <a:p>
                      <a:pPr algn="ctr">
                        <a:lnSpc>
                          <a:spcPct val="110000"/>
                        </a:lnSpc>
                      </a:pPr>
                      <a:r>
                        <a:rPr sz="1500" b="0">
                          <a:solidFill>
                            <a:srgbClr val="1A1A1A"/>
                          </a:solidFill>
                          <a:latin typeface="Trebuchet MS"/>
                        </a:rPr>
                        <a:t>V</a:t>
                      </a:r>
                    </a:p>
                  </a:txBody>
                  <a:tcPr marL="118872" marR="91440" marT="27432" marB="27432" anchor="ctr">
                    <a:solidFill>
                      <a:srgbClr val="FDFCF9"/>
                    </a:solidFill>
                  </a:tcPr>
                </a:tc>
                <a:tc>
                  <a:txBody>
                    <a:bodyPr wrap="square"/>
                    <a:lstStyle/>
                    <a:p>
                      <a:pPr>
                        <a:lnSpc>
                          <a:spcPct val="110000"/>
                        </a:lnSpc>
                      </a:pPr>
                      <a:r>
                        <a:rPr sz="1500" b="0">
                          <a:solidFill>
                            <a:srgbClr val="1A1A1A"/>
                          </a:solidFill>
                          <a:latin typeface="Trebuchet MS"/>
                        </a:rPr>
                        <a:t>Experimental discipline</a:t>
                      </a:r>
                    </a:p>
                  </a:txBody>
                  <a:tcPr marL="118872" marR="91440" marT="27432" marB="27432" anchor="ctr">
                    <a:solidFill>
                      <a:srgbClr val="FDFCF9"/>
                    </a:solidFill>
                  </a:tcPr>
                </a:tc>
                <a:tc>
                  <a:txBody>
                    <a:bodyPr wrap="square"/>
                    <a:lstStyle/>
                    <a:p>
                      <a:pPr>
                        <a:lnSpc>
                          <a:spcPct val="110000"/>
                        </a:lnSpc>
                      </a:pPr>
                      <a:r>
                        <a:rPr sz="1500" b="0">
                          <a:solidFill>
                            <a:srgbClr val="1A1A1A"/>
                          </a:solidFill>
                          <a:latin typeface="Trebuchet MS"/>
                        </a:rPr>
                        <a:t>Why should anyone believe the numbers at all?</a:t>
                      </a:r>
                    </a:p>
                  </a:txBody>
                  <a:tcPr marL="118872" marR="91440" marT="27432" marB="27432" anchor="ctr">
                    <a:solidFill>
                      <a:srgbClr val="FDFCF9"/>
                    </a:solidFill>
                  </a:tcPr>
                </a:tc>
              </a:tr>
              <a:tr h="502920">
                <a:tc>
                  <a:txBody>
                    <a:bodyPr wrap="square"/>
                    <a:lstStyle/>
                    <a:p>
                      <a:pPr algn="ctr">
                        <a:lnSpc>
                          <a:spcPct val="110000"/>
                        </a:lnSpc>
                      </a:pPr>
                      <a:r>
                        <a:rPr sz="1500" b="0">
                          <a:solidFill>
                            <a:srgbClr val="1A1A1A"/>
                          </a:solidFill>
                          <a:latin typeface="Trebuchet MS"/>
                        </a:rPr>
                        <a:t>VI</a:t>
                      </a:r>
                    </a:p>
                  </a:txBody>
                  <a:tcPr marL="118872" marR="91440" marT="27432" marB="27432" anchor="ctr">
                    <a:solidFill>
                      <a:srgbClr val="F4F1EA"/>
                    </a:solidFill>
                  </a:tcPr>
                </a:tc>
                <a:tc>
                  <a:txBody>
                    <a:bodyPr wrap="square"/>
                    <a:lstStyle/>
                    <a:p>
                      <a:pPr>
                        <a:lnSpc>
                          <a:spcPct val="110000"/>
                        </a:lnSpc>
                      </a:pPr>
                      <a:r>
                        <a:rPr sz="1500" b="0">
                          <a:solidFill>
                            <a:srgbClr val="1A1A1A"/>
                          </a:solidFill>
                          <a:latin typeface="Trebuchet MS"/>
                        </a:rPr>
                        <a:t>Glossary and where to go next</a:t>
                      </a:r>
                    </a:p>
                  </a:txBody>
                  <a:tcPr marL="118872" marR="91440" marT="27432" marB="27432" anchor="ctr">
                    <a:solidFill>
                      <a:srgbClr val="F4F1EA"/>
                    </a:solidFill>
                  </a:tcPr>
                </a:tc>
                <a:tc>
                  <a:txBody>
                    <a:bodyPr wrap="square"/>
                    <a:lstStyle/>
                    <a:p>
                      <a:pPr>
                        <a:lnSpc>
                          <a:spcPct val="110000"/>
                        </a:lnSpc>
                      </a:pPr>
                      <a:r>
                        <a:rPr sz="1500" b="0">
                          <a:solidFill>
                            <a:srgbClr val="1A1A1A"/>
                          </a:solidFill>
                          <a:latin typeface="Trebuchet MS"/>
                        </a:rPr>
                        <a:t>What do I read, and what should I try first?</a:t>
                      </a:r>
                    </a:p>
                  </a:txBody>
                  <a:tcPr marL="118872" marR="91440" marT="27432" marB="27432" anchor="ctr">
                    <a:solidFill>
                      <a:srgbClr val="F4F1EA"/>
                    </a:solidFill>
                  </a:tcPr>
                </a:tc>
              </a:tr>
            </a:tbl>
          </a:graphicData>
        </a:graphic>
      </p:graphicFrame>
      <p:sp>
        <p:nvSpPr>
          <p:cNvPr id="6" name="TextBox 5"/>
          <p:cNvSpPr txBox="1"/>
          <p:nvPr/>
        </p:nvSpPr>
        <p:spPr>
          <a:xfrm>
            <a:off x="777240" y="5294376"/>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Sections are numbered to match the companion document, so any slide can be traced back to the prose that explains it at length.</a:t>
            </a:r>
          </a:p>
        </p:txBody>
      </p:sp>
      <p:sp>
        <p:nvSpPr>
          <p:cNvPr id="7" name="TextBox 6"/>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Team Rabt · KnowledgeGraphEval 2026</a:t>
            </a:r>
          </a:p>
        </p:txBody>
      </p:sp>
      <p:sp>
        <p:nvSpPr>
          <p:cNvPr id="8" name="TextBox 7"/>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F5673"/>
        </a:solidFill>
        <a:effectLst/>
      </p:bgPr>
    </p:bg>
    <p:spTree>
      <p:nvGrpSpPr>
        <p:cNvPr id="1" name=""/>
        <p:cNvGrpSpPr/>
        <p:nvPr/>
      </p:nvGrpSpPr>
      <p:grpSpPr/>
      <p:sp>
        <p:nvSpPr>
          <p:cNvPr id="2" name="TextBox 1"/>
          <p:cNvSpPr txBox="1"/>
          <p:nvPr/>
        </p:nvSpPr>
        <p:spPr>
          <a:xfrm>
            <a:off x="1005840" y="1371600"/>
            <a:ext cx="5120640" cy="1097280"/>
          </a:xfrm>
          <a:prstGeom prst="rect">
            <a:avLst/>
          </a:prstGeom>
          <a:noFill/>
        </p:spPr>
        <p:txBody>
          <a:bodyPr wrap="square" lIns="0" rIns="0" tIns="0" bIns="0">
            <a:spAutoFit/>
          </a:bodyPr>
          <a:lstStyle/>
          <a:p>
            <a:r>
              <a:rPr sz="1500" b="1">
                <a:solidFill>
                  <a:srgbClr val="E8A57C"/>
                </a:solidFill>
                <a:latin typeface="Trebuchet MS"/>
              </a:rPr>
              <a:t>PART I</a:t>
            </a:r>
          </a:p>
        </p:txBody>
      </p:sp>
      <p:sp>
        <p:nvSpPr>
          <p:cNvPr id="3" name="TextBox 2"/>
          <p:cNvSpPr txBox="1"/>
          <p:nvPr/>
        </p:nvSpPr>
        <p:spPr>
          <a:xfrm>
            <a:off x="1005840" y="1828800"/>
            <a:ext cx="5120640" cy="2011680"/>
          </a:xfrm>
          <a:prstGeom prst="rect">
            <a:avLst/>
          </a:prstGeom>
          <a:noFill/>
        </p:spPr>
        <p:txBody>
          <a:bodyPr wrap="square" lIns="0" rIns="0" tIns="0" bIns="0">
            <a:spAutoFit/>
          </a:bodyPr>
          <a:lstStyle/>
          <a:p>
            <a:pPr>
              <a:lnSpc>
                <a:spcPct val="110000"/>
              </a:lnSpc>
            </a:pPr>
            <a:r>
              <a:rPr sz="3400" b="1">
                <a:solidFill>
                  <a:srgbClr val="FFFFFF"/>
                </a:solidFill>
                <a:latin typeface="Trebuchet MS"/>
              </a:rPr>
              <a:t>The problem</a:t>
            </a:r>
            <a:br/>
            <a:r>
              <a:rPr sz="3400" b="1">
                <a:solidFill>
                  <a:srgbClr val="FFFFFF"/>
                </a:solidFill>
                <a:latin typeface="Trebuchet MS"/>
              </a:rPr>
              <a:t>and the foundation</a:t>
            </a:r>
          </a:p>
        </p:txBody>
      </p:sp>
      <p:sp>
        <p:nvSpPr>
          <p:cNvPr id="4" name="TextBox 3"/>
          <p:cNvSpPr txBox="1"/>
          <p:nvPr/>
        </p:nvSpPr>
        <p:spPr>
          <a:xfrm>
            <a:off x="1005840" y="3886200"/>
            <a:ext cx="4937760" cy="1463040"/>
          </a:xfrm>
          <a:prstGeom prst="rect">
            <a:avLst/>
          </a:prstGeom>
          <a:noFill/>
        </p:spPr>
        <p:txBody>
          <a:bodyPr wrap="square" lIns="0" rIns="0" tIns="0" bIns="0">
            <a:spAutoFit/>
          </a:bodyPr>
          <a:lstStyle/>
          <a:p>
            <a:pPr>
              <a:lnSpc>
                <a:spcPct val="125000"/>
              </a:lnSpc>
            </a:pPr>
            <a:r>
              <a:rPr sz="1500">
                <a:solidFill>
                  <a:srgbClr val="CBDDE6"/>
                </a:solidFill>
                <a:latin typeface="Trebuchet MS"/>
              </a:rPr>
              <a:t>Sections 1 to 3. What a knowledge graph is, why the task splits in two, and the transformer machinery everything else sits on.</a:t>
            </a:r>
          </a:p>
        </p:txBody>
      </p:sp>
      <p:sp>
        <p:nvSpPr>
          <p:cNvPr id="5" name="Rectangle 4"/>
          <p:cNvSpPr/>
          <p:nvPr/>
        </p:nvSpPr>
        <p:spPr>
          <a:xfrm>
            <a:off x="6858000" y="1600200"/>
            <a:ext cx="9144" cy="1270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0" y="1463040"/>
            <a:ext cx="4297680" cy="3931920"/>
          </a:xfrm>
          <a:prstGeom prst="roundRect">
            <a:avLst>
              <a:gd name="adj" fmla="val 3000"/>
            </a:avLst>
          </a:prstGeom>
          <a:solidFill>
            <a:srgbClr val="1A49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4048" rIns="329184" tIns="347472"/>
          <a:lstStyle/>
          <a:p>
            <a:pPr algn="l" marL="256032" indent="-256032">
              <a:lnSpc>
                <a:spcPct val="115000"/>
              </a:lnSpc>
              <a:spcAft>
                <a:spcPts val="1100"/>
              </a:spcAft>
            </a:pPr>
            <a:r>
              <a:rPr sz="1400">
                <a:solidFill>
                  <a:srgbClr val="D9E7EE"/>
                </a:solidFill>
                <a:latin typeface="Trebuchet MS"/>
              </a:rPr>
              <a:t>·   Knowledge graphs: nodes, edges, and why anyone wants one</a:t>
            </a:r>
          </a:p>
          <a:p>
            <a:pPr algn="l" marL="256032" indent="-256032">
              <a:lnSpc>
                <a:spcPct val="115000"/>
              </a:lnSpc>
              <a:spcAft>
                <a:spcPts val="1100"/>
              </a:spcAft>
            </a:pPr>
            <a:r>
              <a:rPr sz="1400">
                <a:solidFill>
                  <a:srgbClr val="D9E7EE"/>
                </a:solidFill>
                <a:latin typeface="Trebuchet MS"/>
              </a:rPr>
              <a:t>·   Why two subtasks, and how they differ in difficulty</a:t>
            </a:r>
          </a:p>
          <a:p>
            <a:pPr algn="l" marL="256032" indent="-256032">
              <a:lnSpc>
                <a:spcPct val="115000"/>
              </a:lnSpc>
              <a:spcAft>
                <a:spcPts val="1100"/>
              </a:spcAft>
            </a:pPr>
            <a:r>
              <a:rPr sz="1400">
                <a:solidFill>
                  <a:srgbClr val="D9E7EE"/>
                </a:solidFill>
                <a:latin typeface="Trebuchet MS"/>
              </a:rPr>
              <a:t>·   Transformers, encoders, pretraining, fine-tuning</a:t>
            </a:r>
          </a:p>
          <a:p>
            <a:pPr algn="l" marL="256032" indent="-256032">
              <a:lnSpc>
                <a:spcPct val="115000"/>
              </a:lnSpc>
              <a:spcAft>
                <a:spcPts val="1100"/>
              </a:spcAft>
            </a:pPr>
            <a:r>
              <a:rPr sz="1400">
                <a:solidFill>
                  <a:srgbClr val="D9E7EE"/>
                </a:solidFill>
                <a:latin typeface="Trebuchet MS"/>
              </a:rPr>
              <a:t>·   Why AraBERTv02 and not something else</a:t>
            </a:r>
          </a:p>
          <a:p>
            <a:pPr algn="l" marL="256032" indent="-256032">
              <a:lnSpc>
                <a:spcPct val="115000"/>
              </a:lnSpc>
              <a:spcAft>
                <a:spcPts val="1100"/>
              </a:spcAft>
            </a:pPr>
            <a:r>
              <a:rPr sz="1400">
                <a:solidFill>
                  <a:srgbClr val="D9E7EE"/>
                </a:solidFill>
                <a:latin typeface="Trebuchet MS"/>
              </a:rPr>
              <a:t>·   Tokenization, and the alignment problem it creates</a:t>
            </a:r>
          </a:p>
        </p:txBody>
      </p:sp>
      <p:sp>
        <p:nvSpPr>
          <p:cNvPr id="7" name="TextBox 6"/>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 · The problem
and the foundation</a:t>
            </a:r>
          </a:p>
        </p:txBody>
      </p:sp>
      <p:sp>
        <p:nvSpPr>
          <p:cNvPr id="8" name="TextBox 7"/>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 · THE PROBLEM</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A knowledge graph stores facts as a graph</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Things are </a:t>
            </a:r>
            <a:r>
              <a:rPr b="1" sz="1600">
                <a:solidFill>
                  <a:srgbClr val="6B6B6B"/>
                </a:solidFill>
                <a:latin typeface="Trebuchet MS"/>
              </a:rPr>
              <a:t>nodes</a:t>
            </a:r>
            <a:r>
              <a:rPr sz="1600" b="0">
                <a:solidFill>
                  <a:srgbClr val="6B6B6B"/>
                </a:solidFill>
                <a:latin typeface="Trebuchet MS"/>
              </a:rPr>
              <a:t>. Relationships between things are </a:t>
            </a:r>
            <a:r>
              <a:rPr b="1" sz="1600">
                <a:solidFill>
                  <a:srgbClr val="6B6B6B"/>
                </a:solidFill>
                <a:latin typeface="Trebuchet MS"/>
              </a:rPr>
              <a:t>edges</a:t>
            </a:r>
            <a:r>
              <a:rPr sz="1600" b="0">
                <a:solidFill>
                  <a:srgbClr val="6B6B6B"/>
                </a:solidFill>
                <a:latin typeface="Trebuchet MS"/>
              </a:rPr>
              <a:t>. The fact "Birzeit University is located in Birzeit" becomes one typed edge between two typed nodes.</a:t>
            </a:r>
          </a:p>
        </p:txBody>
      </p:sp>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 · The problem
and the foundation</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9</a:t>
            </a:r>
          </a:p>
        </p:txBody>
      </p:sp>
      <p:sp>
        <p:nvSpPr>
          <p:cNvPr id="8" name="Rounded Rectangle 7"/>
          <p:cNvSpPr/>
          <p:nvPr/>
        </p:nvSpPr>
        <p:spPr>
          <a:xfrm>
            <a:off x="1234440" y="2697480"/>
            <a:ext cx="3566160" cy="1051560"/>
          </a:xfrm>
          <a:prstGeom prst="roundRect">
            <a:avLst>
              <a:gd name="adj" fmla="val 10000"/>
            </a:avLst>
          </a:prstGeom>
          <a:solidFill>
            <a:srgbClr val="F4F1EA"/>
          </a:solidFill>
          <a:ln w="12700">
            <a:solidFill>
              <a:srgbClr val="1F5673"/>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lnSpc>
                <a:spcPct val="110000"/>
              </a:lnSpc>
            </a:pPr>
            <a:r>
              <a:rPr sz="1600" b="1">
                <a:solidFill>
                  <a:srgbClr val="1A1A1A"/>
                </a:solidFill>
                <a:latin typeface="Trebuchet MS"/>
              </a:rPr>
              <a:t>Birzeit University</a:t>
            </a:r>
          </a:p>
          <a:p>
            <a:pPr algn="ctr">
              <a:lnSpc>
                <a:spcPct val="110000"/>
              </a:lnSpc>
              <a:spcBef>
                <a:spcPts val="300"/>
              </a:spcBef>
            </a:pPr>
            <a:r>
              <a:rPr sz="1200" b="0">
                <a:solidFill>
                  <a:srgbClr val="6B6B6B"/>
                </a:solidFill>
                <a:latin typeface="Trebuchet MS"/>
              </a:rPr>
              <a:t>type: ORG</a:t>
            </a:r>
          </a:p>
        </p:txBody>
      </p:sp>
      <p:sp>
        <p:nvSpPr>
          <p:cNvPr id="9" name="Right Arrow 8"/>
          <p:cNvSpPr/>
          <p:nvPr/>
        </p:nvSpPr>
        <p:spPr>
          <a:xfrm>
            <a:off x="5074920" y="3072384"/>
            <a:ext cx="2057400" cy="310896"/>
          </a:xfrm>
          <a:prstGeom prst="rightArrow">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92040" y="2651760"/>
            <a:ext cx="2423160" cy="292608"/>
          </a:xfrm>
          <a:prstGeom prst="rect">
            <a:avLst/>
          </a:prstGeom>
          <a:noFill/>
        </p:spPr>
        <p:txBody>
          <a:bodyPr wrap="square" lIns="0" rIns="0" tIns="0" bIns="0">
            <a:spAutoFit/>
          </a:bodyPr>
          <a:lstStyle/>
          <a:p>
            <a:pPr algn="ctr">
              <a:lnSpc>
                <a:spcPct val="115000"/>
              </a:lnSpc>
            </a:pPr>
            <a:r>
              <a:rPr sz="1500" b="1">
                <a:solidFill>
                  <a:srgbClr val="9E4A2B"/>
                </a:solidFill>
                <a:latin typeface="Trebuchet MS"/>
              </a:rPr>
              <a:t>located_in</a:t>
            </a:r>
          </a:p>
        </p:txBody>
      </p:sp>
      <p:sp>
        <p:nvSpPr>
          <p:cNvPr id="11" name="TextBox 10"/>
          <p:cNvSpPr txBox="1"/>
          <p:nvPr/>
        </p:nvSpPr>
        <p:spPr>
          <a:xfrm>
            <a:off x="4892040" y="3456432"/>
            <a:ext cx="2423160" cy="292608"/>
          </a:xfrm>
          <a:prstGeom prst="rect">
            <a:avLst/>
          </a:prstGeom>
          <a:noFill/>
        </p:spPr>
        <p:txBody>
          <a:bodyPr wrap="square" lIns="0" rIns="0" tIns="0" bIns="0">
            <a:spAutoFit/>
          </a:bodyPr>
          <a:lstStyle/>
          <a:p>
            <a:pPr algn="ctr">
              <a:lnSpc>
                <a:spcPct val="115000"/>
              </a:lnSpc>
            </a:pPr>
            <a:r>
              <a:rPr sz="1200" b="0">
                <a:solidFill>
                  <a:srgbClr val="6B6B6B"/>
                </a:solidFill>
                <a:latin typeface="Trebuchet MS"/>
              </a:rPr>
              <a:t>the relation label</a:t>
            </a:r>
          </a:p>
        </p:txBody>
      </p:sp>
      <p:sp>
        <p:nvSpPr>
          <p:cNvPr id="12" name="Rounded Rectangle 11"/>
          <p:cNvSpPr/>
          <p:nvPr/>
        </p:nvSpPr>
        <p:spPr>
          <a:xfrm>
            <a:off x="7406640" y="2697480"/>
            <a:ext cx="3566160" cy="1051560"/>
          </a:xfrm>
          <a:prstGeom prst="roundRect">
            <a:avLst>
              <a:gd name="adj" fmla="val 10000"/>
            </a:avLst>
          </a:prstGeom>
          <a:solidFill>
            <a:srgbClr val="F4F1EA"/>
          </a:solidFill>
          <a:ln w="12700">
            <a:solidFill>
              <a:srgbClr val="1F5673"/>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lnSpc>
                <a:spcPct val="110000"/>
              </a:lnSpc>
            </a:pPr>
            <a:r>
              <a:rPr sz="1600" b="1">
                <a:solidFill>
                  <a:srgbClr val="1A1A1A"/>
                </a:solidFill>
                <a:latin typeface="Trebuchet MS"/>
              </a:rPr>
              <a:t>Birzeit</a:t>
            </a:r>
          </a:p>
          <a:p>
            <a:pPr algn="ctr">
              <a:lnSpc>
                <a:spcPct val="110000"/>
              </a:lnSpc>
              <a:spcBef>
                <a:spcPts val="300"/>
              </a:spcBef>
            </a:pPr>
            <a:r>
              <a:rPr sz="1200" b="0">
                <a:solidFill>
                  <a:srgbClr val="6B6B6B"/>
                </a:solidFill>
                <a:latin typeface="Trebuchet MS"/>
              </a:rPr>
              <a:t>type: GPE</a:t>
            </a:r>
          </a:p>
        </p:txBody>
      </p:sp>
      <p:sp>
        <p:nvSpPr>
          <p:cNvPr id="13" name="TextBox 12"/>
          <p:cNvSpPr txBox="1"/>
          <p:nvPr/>
        </p:nvSpPr>
        <p:spPr>
          <a:xfrm>
            <a:off x="777240" y="4480560"/>
            <a:ext cx="10607040" cy="822960"/>
          </a:xfrm>
          <a:prstGeom prst="rect">
            <a:avLst/>
          </a:prstGeom>
          <a:noFill/>
        </p:spPr>
        <p:txBody>
          <a:bodyPr wrap="square" lIns="0" rIns="0" tIns="0" bIns="0">
            <a:spAutoFit/>
          </a:bodyPr>
          <a:lstStyle/>
          <a:p>
            <a:pPr algn="l">
              <a:lnSpc>
                <a:spcPct val="115000"/>
              </a:lnSpc>
            </a:pPr>
            <a:r>
              <a:rPr sz="1600" b="0">
                <a:solidFill>
                  <a:srgbClr val="1A1A1A"/>
                </a:solidFill>
                <a:latin typeface="Trebuchet MS"/>
              </a:rPr>
              <a:t>Each node has a </a:t>
            </a:r>
            <a:r>
              <a:rPr b="1" sz="1600">
                <a:solidFill>
                  <a:srgbClr val="1A1A1A"/>
                </a:solidFill>
                <a:latin typeface="Trebuchet MS"/>
              </a:rPr>
              <a:t>type</a:t>
            </a:r>
            <a:r>
              <a:rPr sz="1600" b="0">
                <a:solidFill>
                  <a:srgbClr val="1A1A1A"/>
                </a:solidFill>
                <a:latin typeface="Trebuchet MS"/>
              </a:rPr>
              <a:t> (ORG = organization, GPE = geopolitical entity); each edge has a </a:t>
            </a:r>
            <a:r>
              <a:rPr b="1" sz="1600">
                <a:solidFill>
                  <a:srgbClr val="1A1A1A"/>
                </a:solidFill>
                <a:latin typeface="Trebuchet MS"/>
              </a:rPr>
              <a:t>relation label</a:t>
            </a:r>
            <a:r>
              <a:rPr sz="1600" b="0">
                <a:solidFill>
                  <a:srgbClr val="1A1A1A"/>
                </a:solidFill>
                <a:latin typeface="Trebuchet MS"/>
              </a:rPr>
              <a:t>. Build this from a million news articles and you can answer what no keyword search can:</a:t>
            </a:r>
          </a:p>
        </p:txBody>
      </p:sp>
      <p:sp>
        <p:nvSpPr>
          <p:cNvPr id="14" name="TextBox 13"/>
          <p:cNvSpPr txBox="1"/>
          <p:nvPr/>
        </p:nvSpPr>
        <p:spPr>
          <a:xfrm>
            <a:off x="777240" y="5257800"/>
            <a:ext cx="10607040" cy="292608"/>
          </a:xfrm>
          <a:prstGeom prst="rect">
            <a:avLst/>
          </a:prstGeom>
          <a:noFill/>
        </p:spPr>
        <p:txBody>
          <a:bodyPr wrap="square" lIns="0" rIns="0" tIns="0" bIns="0">
            <a:spAutoFit/>
          </a:bodyPr>
          <a:lstStyle/>
          <a:p>
            <a:pPr algn="l">
              <a:lnSpc>
                <a:spcPct val="115000"/>
              </a:lnSpc>
            </a:pPr>
            <a:r>
              <a:rPr sz="1800" b="1">
                <a:solidFill>
                  <a:srgbClr val="1F5673"/>
                </a:solidFill>
                <a:latin typeface="Trebuchet MS"/>
              </a:rPr>
              <a:t>“Which organizations are headquartered in cities that border Jordan?”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 · WHY TWO SUBTASKS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Building one splits into two stages</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The shared task mirrors the traditional pipeline exactly, and scores the two halves separately.</a:t>
            </a:r>
          </a:p>
        </p:txBody>
      </p:sp>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 · The problem
and the foundation</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10</a:t>
            </a:r>
          </a:p>
        </p:txBody>
      </p:sp>
      <p:sp>
        <p:nvSpPr>
          <p:cNvPr id="8" name="Rounded Rectangle 7"/>
          <p:cNvSpPr/>
          <p:nvPr/>
        </p:nvSpPr>
        <p:spPr>
          <a:xfrm>
            <a:off x="822960" y="2514600"/>
            <a:ext cx="1828800" cy="1371600"/>
          </a:xfrm>
          <a:prstGeom prst="roundRect">
            <a:avLst>
              <a:gd name="adj" fmla="val 10000"/>
            </a:avLst>
          </a:prstGeom>
          <a:solidFill>
            <a:srgbClr val="FDFCF9"/>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lnSpc>
                <a:spcPct val="110000"/>
              </a:lnSpc>
            </a:pPr>
            <a:r>
              <a:rPr sz="1500" b="1">
                <a:solidFill>
                  <a:srgbClr val="1A1A1A"/>
                </a:solidFill>
                <a:latin typeface="Trebuchet MS"/>
              </a:rPr>
              <a:t>Raw Arabic</a:t>
            </a:r>
            <a:br/>
            <a:r>
              <a:rPr sz="1500" b="1">
                <a:solidFill>
                  <a:srgbClr val="1A1A1A"/>
                </a:solidFill>
                <a:latin typeface="Trebuchet MS"/>
              </a:rPr>
              <a:t>text</a:t>
            </a:r>
          </a:p>
        </p:txBody>
      </p:sp>
      <p:sp>
        <p:nvSpPr>
          <p:cNvPr id="9" name="Right Arrow 8"/>
          <p:cNvSpPr/>
          <p:nvPr/>
        </p:nvSpPr>
        <p:spPr>
          <a:xfrm>
            <a:off x="2743200" y="3044952"/>
            <a:ext cx="274320" cy="310896"/>
          </a:xfrm>
          <a:prstGeom prst="rightArrow">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063240" y="2514600"/>
            <a:ext cx="1828800" cy="1371600"/>
          </a:xfrm>
          <a:prstGeom prst="roundRect">
            <a:avLst>
              <a:gd name="adj" fmla="val 10000"/>
            </a:avLst>
          </a:prstGeom>
          <a:solidFill>
            <a:srgbClr val="1F5673"/>
          </a:solidFill>
          <a:ln w="12700">
            <a:solidFill>
              <a:srgbClr val="1F5673"/>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lnSpc>
                <a:spcPct val="110000"/>
              </a:lnSpc>
            </a:pPr>
            <a:r>
              <a:rPr sz="1500" b="1">
                <a:solidFill>
                  <a:srgbClr val="FFFFFF"/>
                </a:solidFill>
                <a:latin typeface="Trebuchet MS"/>
              </a:rPr>
              <a:t>Subtask 1</a:t>
            </a:r>
            <a:br/>
            <a:r>
              <a:rPr sz="1500" b="1">
                <a:solidFill>
                  <a:srgbClr val="FFFFFF"/>
                </a:solidFill>
                <a:latin typeface="Trebuchet MS"/>
              </a:rPr>
              <a:t>NER</a:t>
            </a:r>
          </a:p>
          <a:p>
            <a:pPr algn="ctr">
              <a:lnSpc>
                <a:spcPct val="110000"/>
              </a:lnSpc>
              <a:spcBef>
                <a:spcPts val="300"/>
              </a:spcBef>
            </a:pPr>
            <a:r>
              <a:rPr sz="1100" b="0">
                <a:solidFill>
                  <a:srgbClr val="BFD6E1"/>
                </a:solidFill>
                <a:latin typeface="Trebuchet MS"/>
              </a:rPr>
              <a:t>which spans are</a:t>
            </a:r>
            <a:br/>
            <a:r>
              <a:rPr sz="1100" b="0">
                <a:solidFill>
                  <a:srgbClr val="BFD6E1"/>
                </a:solidFill>
                <a:latin typeface="Trebuchet MS"/>
              </a:rPr>
              <a:t>entities?</a:t>
            </a:r>
          </a:p>
        </p:txBody>
      </p:sp>
      <p:sp>
        <p:nvSpPr>
          <p:cNvPr id="11" name="Right Arrow 10"/>
          <p:cNvSpPr/>
          <p:nvPr/>
        </p:nvSpPr>
        <p:spPr>
          <a:xfrm>
            <a:off x="4983480" y="3044952"/>
            <a:ext cx="274320" cy="310896"/>
          </a:xfrm>
          <a:prstGeom prst="rightArrow">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303520" y="2514600"/>
            <a:ext cx="1828800" cy="1371600"/>
          </a:xfrm>
          <a:prstGeom prst="roundRect">
            <a:avLst>
              <a:gd name="adj" fmla="val 10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lnSpc>
                <a:spcPct val="110000"/>
              </a:lnSpc>
            </a:pPr>
            <a:r>
              <a:rPr sz="1500" b="1">
                <a:solidFill>
                  <a:srgbClr val="1A1A1A"/>
                </a:solidFill>
                <a:latin typeface="Trebuchet MS"/>
              </a:rPr>
              <a:t>Typed</a:t>
            </a:r>
            <a:br/>
            <a:r>
              <a:rPr sz="1500" b="1">
                <a:solidFill>
                  <a:srgbClr val="1A1A1A"/>
                </a:solidFill>
                <a:latin typeface="Trebuchet MS"/>
              </a:rPr>
              <a:t>mentions</a:t>
            </a:r>
          </a:p>
          <a:p>
            <a:pPr algn="ctr">
              <a:lnSpc>
                <a:spcPct val="110000"/>
              </a:lnSpc>
              <a:spcBef>
                <a:spcPts val="300"/>
              </a:spcBef>
            </a:pPr>
            <a:r>
              <a:rPr sz="1100" b="0">
                <a:solidFill>
                  <a:srgbClr val="6B6B6B"/>
                </a:solidFill>
                <a:latin typeface="Trebuchet MS"/>
              </a:rPr>
              <a:t>[Birzeit Univ.]=ORG</a:t>
            </a:r>
          </a:p>
        </p:txBody>
      </p:sp>
      <p:sp>
        <p:nvSpPr>
          <p:cNvPr id="13" name="Right Arrow 12"/>
          <p:cNvSpPr/>
          <p:nvPr/>
        </p:nvSpPr>
        <p:spPr>
          <a:xfrm>
            <a:off x="7223760" y="3044952"/>
            <a:ext cx="274320" cy="310896"/>
          </a:xfrm>
          <a:prstGeom prst="rightArrow">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543800" y="2514600"/>
            <a:ext cx="1828800" cy="1371600"/>
          </a:xfrm>
          <a:prstGeom prst="roundRect">
            <a:avLst>
              <a:gd name="adj" fmla="val 10000"/>
            </a:avLst>
          </a:prstGeom>
          <a:solidFill>
            <a:srgbClr val="1F5673"/>
          </a:solidFill>
          <a:ln w="12700">
            <a:solidFill>
              <a:srgbClr val="1F5673"/>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lnSpc>
                <a:spcPct val="110000"/>
              </a:lnSpc>
            </a:pPr>
            <a:r>
              <a:rPr sz="1500" b="1">
                <a:solidFill>
                  <a:srgbClr val="FFFFFF"/>
                </a:solidFill>
                <a:latin typeface="Trebuchet MS"/>
              </a:rPr>
              <a:t>Subtask 2</a:t>
            </a:r>
            <a:br/>
            <a:r>
              <a:rPr sz="1500" b="1">
                <a:solidFill>
                  <a:srgbClr val="FFFFFF"/>
                </a:solidFill>
                <a:latin typeface="Trebuchet MS"/>
              </a:rPr>
              <a:t>RE</a:t>
            </a:r>
          </a:p>
          <a:p>
            <a:pPr algn="ctr">
              <a:lnSpc>
                <a:spcPct val="110000"/>
              </a:lnSpc>
              <a:spcBef>
                <a:spcPts val="300"/>
              </a:spcBef>
            </a:pPr>
            <a:r>
              <a:rPr sz="1100" b="0">
                <a:solidFill>
                  <a:srgbClr val="BFD6E1"/>
                </a:solidFill>
                <a:latin typeface="Trebuchet MS"/>
              </a:rPr>
              <a:t>which relation</a:t>
            </a:r>
            <a:br/>
            <a:r>
              <a:rPr sz="1100" b="0">
                <a:solidFill>
                  <a:srgbClr val="BFD6E1"/>
                </a:solidFill>
                <a:latin typeface="Trebuchet MS"/>
              </a:rPr>
              <a:t>holds?</a:t>
            </a:r>
          </a:p>
        </p:txBody>
      </p:sp>
      <p:sp>
        <p:nvSpPr>
          <p:cNvPr id="15" name="Right Arrow 14"/>
          <p:cNvSpPr/>
          <p:nvPr/>
        </p:nvSpPr>
        <p:spPr>
          <a:xfrm>
            <a:off x="9464040" y="3044952"/>
            <a:ext cx="274320" cy="310896"/>
          </a:xfrm>
          <a:prstGeom prst="rightArrow">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84080" y="2514600"/>
            <a:ext cx="1828800" cy="1371600"/>
          </a:xfrm>
          <a:prstGeom prst="roundRect">
            <a:avLst>
              <a:gd name="adj" fmla="val 10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a:lstStyle/>
          <a:p>
            <a:pPr algn="ctr">
              <a:lnSpc>
                <a:spcPct val="110000"/>
              </a:lnSpc>
            </a:pPr>
            <a:r>
              <a:rPr sz="1500" b="1">
                <a:solidFill>
                  <a:srgbClr val="1A1A1A"/>
                </a:solidFill>
                <a:latin typeface="Trebuchet MS"/>
              </a:rPr>
              <a:t>Typed</a:t>
            </a:r>
            <a:br/>
            <a:r>
              <a:rPr sz="1500" b="1">
                <a:solidFill>
                  <a:srgbClr val="1A1A1A"/>
                </a:solidFill>
                <a:latin typeface="Trebuchet MS"/>
              </a:rPr>
              <a:t>edges</a:t>
            </a:r>
          </a:p>
          <a:p>
            <a:pPr algn="ctr">
              <a:lnSpc>
                <a:spcPct val="110000"/>
              </a:lnSpc>
              <a:spcBef>
                <a:spcPts val="300"/>
              </a:spcBef>
            </a:pPr>
            <a:r>
              <a:rPr sz="1100" b="0">
                <a:solidFill>
                  <a:srgbClr val="6B6B6B"/>
                </a:solidFill>
                <a:latin typeface="Trebuchet MS"/>
              </a:rPr>
              <a:t>located_in(·,·)</a:t>
            </a:r>
          </a:p>
        </p:txBody>
      </p:sp>
      <p:sp>
        <p:nvSpPr>
          <p:cNvPr id="17" name="Rounded Rectangle 16"/>
          <p:cNvSpPr/>
          <p:nvPr/>
        </p:nvSpPr>
        <p:spPr>
          <a:xfrm>
            <a:off x="777240" y="4343400"/>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THE DECOUPLING MATTERS</a:t>
            </a:r>
          </a:p>
          <a:p>
            <a:pPr>
              <a:lnSpc>
                <a:spcPct val="124000"/>
              </a:lnSpc>
            </a:pPr>
            <a:r>
              <a:rPr sz="1500" b="0">
                <a:solidFill>
                  <a:srgbClr val="1A1A1A"/>
                </a:solidFill>
                <a:latin typeface="Trebuchet MS"/>
              </a:rPr>
              <a:t>In a real pipeline RE consumes NER's output, so NER errors compound. In the shared task RE is handed </a:t>
            </a:r>
            <a:r>
              <a:rPr b="1" sz="1500">
                <a:solidFill>
                  <a:srgbClr val="1A1A1A"/>
                </a:solidFill>
                <a:latin typeface="Trebuchet MS"/>
              </a:rPr>
              <a:t>gold</a:t>
            </a:r>
            <a:r>
              <a:rPr sz="1500" b="0">
                <a:solidFill>
                  <a:srgbClr val="1A1A1A"/>
                </a:solidFill>
                <a:latin typeface="Trebuchet MS"/>
              </a:rPr>
              <a:t> entity pairs, so the two stages are independent. We built two separate systems.</a:t>
            </a:r>
          </a:p>
        </p:txBody>
      </p:sp>
      <p:sp>
        <p:nvSpPr>
          <p:cNvPr id="18" name="Rectangle 17"/>
          <p:cNvSpPr/>
          <p:nvPr/>
        </p:nvSpPr>
        <p:spPr>
          <a:xfrm>
            <a:off x="777240" y="4343400"/>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 · THE TWO DIFFICULTIES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Each subtask is hard for a different reason</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5163159" cy="393192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AdaptNER: domain shift</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Train on </a:t>
            </a:r>
            <a:r>
              <a:rPr b="1" sz="1400">
                <a:solidFill>
                  <a:srgbClr val="1A1A1A"/>
                </a:solidFill>
                <a:latin typeface="Trebuchet MS"/>
              </a:rPr>
              <a:t>Wojood</a:t>
            </a:r>
            <a:r>
              <a:rPr sz="1400" b="0">
                <a:solidFill>
                  <a:srgbClr val="1A1A1A"/>
                </a:solidFill>
                <a:latin typeface="Trebuchet MS"/>
              </a:rPr>
              <a:t> (mostly news text)</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Test on </a:t>
            </a:r>
            <a:r>
              <a:rPr b="1" sz="1400">
                <a:solidFill>
                  <a:srgbClr val="1A1A1A"/>
                </a:solidFill>
                <a:latin typeface="Trebuchet MS"/>
              </a:rPr>
              <a:t>Konooz</a:t>
            </a:r>
            <a:r>
              <a:rPr sz="1400" b="0">
                <a:solidFill>
                  <a:srgbClr val="1A1A1A"/>
                </a:solidFill>
                <a:latin typeface="Trebuchet MS"/>
              </a:rPr>
              <a:t>, drawn from ten domains never seen in training</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agriculture · art · economics · finance · health · history · law · politics · science · sport</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A model that memorizes “words that look like news entities” fails on medical or agricultural text</a:t>
            </a:r>
          </a:p>
          <a:p>
            <a:pPr>
              <a:lnSpc>
                <a:spcPct val="120000"/>
              </a:lnSpc>
              <a:spcBef>
                <a:spcPts val="900"/>
              </a:spcBef>
            </a:pPr>
            <a:r>
              <a:rPr sz="1300" b="0">
                <a:solidFill>
                  <a:srgbClr val="6B6B6B"/>
                </a:solidFill>
                <a:latin typeface="Trebuchet MS"/>
              </a:rPr>
              <a:t>Part IV treats this properly. It is the whole point of the subtask.</a:t>
            </a:r>
          </a:p>
        </p:txBody>
      </p:sp>
      <p:sp>
        <p:nvSpPr>
          <p:cNvPr id="6" name="Rounded Rectangle 5"/>
          <p:cNvSpPr/>
          <p:nvPr/>
        </p:nvSpPr>
        <p:spPr>
          <a:xfrm>
            <a:off x="6251295" y="1572768"/>
            <a:ext cx="5163159" cy="393192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RE: label granularity</a:t>
            </a:r>
          </a:p>
          <a:p>
            <a:pPr marL="182880" indent="-182880">
              <a:lnSpc>
                <a:spcPct val="120000"/>
              </a:lnSpc>
              <a:spcAft>
                <a:spcPts val="700"/>
              </a:spcAft>
            </a:pPr>
            <a:r>
              <a:rPr sz="1400">
                <a:solidFill>
                  <a:srgbClr val="9E4A2B"/>
                </a:solidFill>
                <a:latin typeface="Trebuchet MS"/>
              </a:rPr>
              <a:t>·  </a:t>
            </a:r>
            <a:r>
              <a:rPr b="1" sz="1400">
                <a:solidFill>
                  <a:srgbClr val="1A1A1A"/>
                </a:solidFill>
                <a:latin typeface="Trebuchet MS"/>
              </a:rPr>
              <a:t>40 relation types</a:t>
            </a:r>
            <a:r>
              <a:rPr sz="1400" b="0">
                <a:solidFill>
                  <a:srgbClr val="1A1A1A"/>
                </a:solidFill>
                <a:latin typeface="Trebuchet MS"/>
              </a:rPr>
              <a:t>, many semantically adjacent</a:t>
            </a:r>
          </a:p>
          <a:p>
            <a:pPr marL="182880" indent="-182880">
              <a:lnSpc>
                <a:spcPct val="120000"/>
              </a:lnSpc>
              <a:spcAft>
                <a:spcPts val="700"/>
              </a:spcAft>
            </a:pPr>
            <a:r>
              <a:rPr sz="1400">
                <a:solidFill>
                  <a:srgbClr val="9E4A2B"/>
                </a:solidFill>
                <a:latin typeface="Trebuchet MS"/>
              </a:rPr>
              <a:t>·  </a:t>
            </a:r>
            <a:r>
              <a:rPr sz="1260" b="0">
                <a:solidFill>
                  <a:srgbClr val="1F5673"/>
                </a:solidFill>
                <a:latin typeface="Consolas"/>
              </a:rPr>
              <a:t>Administration.president_of</a:t>
            </a:r>
          </a:p>
          <a:p>
            <a:pPr marL="182880" indent="-182880">
              <a:lnSpc>
                <a:spcPct val="120000"/>
              </a:lnSpc>
              <a:spcAft>
                <a:spcPts val="700"/>
              </a:spcAft>
            </a:pPr>
            <a:r>
              <a:rPr sz="1400">
                <a:solidFill>
                  <a:srgbClr val="9E4A2B"/>
                </a:solidFill>
                <a:latin typeface="Trebuchet MS"/>
              </a:rPr>
              <a:t>·  </a:t>
            </a:r>
            <a:r>
              <a:rPr sz="1260" b="0">
                <a:solidFill>
                  <a:srgbClr val="1F5673"/>
                </a:solidFill>
                <a:latin typeface="Consolas"/>
              </a:rPr>
              <a:t>Administration.leader_of</a:t>
            </a:r>
          </a:p>
          <a:p>
            <a:pPr marL="182880" indent="-182880">
              <a:lnSpc>
                <a:spcPct val="120000"/>
              </a:lnSpc>
              <a:spcAft>
                <a:spcPts val="700"/>
              </a:spcAft>
            </a:pPr>
            <a:r>
              <a:rPr sz="1400">
                <a:solidFill>
                  <a:srgbClr val="9E4A2B"/>
                </a:solidFill>
                <a:latin typeface="Trebuchet MS"/>
              </a:rPr>
              <a:t>·  </a:t>
            </a:r>
            <a:r>
              <a:rPr sz="1260" b="0">
                <a:solidFill>
                  <a:srgbClr val="1F5673"/>
                </a:solidFill>
                <a:latin typeface="Consolas"/>
              </a:rPr>
              <a:t>Affiliation.member_of</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All three describe a person connected to an organization</a:t>
            </a:r>
          </a:p>
          <a:p>
            <a:pPr>
              <a:lnSpc>
                <a:spcPct val="120000"/>
              </a:lnSpc>
              <a:spcBef>
                <a:spcPts val="900"/>
              </a:spcBef>
            </a:pPr>
            <a:r>
              <a:rPr sz="1300" b="0">
                <a:solidFill>
                  <a:srgbClr val="6B6B6B"/>
                </a:solidFill>
                <a:latin typeface="Trebuchet MS"/>
              </a:rPr>
              <a:t>The model must make fine distinctions from a single sentence.</a:t>
            </a:r>
          </a:p>
        </p:txBody>
      </p:sp>
      <p:sp>
        <p:nvSpPr>
          <p:cNvPr id="7" name="TextBox 6"/>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 · The problem
and the foundation</a:t>
            </a:r>
          </a:p>
        </p:txBody>
      </p:sp>
      <p:sp>
        <p:nvSpPr>
          <p:cNvPr id="8" name="TextBox 7"/>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2 · THE FOUNDATION</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Transformers, in one slide</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A transformer takes a sequence of tokens and produces </a:t>
            </a:r>
            <a:r>
              <a:rPr b="1" sz="1700">
                <a:solidFill>
                  <a:srgbClr val="1A1A1A"/>
                </a:solidFill>
                <a:latin typeface="Trebuchet MS"/>
              </a:rPr>
              <a:t>one vector per token</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The mechanism is </a:t>
            </a:r>
            <a:r>
              <a:rPr b="1" sz="1700">
                <a:solidFill>
                  <a:srgbClr val="1A1A1A"/>
                </a:solidFill>
                <a:latin typeface="Trebuchet MS"/>
              </a:rPr>
              <a:t>self-attention</a:t>
            </a:r>
            <a:r>
              <a:rPr sz="1700" b="0">
                <a:solidFill>
                  <a:srgbClr val="1A1A1A"/>
                </a:solidFill>
                <a:latin typeface="Trebuchet MS"/>
              </a:rPr>
              <a:t>: computing a token's representation, the model looks at every other token and decides how much each one matters</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Output for </a:t>
            </a:r>
            <a:r>
              <a:rPr b="1" sz="1700">
                <a:solidFill>
                  <a:srgbClr val="1A1A1A"/>
                </a:solidFill>
                <a:latin typeface="Trebuchet MS"/>
              </a:rPr>
              <a:t>T</a:t>
            </a:r>
            <a:r>
              <a:rPr sz="1700" b="0">
                <a:solidFill>
                  <a:srgbClr val="1A1A1A"/>
                </a:solidFill>
                <a:latin typeface="Trebuchet MS"/>
              </a:rPr>
              <a:t> tokens is </a:t>
            </a:r>
            <a:r>
              <a:rPr b="1" sz="1700">
                <a:solidFill>
                  <a:srgbClr val="1A1A1A"/>
                </a:solidFill>
                <a:latin typeface="Trebuchet MS"/>
              </a:rPr>
              <a:t>T</a:t>
            </a:r>
            <a:r>
              <a:rPr sz="1700" b="0">
                <a:solidFill>
                  <a:srgbClr val="1A1A1A"/>
                </a:solidFill>
                <a:latin typeface="Trebuchet MS"/>
              </a:rPr>
              <a:t> vectors of size </a:t>
            </a:r>
            <a:r>
              <a:rPr b="1" sz="1700">
                <a:solidFill>
                  <a:srgbClr val="1A1A1A"/>
                </a:solidFill>
                <a:latin typeface="Trebuchet MS"/>
              </a:rPr>
              <a:t>H</a:t>
            </a:r>
            <a:r>
              <a:rPr sz="1700" b="0">
                <a:solidFill>
                  <a:srgbClr val="1A1A1A"/>
                </a:solidFill>
                <a:latin typeface="Trebuchet MS"/>
              </a:rPr>
              <a:t>; for BERT-base, H = 768. These are the </a:t>
            </a:r>
            <a:r>
              <a:rPr b="1" sz="1700">
                <a:solidFill>
                  <a:srgbClr val="1A1A1A"/>
                </a:solidFill>
                <a:latin typeface="Trebuchet MS"/>
              </a:rPr>
              <a:t>hidden states</a:t>
            </a:r>
            <a:r>
              <a:rPr sz="1700" b="0">
                <a:solidFill>
                  <a:srgbClr val="1A1A1A"/>
                </a:solidFill>
                <a:latin typeface="Trebuchet MS"/>
              </a:rPr>
              <a:t>, or contextual embeddings</a:t>
            </a:r>
          </a:p>
        </p:txBody>
      </p:sp>
      <p:sp>
        <p:nvSpPr>
          <p:cNvPr id="6" name="Rounded Rectangle 5"/>
          <p:cNvSpPr/>
          <p:nvPr/>
        </p:nvSpPr>
        <p:spPr>
          <a:xfrm>
            <a:off x="777240" y="3360674"/>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WHY “CONTEXTUAL” IS THE WHOLE POINT</a:t>
            </a:r>
          </a:p>
          <a:p>
            <a:pPr>
              <a:lnSpc>
                <a:spcPct val="124000"/>
              </a:lnSpc>
            </a:pPr>
            <a:r>
              <a:rPr sz="1500" b="0">
                <a:solidFill>
                  <a:srgbClr val="1A1A1A"/>
                </a:solidFill>
                <a:latin typeface="Trebuchet MS"/>
              </a:rPr>
              <a:t>The word “bank” gets a different vector in “river bank” than in “bank loan”, because attention pulls in the surrounding words. This is the crucial break from older methods like word2vec, where each word had one fixed vector regardless of context.</a:t>
            </a:r>
          </a:p>
        </p:txBody>
      </p:sp>
      <p:sp>
        <p:nvSpPr>
          <p:cNvPr id="7" name="Rectangle 6"/>
          <p:cNvSpPr/>
          <p:nvPr/>
        </p:nvSpPr>
        <p:spPr>
          <a:xfrm>
            <a:off x="777240" y="3360674"/>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 · The problem
and the foundation</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2 · WHICH KIND OF MODEL</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Encoder-only or decoder-only?</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5163159" cy="2148840"/>
          </a:xfrm>
          <a:prstGeom prst="roundRect">
            <a:avLst>
              <a:gd name="adj" fmla="val 3000"/>
            </a:avLst>
          </a:prstGeom>
          <a:solidFill>
            <a:srgbClr val="FBE9C8"/>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Encoder-only  (BERT and relatives)</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Every token sees every other token, </a:t>
            </a:r>
            <a:r>
              <a:rPr b="1" sz="1400">
                <a:solidFill>
                  <a:srgbClr val="1A1A1A"/>
                </a:solidFill>
                <a:latin typeface="Trebuchet MS"/>
              </a:rPr>
              <a:t>in both directions</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Built for </a:t>
            </a:r>
            <a:r>
              <a:rPr i="1" b="0" sz="1400">
                <a:solidFill>
                  <a:srgbClr val="1A1A1A"/>
                </a:solidFill>
                <a:latin typeface="Trebuchet MS"/>
              </a:rPr>
              <a:t>understanding</a:t>
            </a:r>
            <a:r>
              <a:rPr sz="1400" b="0">
                <a:solidFill>
                  <a:srgbClr val="1A1A1A"/>
                </a:solidFill>
                <a:latin typeface="Trebuchet MS"/>
              </a:rPr>
              <a:t>: you need a rich representation of each input token</a:t>
            </a:r>
          </a:p>
          <a:p>
            <a:pPr marL="182880" indent="-182880">
              <a:lnSpc>
                <a:spcPct val="120000"/>
              </a:lnSpc>
              <a:spcAft>
                <a:spcPts val="700"/>
              </a:spcAft>
            </a:pPr>
            <a:r>
              <a:rPr sz="1400">
                <a:solidFill>
                  <a:srgbClr val="9E4A2B"/>
                </a:solidFill>
                <a:latin typeface="Trebuchet MS"/>
              </a:rPr>
              <a:t>·  </a:t>
            </a:r>
            <a:r>
              <a:rPr b="1" sz="1400">
                <a:solidFill>
                  <a:srgbClr val="1A1A1A"/>
                </a:solidFill>
                <a:latin typeface="Trebuchet MS"/>
              </a:rPr>
              <a:t>This is what we use</a:t>
            </a:r>
          </a:p>
        </p:txBody>
      </p:sp>
      <p:sp>
        <p:nvSpPr>
          <p:cNvPr id="6" name="Rounded Rectangle 5"/>
          <p:cNvSpPr/>
          <p:nvPr/>
        </p:nvSpPr>
        <p:spPr>
          <a:xfrm>
            <a:off x="6251295" y="1572768"/>
            <a:ext cx="5163159" cy="214884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Decoder-only  (GPT and relatives)</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Each token sees only the tokens </a:t>
            </a:r>
            <a:r>
              <a:rPr b="1" sz="1400">
                <a:solidFill>
                  <a:srgbClr val="1A1A1A"/>
                </a:solidFill>
                <a:latin typeface="Trebuchet MS"/>
              </a:rPr>
              <a:t>before</a:t>
            </a:r>
            <a:r>
              <a:rPr sz="1400" b="0">
                <a:solidFill>
                  <a:srgbClr val="1A1A1A"/>
                </a:solidFill>
                <a:latin typeface="Trebuchet MS"/>
              </a:rPr>
              <a:t> it, because the model predicts the next token</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Built for </a:t>
            </a:r>
            <a:r>
              <a:rPr i="1" b="0" sz="1400">
                <a:solidFill>
                  <a:srgbClr val="1A1A1A"/>
                </a:solidFill>
                <a:latin typeface="Trebuchet MS"/>
              </a:rPr>
              <a:t>generation</a:t>
            </a:r>
          </a:p>
        </p:txBody>
      </p:sp>
      <p:sp>
        <p:nvSpPr>
          <p:cNvPr id="7" name="TextBox 6"/>
          <p:cNvSpPr txBox="1"/>
          <p:nvPr/>
        </p:nvSpPr>
        <p:spPr>
          <a:xfrm>
            <a:off x="777240" y="3922776"/>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Our tasks are labeling tasks: tag each token, classify each pair. Not generation. An encoder is the natural fit.</a:t>
            </a:r>
          </a:p>
        </p:txBody>
      </p:sp>
      <p:sp>
        <p:nvSpPr>
          <p:cNvPr id="8" name="Rounded Rectangle 7"/>
          <p:cNvSpPr/>
          <p:nvPr/>
        </p:nvSpPr>
        <p:spPr>
          <a:xfrm>
            <a:off x="777240" y="4613656"/>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CORROBORATED BY THE NUMBERS</a:t>
            </a:r>
          </a:p>
          <a:p>
            <a:pPr>
              <a:lnSpc>
                <a:spcPct val="124000"/>
              </a:lnSpc>
            </a:pPr>
            <a:r>
              <a:rPr sz="1500" b="0">
                <a:solidFill>
                  <a:srgbClr val="1A1A1A"/>
                </a:solidFill>
                <a:latin typeface="Trebuchet MS"/>
              </a:rPr>
              <a:t>The paper's Discussion reports large generative models scoring 0.29 to 0.74 F1 on Arabic NER in published results, well below a fine-tuned BERT. Bigger is not automatically better when the task shape disagrees with the model shape.</a:t>
            </a:r>
          </a:p>
        </p:txBody>
      </p:sp>
      <p:sp>
        <p:nvSpPr>
          <p:cNvPr id="9" name="Rectangle 8"/>
          <p:cNvSpPr/>
          <p:nvPr/>
        </p:nvSpPr>
        <p:spPr>
          <a:xfrm>
            <a:off x="777240" y="4613656"/>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 · The problem
and the foundation</a:t>
            </a:r>
          </a:p>
        </p:txBody>
      </p:sp>
      <p:sp>
        <p:nvSpPr>
          <p:cNvPr id="11" name="TextBox 10"/>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2 · HOW THE MODEL GETS GOOD</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Pretraining, then fine-tuning</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5163159" cy="274320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1. Pretraining</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Train on enormous unlabeled text with a </a:t>
            </a:r>
            <a:r>
              <a:rPr b="1" sz="1400">
                <a:solidFill>
                  <a:srgbClr val="1A1A1A"/>
                </a:solidFill>
                <a:latin typeface="Trebuchet MS"/>
              </a:rPr>
              <a:t>self-supervised</a:t>
            </a:r>
            <a:r>
              <a:rPr sz="1400" b="0">
                <a:solidFill>
                  <a:srgbClr val="1A1A1A"/>
                </a:solidFill>
                <a:latin typeface="Trebuchet MS"/>
              </a:rPr>
              <a:t> objective</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BERT's objective is </a:t>
            </a:r>
            <a:r>
              <a:rPr i="1" b="0" sz="1400">
                <a:solidFill>
                  <a:srgbClr val="1A1A1A"/>
                </a:solidFill>
                <a:latin typeface="Trebuchet MS"/>
              </a:rPr>
              <a:t>masked language modeling</a:t>
            </a:r>
            <a:r>
              <a:rPr sz="1400" b="0">
                <a:solidFill>
                  <a:srgbClr val="1A1A1A"/>
                </a:solidFill>
                <a:latin typeface="Trebuchet MS"/>
              </a:rPr>
              <a:t>: hide 15% of tokens, predict them from context</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Teaches syntax, semantics, and world knowledge with </a:t>
            </a:r>
            <a:r>
              <a:rPr b="1" sz="1400">
                <a:solidFill>
                  <a:srgbClr val="1A1A1A"/>
                </a:solidFill>
                <a:latin typeface="Trebuchet MS"/>
              </a:rPr>
              <a:t>no human labeling at all</a:t>
            </a:r>
          </a:p>
        </p:txBody>
      </p:sp>
      <p:sp>
        <p:nvSpPr>
          <p:cNvPr id="6" name="Rounded Rectangle 5"/>
          <p:cNvSpPr/>
          <p:nvPr/>
        </p:nvSpPr>
        <p:spPr>
          <a:xfrm>
            <a:off x="6251295" y="1572768"/>
            <a:ext cx="5163159" cy="274320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2. Fine-tuning</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Attach a small task-specific layer (a </a:t>
            </a:r>
            <a:r>
              <a:rPr b="1" sz="1400">
                <a:solidFill>
                  <a:srgbClr val="1A1A1A"/>
                </a:solidFill>
                <a:latin typeface="Trebuchet MS"/>
              </a:rPr>
              <a:t>head</a:t>
            </a:r>
            <a:r>
              <a:rPr sz="1400" b="0">
                <a:solidFill>
                  <a:srgbClr val="1A1A1A"/>
                </a:solidFill>
                <a:latin typeface="Trebuchet MS"/>
              </a:rPr>
              <a:t>) on top</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Continue training on your labeled data</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The encoder's weights update too, but </a:t>
            </a:r>
            <a:r>
              <a:rPr b="1" sz="1400">
                <a:solidFill>
                  <a:srgbClr val="1A1A1A"/>
                </a:solidFill>
                <a:latin typeface="Trebuchet MS"/>
              </a:rPr>
              <a:t>gently</a:t>
            </a:r>
          </a:p>
        </p:txBody>
      </p:sp>
      <p:sp>
        <p:nvSpPr>
          <p:cNvPr id="7" name="Rounded Rectangle 6"/>
          <p:cNvSpPr/>
          <p:nvPr/>
        </p:nvSpPr>
        <p:spPr>
          <a:xfrm>
            <a:off x="777240" y="4517136"/>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WHY OUR LEARNING RATES LOOK TINY</a:t>
            </a:r>
          </a:p>
          <a:p>
            <a:pPr>
              <a:lnSpc>
                <a:spcPct val="124000"/>
              </a:lnSpc>
            </a:pPr>
            <a:r>
              <a:rPr sz="1500" b="0">
                <a:solidFill>
                  <a:srgbClr val="1A1A1A"/>
                </a:solidFill>
                <a:latin typeface="Trebuchet MS"/>
              </a:rPr>
              <a:t>We train at 1e-5 and 2e-5, not the 1e-3 typical of training from scratch. We are nudging an already-competent model, not teaching it language from zero. Too large a rate erases what pretraining bought.</a:t>
            </a:r>
          </a:p>
        </p:txBody>
      </p:sp>
      <p:sp>
        <p:nvSpPr>
          <p:cNvPr id="8" name="Rectangle 7"/>
          <p:cNvSpPr/>
          <p:nvPr/>
        </p:nvSpPr>
        <p:spPr>
          <a:xfrm>
            <a:off x="777240" y="4517136"/>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 · The problem
and the foundation</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2 · CHOOSING THE ENCODER</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Why AraBERTv02, specifically</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We use </a:t>
            </a:r>
            <a:r>
              <a:rPr sz="1440" b="0">
                <a:solidFill>
                  <a:srgbClr val="1F5673"/>
                </a:solidFill>
                <a:latin typeface="Consolas"/>
              </a:rPr>
              <a:t>aubmindlab/bert-base-arabertv02</a:t>
            </a:r>
            <a:r>
              <a:rPr sz="1600" b="0">
                <a:solidFill>
                  <a:srgbClr val="6B6B6B"/>
                </a:solidFill>
                <a:latin typeface="Trebuchet MS"/>
              </a:rPr>
              <a:t> for </a:t>
            </a:r>
            <a:r>
              <a:rPr b="1" sz="1600">
                <a:solidFill>
                  <a:srgbClr val="6B6B6B"/>
                </a:solidFill>
                <a:latin typeface="Trebuchet MS"/>
              </a:rPr>
              <a:t>both</a:t>
            </a:r>
            <a:r>
              <a:rPr sz="1600" b="0">
                <a:solidFill>
                  <a:srgbClr val="6B6B6B"/>
                </a:solidFill>
                <a:latin typeface="Trebuchet MS"/>
              </a:rPr>
              <a:t> subtasks. Four reasons:</a:t>
            </a:r>
          </a:p>
        </p:txBody>
      </p:sp>
      <p:sp>
        <p:nvSpPr>
          <p:cNvPr id="6" name="TextBox 5"/>
          <p:cNvSpPr txBox="1"/>
          <p:nvPr/>
        </p:nvSpPr>
        <p:spPr>
          <a:xfrm>
            <a:off x="777240" y="2009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Arabic-specific.</a:t>
            </a:r>
            <a:r>
              <a:rPr sz="1700" b="0">
                <a:solidFill>
                  <a:srgbClr val="1A1A1A"/>
                </a:solidFill>
                <a:latin typeface="Trebuchet MS"/>
              </a:rPr>
              <a:t> Multilingual models spread their capacity across 100+ languages; a monolingual model spends all of it on Arabic</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MSA-focused.</a:t>
            </a:r>
            <a:r>
              <a:rPr sz="1700" b="0">
                <a:solidFill>
                  <a:srgbClr val="1A1A1A"/>
                </a:solidFill>
                <a:latin typeface="Trebuchet MS"/>
              </a:rPr>
              <a:t> Our test set is Modern Standard Arabic (organizer-confirmed). MARBERT, the alternative, is trained on tweets: right for dialect, wrong here</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Sensitivity matters.</a:t>
            </a:r>
            <a:r>
              <a:rPr sz="1700" b="0">
                <a:solidFill>
                  <a:srgbClr val="1A1A1A"/>
                </a:solidFill>
                <a:latin typeface="Trebuchet MS"/>
              </a:rPr>
              <a:t> Published Wojood-family results show roughly a </a:t>
            </a:r>
            <a:r>
              <a:rPr b="1" sz="1700">
                <a:solidFill>
                  <a:srgbClr val="1A1A1A"/>
                </a:solidFill>
                <a:latin typeface="Trebuchet MS"/>
              </a:rPr>
              <a:t>14.5 F1 spread</a:t>
            </a:r>
            <a:r>
              <a:rPr sz="1700" b="0">
                <a:solidFill>
                  <a:srgbClr val="1A1A1A"/>
                </a:solidFill>
                <a:latin typeface="Trebuchet MS"/>
              </a:rPr>
              <a:t> across encoder choices</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Comparability.</a:t>
            </a:r>
            <a:r>
              <a:rPr sz="1700" b="0">
                <a:solidFill>
                  <a:srgbClr val="1A1A1A"/>
                </a:solidFill>
                <a:latin typeface="Trebuchet MS"/>
              </a:rPr>
              <a:t> The reference Wojood systems are AraBERT-based, so our numbers sit beside published ones</a:t>
            </a:r>
          </a:p>
        </p:txBody>
      </p:sp>
      <p:sp>
        <p:nvSpPr>
          <p:cNvPr id="7" name="Rounded Rectangle 6"/>
          <p:cNvSpPr/>
          <p:nvPr/>
        </p:nvSpPr>
        <p:spPr>
          <a:xfrm>
            <a:off x="777240" y="4702048"/>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READ THE THIRD REASON AGAIN</a:t>
            </a:r>
          </a:p>
          <a:p>
            <a:pPr>
              <a:lnSpc>
                <a:spcPct val="124000"/>
              </a:lnSpc>
            </a:pPr>
            <a:r>
              <a:rPr sz="1500" b="0">
                <a:solidFill>
                  <a:srgbClr val="1A1A1A"/>
                </a:solidFill>
                <a:latin typeface="Trebuchet MS"/>
              </a:rPr>
              <a:t>Encoder choice is one of the highest-leverage decisions in Arabic NER, which is exactly why we followed the consensus rather than experimenting. Spend your novelty budget where the field is uncertain, not where it has already converged.</a:t>
            </a:r>
          </a:p>
        </p:txBody>
      </p:sp>
      <p:sp>
        <p:nvSpPr>
          <p:cNvPr id="8" name="Rectangle 7"/>
          <p:cNvSpPr/>
          <p:nvPr/>
        </p:nvSpPr>
        <p:spPr>
          <a:xfrm>
            <a:off x="777240" y="4702048"/>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 · The problem
and the foundation</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2 · MORPHOLOGY</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A note on Arabic: sometimes the best preprocessing is none</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Arabic is morphologically rich. A single written word can bundle a preposition, an article, a stem, and a possessive suffix. Some Arabic NLP pipelines pre-segment words into morphemes (Farasa segmentation).</a:t>
            </a:r>
          </a:p>
        </p:txBody>
      </p:sp>
      <p:sp>
        <p:nvSpPr>
          <p:cNvPr id="6" name="TextBox 5"/>
          <p:cNvSpPr txBox="1"/>
          <p:nvPr/>
        </p:nvSpPr>
        <p:spPr>
          <a:xfrm>
            <a:off x="777240" y="2263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We deliberately do </a:t>
            </a:r>
            <a:r>
              <a:rPr b="1" sz="1700">
                <a:solidFill>
                  <a:srgbClr val="1A1A1A"/>
                </a:solidFill>
                <a:latin typeface="Trebuchet MS"/>
              </a:rPr>
              <a:t>not</a:t>
            </a:r>
            <a:r>
              <a:rPr sz="1700" b="0">
                <a:solidFill>
                  <a:srgbClr val="1A1A1A"/>
                </a:solidFill>
                <a:latin typeface="Trebuchet MS"/>
              </a:rPr>
              <a:t> segment</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Our literature survey found aggressive preprocessing cost </a:t>
            </a:r>
            <a:r>
              <a:rPr b="1" sz="1700">
                <a:solidFill>
                  <a:srgbClr val="1A1A1A"/>
                </a:solidFill>
                <a:latin typeface="Trebuchet MS"/>
              </a:rPr>
              <a:t>7.2 F1</a:t>
            </a:r>
            <a:r>
              <a:rPr sz="1700" b="0">
                <a:solidFill>
                  <a:srgbClr val="1A1A1A"/>
                </a:solidFill>
                <a:latin typeface="Trebuchet MS"/>
              </a:rPr>
              <a:t> in comparable settings</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AraBERTv02's own tokenizer already handles subword splitting, so the segmenter is solving a problem the model has already solved</a:t>
            </a:r>
          </a:p>
        </p:txBody>
      </p:sp>
      <p:sp>
        <p:nvSpPr>
          <p:cNvPr id="7" name="Rounded Rectangle 6"/>
          <p:cNvSpPr/>
          <p:nvPr/>
        </p:nvSpPr>
        <p:spPr>
          <a:xfrm>
            <a:off x="777240" y="3788156"/>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SOMETIMES THE BEST PREPROCESSING IS NONE</a:t>
            </a:r>
          </a:p>
          <a:p>
            <a:pPr>
              <a:lnSpc>
                <a:spcPct val="124000"/>
              </a:lnSpc>
            </a:pPr>
            <a:r>
              <a:rPr sz="1500" b="0">
                <a:solidFill>
                  <a:srgbClr val="1A1A1A"/>
                </a:solidFill>
                <a:latin typeface="Trebuchet MS"/>
              </a:rPr>
              <a:t>The instinct to normalise harder is strong, and here it is wrong: the pretrained model already saw unsegmented text, so segmenting at fine-tuning time moves your input away from the distribution the encoder was trained on.</a:t>
            </a:r>
          </a:p>
        </p:txBody>
      </p:sp>
      <p:sp>
        <p:nvSpPr>
          <p:cNvPr id="8" name="Rectangle 7"/>
          <p:cNvSpPr/>
          <p:nvPr/>
        </p:nvSpPr>
        <p:spPr>
          <a:xfrm>
            <a:off x="777240" y="3788156"/>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 · The problem
and the foundation</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3 · TOKENIZATION</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Words are not tokens</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BERT does not operate on words. It uses a fixed vocabulary of roughly 30k </a:t>
            </a:r>
            <a:r>
              <a:rPr b="1" sz="1600">
                <a:solidFill>
                  <a:srgbClr val="6B6B6B"/>
                </a:solidFill>
                <a:latin typeface="Trebuchet MS"/>
              </a:rPr>
              <a:t>subword</a:t>
            </a:r>
            <a:r>
              <a:rPr sz="1600" b="0">
                <a:solidFill>
                  <a:srgbClr val="6B6B6B"/>
                </a:solidFill>
                <a:latin typeface="Trebuchet MS"/>
              </a:rPr>
              <a:t> units, and splits unknown or rare words into known pieces.</a:t>
            </a:r>
          </a:p>
        </p:txBody>
      </p:sp>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 · The problem
and the foundation</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17</a:t>
            </a:r>
          </a:p>
        </p:txBody>
      </p:sp>
      <p:sp>
        <p:nvSpPr>
          <p:cNvPr id="8" name="Rounded Rectangle 7"/>
          <p:cNvSpPr/>
          <p:nvPr/>
        </p:nvSpPr>
        <p:spPr>
          <a:xfrm>
            <a:off x="777240" y="2468880"/>
            <a:ext cx="10634472" cy="123444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9" name="TextBox 8"/>
          <p:cNvSpPr txBox="1"/>
          <p:nvPr/>
        </p:nvSpPr>
        <p:spPr>
          <a:xfrm>
            <a:off x="1051560" y="2697480"/>
            <a:ext cx="1463040" cy="292608"/>
          </a:xfrm>
          <a:prstGeom prst="rect">
            <a:avLst/>
          </a:prstGeom>
          <a:noFill/>
        </p:spPr>
        <p:txBody>
          <a:bodyPr wrap="square" lIns="0" rIns="0" tIns="0" bIns="0">
            <a:spAutoFit/>
          </a:bodyPr>
          <a:lstStyle/>
          <a:p>
            <a:pPr algn="l">
              <a:lnSpc>
                <a:spcPct val="115000"/>
              </a:lnSpc>
            </a:pPr>
            <a:r>
              <a:rPr sz="1400" b="0">
                <a:solidFill>
                  <a:srgbClr val="6B6B6B"/>
                </a:solidFill>
                <a:latin typeface="Trebuchet MS"/>
              </a:rPr>
              <a:t>word</a:t>
            </a:r>
          </a:p>
        </p:txBody>
      </p:sp>
      <p:sp>
        <p:nvSpPr>
          <p:cNvPr id="10" name="TextBox 9"/>
          <p:cNvSpPr txBox="1"/>
          <p:nvPr/>
        </p:nvSpPr>
        <p:spPr>
          <a:xfrm>
            <a:off x="1051560" y="3154680"/>
            <a:ext cx="1463040" cy="292608"/>
          </a:xfrm>
          <a:prstGeom prst="rect">
            <a:avLst/>
          </a:prstGeom>
          <a:noFill/>
        </p:spPr>
        <p:txBody>
          <a:bodyPr wrap="square" lIns="0" rIns="0" tIns="0" bIns="0">
            <a:spAutoFit/>
          </a:bodyPr>
          <a:lstStyle/>
          <a:p>
            <a:pPr algn="l">
              <a:lnSpc>
                <a:spcPct val="115000"/>
              </a:lnSpc>
            </a:pPr>
            <a:r>
              <a:rPr sz="1400" b="0">
                <a:solidFill>
                  <a:srgbClr val="6B6B6B"/>
                </a:solidFill>
                <a:latin typeface="Trebuchet MS"/>
              </a:rPr>
              <a:t>subwords</a:t>
            </a:r>
          </a:p>
        </p:txBody>
      </p:sp>
      <p:sp>
        <p:nvSpPr>
          <p:cNvPr id="11" name="TextBox 10"/>
          <p:cNvSpPr txBox="1"/>
          <p:nvPr/>
        </p:nvSpPr>
        <p:spPr>
          <a:xfrm>
            <a:off x="2651760" y="2633472"/>
            <a:ext cx="2743200" cy="292608"/>
          </a:xfrm>
          <a:prstGeom prst="rect">
            <a:avLst/>
          </a:prstGeom>
          <a:noFill/>
        </p:spPr>
        <p:txBody>
          <a:bodyPr wrap="square" lIns="0" rIns="0" tIns="0" bIns="0">
            <a:spAutoFit/>
          </a:bodyPr>
          <a:lstStyle/>
          <a:p>
            <a:pPr algn="l">
              <a:lnSpc>
                <a:spcPct val="115000"/>
              </a:lnSpc>
            </a:pPr>
            <a:r>
              <a:rPr sz="2000" b="0">
                <a:solidFill>
                  <a:srgbClr val="1A1A1A"/>
                </a:solidFill>
                <a:latin typeface="Arial"/>
              </a:rPr>
              <a:t>الجامعات</a:t>
            </a:r>
          </a:p>
        </p:txBody>
      </p:sp>
      <p:sp>
        <p:nvSpPr>
          <p:cNvPr id="12" name="TextBox 11"/>
          <p:cNvSpPr txBox="1"/>
          <p:nvPr/>
        </p:nvSpPr>
        <p:spPr>
          <a:xfrm>
            <a:off x="5669280" y="2670048"/>
            <a:ext cx="4572000" cy="292608"/>
          </a:xfrm>
          <a:prstGeom prst="rect">
            <a:avLst/>
          </a:prstGeom>
          <a:noFill/>
        </p:spPr>
        <p:txBody>
          <a:bodyPr wrap="square" lIns="0" rIns="0" tIns="0" bIns="0">
            <a:spAutoFit/>
          </a:bodyPr>
          <a:lstStyle/>
          <a:p>
            <a:pPr algn="l">
              <a:lnSpc>
                <a:spcPct val="115000"/>
              </a:lnSpc>
            </a:pPr>
            <a:r>
              <a:rPr sz="1500" b="0">
                <a:solidFill>
                  <a:srgbClr val="6B6B6B"/>
                </a:solidFill>
                <a:latin typeface="Trebuchet MS"/>
              </a:rPr>
              <a:t>“the universities”</a:t>
            </a:r>
          </a:p>
        </p:txBody>
      </p:sp>
      <p:sp>
        <p:nvSpPr>
          <p:cNvPr id="13" name="TextBox 12"/>
          <p:cNvSpPr txBox="1"/>
          <p:nvPr/>
        </p:nvSpPr>
        <p:spPr>
          <a:xfrm>
            <a:off x="2651760" y="3090672"/>
            <a:ext cx="3108960" cy="292608"/>
          </a:xfrm>
          <a:prstGeom prst="rect">
            <a:avLst/>
          </a:prstGeom>
          <a:noFill/>
        </p:spPr>
        <p:txBody>
          <a:bodyPr wrap="square" lIns="0" rIns="0" tIns="0" bIns="0">
            <a:spAutoFit/>
          </a:bodyPr>
          <a:lstStyle/>
          <a:p>
            <a:pPr algn="l">
              <a:lnSpc>
                <a:spcPct val="115000"/>
              </a:lnSpc>
            </a:pPr>
            <a:r>
              <a:rPr sz="2000" b="0">
                <a:solidFill>
                  <a:srgbClr val="1F5673"/>
                </a:solidFill>
                <a:latin typeface="Arial"/>
              </a:rPr>
              <a:t>الجامع  +  ##ات</a:t>
            </a:r>
          </a:p>
        </p:txBody>
      </p:sp>
      <p:sp>
        <p:nvSpPr>
          <p:cNvPr id="14" name="TextBox 13"/>
          <p:cNvSpPr txBox="1"/>
          <p:nvPr/>
        </p:nvSpPr>
        <p:spPr>
          <a:xfrm>
            <a:off x="777240" y="3977639"/>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The </a:t>
            </a:r>
            <a:r>
              <a:rPr sz="1530" b="0">
                <a:solidFill>
                  <a:srgbClr val="1F5673"/>
                </a:solidFill>
                <a:latin typeface="Consolas"/>
              </a:rPr>
              <a:t>##</a:t>
            </a:r>
            <a:r>
              <a:rPr sz="1700" b="0">
                <a:solidFill>
                  <a:srgbClr val="1A1A1A"/>
                </a:solidFill>
                <a:latin typeface="Trebuchet MS"/>
              </a:rPr>
              <a:t> prefix means “this continues the previous token”</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This solves the </a:t>
            </a:r>
            <a:r>
              <a:rPr b="1" sz="1700">
                <a:solidFill>
                  <a:srgbClr val="1A1A1A"/>
                </a:solidFill>
                <a:latin typeface="Trebuchet MS"/>
              </a:rPr>
              <a:t>out-of-vocabulary</a:t>
            </a:r>
            <a:r>
              <a:rPr sz="1700" b="0">
                <a:solidFill>
                  <a:srgbClr val="1A1A1A"/>
                </a:solidFill>
                <a:latin typeface="Trebuchet MS"/>
              </a:rPr>
              <a:t> problem: any word can be built from pieces, and related words share pieces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3 · TOKENIZATION</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The alignment problem</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Our task labels </a:t>
            </a:r>
            <a:r>
              <a:rPr b="1" sz="1600">
                <a:solidFill>
                  <a:srgbClr val="6B6B6B"/>
                </a:solidFill>
                <a:latin typeface="Trebuchet MS"/>
              </a:rPr>
              <a:t>words</a:t>
            </a:r>
            <a:r>
              <a:rPr sz="1600" b="0">
                <a:solidFill>
                  <a:srgbClr val="6B6B6B"/>
                </a:solidFill>
                <a:latin typeface="Trebuchet MS"/>
              </a:rPr>
              <a:t>. The model sees </a:t>
            </a:r>
            <a:r>
              <a:rPr b="1" sz="1600">
                <a:solidFill>
                  <a:srgbClr val="6B6B6B"/>
                </a:solidFill>
                <a:latin typeface="Trebuchet MS"/>
              </a:rPr>
              <a:t>subwords</a:t>
            </a:r>
            <a:r>
              <a:rPr sz="1600" b="0">
                <a:solidFill>
                  <a:srgbClr val="6B6B6B"/>
                </a:solidFill>
                <a:latin typeface="Trebuchet MS"/>
              </a:rPr>
              <a:t>. If a word splits into three subwords, which one gets the label?</a:t>
            </a:r>
          </a:p>
        </p:txBody>
      </p:sp>
      <p:sp>
        <p:nvSpPr>
          <p:cNvPr id="6" name="TextBox 5"/>
          <p:cNvSpPr txBox="1"/>
          <p:nvPr/>
        </p:nvSpPr>
        <p:spPr>
          <a:xfrm>
            <a:off x="777240" y="2263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Our convention (</a:t>
            </a:r>
            <a:r>
              <a:rPr sz="1530" b="0">
                <a:solidFill>
                  <a:srgbClr val="1F5673"/>
                </a:solidFill>
                <a:latin typeface="Consolas"/>
              </a:rPr>
              <a:t>ner_data.py</a:t>
            </a:r>
            <a:r>
              <a:rPr sz="1700" b="0">
                <a:solidFill>
                  <a:srgbClr val="1A1A1A"/>
                </a:solidFill>
                <a:latin typeface="Trebuchet MS"/>
              </a:rPr>
              <a:t>): </a:t>
            </a:r>
            <a:r>
              <a:rPr b="1" sz="1700">
                <a:solidFill>
                  <a:srgbClr val="1A1A1A"/>
                </a:solidFill>
                <a:latin typeface="Trebuchet MS"/>
              </a:rPr>
              <a:t>label the first subword of each word, and mark the rest with -100</a:t>
            </a:r>
            <a:r>
              <a:rPr sz="1700" b="0">
                <a:solidFill>
                  <a:srgbClr val="1A1A1A"/>
                </a:solidFill>
                <a:latin typeface="Trebuchet MS"/>
              </a:rPr>
              <a:t>, PyTorch's “ignore this position” sentinel</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At prediction time we read the tag off the first subword and assign it to the whole word</a:t>
            </a:r>
          </a:p>
        </p:txBody>
      </p:sp>
      <p:graphicFrame>
        <p:nvGraphicFramePr>
          <p:cNvPr id="7" name="Table 6"/>
          <p:cNvGraphicFramePr>
            <a:graphicFrameLocks noGrp="1"/>
          </p:cNvGraphicFramePr>
          <p:nvPr/>
        </p:nvGraphicFramePr>
        <p:xfrm>
          <a:off x="777240" y="3410458"/>
          <a:ext cx="10637214" cy="841248"/>
        </p:xfrm>
        <a:graphic>
          <a:graphicData uri="http://schemas.openxmlformats.org/drawingml/2006/table">
            <a:tbl>
              <a:tblPr firstRow="0" bandRow="0">
                <a:tableStyleId>{5C22544A-7EE6-4342-B048-85BDC9FD1C3A}</a:tableStyleId>
              </a:tblPr>
              <a:tblGrid>
                <a:gridCol w="1268658"/>
                <a:gridCol w="2342139"/>
                <a:gridCol w="2342139"/>
                <a:gridCol w="2342139"/>
                <a:gridCol w="2342139"/>
              </a:tblGrid>
              <a:tr h="420624">
                <a:tc>
                  <a:txBody>
                    <a:bodyPr wrap="square"/>
                    <a:lstStyle/>
                    <a:p>
                      <a:pPr>
                        <a:lnSpc>
                          <a:spcPct val="110000"/>
                        </a:lnSpc>
                      </a:pPr>
                    </a:p>
                  </a:txBody>
                  <a:tcPr marL="118872" marR="91440" marT="27432" marB="27432" anchor="ctr">
                    <a:solidFill>
                      <a:srgbClr val="1F5673"/>
                    </a:solidFill>
                  </a:tcPr>
                </a:tc>
                <a:tc>
                  <a:txBody>
                    <a:bodyPr wrap="square"/>
                    <a:lstStyle/>
                    <a:p>
                      <a:pPr algn="ctr" rtl="1">
                        <a:lnSpc>
                          <a:spcPct val="110000"/>
                        </a:lnSpc>
                      </a:pPr>
                      <a:r>
                        <a:rPr sz="1700">
                          <a:solidFill>
                            <a:srgbClr val="FFFFFF"/>
                          </a:solidFill>
                          <a:latin typeface="Arial"/>
                        </a:rPr>
                        <a:t>الجامع</a:t>
                      </a:r>
                    </a:p>
                  </a:txBody>
                  <a:tcPr marL="118872" marR="91440" marT="27432" marB="27432" anchor="ctr">
                    <a:solidFill>
                      <a:srgbClr val="1F5673"/>
                    </a:solidFill>
                  </a:tcPr>
                </a:tc>
                <a:tc>
                  <a:txBody>
                    <a:bodyPr wrap="square"/>
                    <a:lstStyle/>
                    <a:p>
                      <a:pPr algn="ctr" rtl="1">
                        <a:lnSpc>
                          <a:spcPct val="110000"/>
                        </a:lnSpc>
                      </a:pPr>
                      <a:r>
                        <a:rPr sz="1700">
                          <a:solidFill>
                            <a:srgbClr val="FFFFFF"/>
                          </a:solidFill>
                          <a:latin typeface="Arial"/>
                        </a:rPr>
                        <a:t>##ات</a:t>
                      </a:r>
                    </a:p>
                  </a:txBody>
                  <a:tcPr marL="118872" marR="91440" marT="27432" marB="27432" anchor="ctr">
                    <a:solidFill>
                      <a:srgbClr val="1F5673"/>
                    </a:solidFill>
                  </a:tcPr>
                </a:tc>
                <a:tc>
                  <a:txBody>
                    <a:bodyPr wrap="square"/>
                    <a:lstStyle/>
                    <a:p>
                      <a:pPr algn="ctr" rtl="1">
                        <a:lnSpc>
                          <a:spcPct val="110000"/>
                        </a:lnSpc>
                      </a:pPr>
                      <a:r>
                        <a:rPr sz="1700">
                          <a:solidFill>
                            <a:srgbClr val="FFFFFF"/>
                          </a:solidFill>
                          <a:latin typeface="Arial"/>
                        </a:rPr>
                        <a:t>في</a:t>
                      </a:r>
                    </a:p>
                  </a:txBody>
                  <a:tcPr marL="118872" marR="91440" marT="27432" marB="27432" anchor="ctr">
                    <a:solidFill>
                      <a:srgbClr val="1F5673"/>
                    </a:solidFill>
                  </a:tcPr>
                </a:tc>
                <a:tc>
                  <a:txBody>
                    <a:bodyPr wrap="square"/>
                    <a:lstStyle/>
                    <a:p>
                      <a:pPr algn="ctr" rtl="1">
                        <a:lnSpc>
                          <a:spcPct val="110000"/>
                        </a:lnSpc>
                      </a:pPr>
                      <a:r>
                        <a:rPr sz="1700">
                          <a:solidFill>
                            <a:srgbClr val="FFFFFF"/>
                          </a:solidFill>
                          <a:latin typeface="Arial"/>
                        </a:rPr>
                        <a:t>فلسطين</a:t>
                      </a:r>
                    </a:p>
                  </a:txBody>
                  <a:tcPr marL="118872" marR="91440" marT="27432" marB="27432" anchor="ctr">
                    <a:solidFill>
                      <a:srgbClr val="1F5673"/>
                    </a:solidFill>
                  </a:tcPr>
                </a:tc>
              </a:tr>
              <a:tr h="420624">
                <a:tc>
                  <a:txBody>
                    <a:bodyPr wrap="square"/>
                    <a:lstStyle/>
                    <a:p>
                      <a:pPr>
                        <a:lnSpc>
                          <a:spcPct val="110000"/>
                        </a:lnSpc>
                      </a:pPr>
                      <a:r>
                        <a:rPr sz="1500" b="0">
                          <a:solidFill>
                            <a:srgbClr val="1A1A1A"/>
                          </a:solidFill>
                          <a:latin typeface="Trebuchet MS"/>
                        </a:rPr>
                        <a:t>label</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B-ORG</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-100</a:t>
                      </a:r>
                    </a:p>
                  </a:txBody>
                  <a:tcPr marL="118872" marR="91440" marT="27432" marB="27432" anchor="ctr">
                    <a:solidFill>
                      <a:srgbClr val="FBE9C8"/>
                    </a:solidFill>
                  </a:tcPr>
                </a:tc>
                <a:tc>
                  <a:txBody>
                    <a:bodyPr wrap="square"/>
                    <a:lstStyle/>
                    <a:p>
                      <a:pPr algn="ctr">
                        <a:lnSpc>
                          <a:spcPct val="110000"/>
                        </a:lnSpc>
                      </a:pPr>
                      <a:r>
                        <a:rPr sz="1500" b="0">
                          <a:solidFill>
                            <a:srgbClr val="1A1A1A"/>
                          </a:solidFill>
                          <a:latin typeface="Trebuchet MS"/>
                        </a:rPr>
                        <a:t>O</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B-GPE</a:t>
                      </a:r>
                    </a:p>
                  </a:txBody>
                  <a:tcPr marL="118872" marR="91440" marT="27432" marB="27432" anchor="ctr">
                    <a:solidFill>
                      <a:srgbClr val="FDFCF9"/>
                    </a:solidFill>
                  </a:tcPr>
                </a:tc>
              </a:tr>
            </a:tbl>
          </a:graphicData>
        </a:graphic>
      </p:graphicFrame>
      <p:sp>
        <p:nvSpPr>
          <p:cNvPr id="8" name="TextBox 7"/>
          <p:cNvSpPr txBox="1"/>
          <p:nvPr/>
        </p:nvSpPr>
        <p:spPr>
          <a:xfrm>
            <a:off x="777240" y="4452874"/>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The -100 column is ignored in the loss </a:t>
            </a:r>
            <a:r>
              <a:rPr b="1" sz="1600">
                <a:solidFill>
                  <a:srgbClr val="6B6B6B"/>
                </a:solidFill>
                <a:latin typeface="Trebuchet MS"/>
              </a:rPr>
              <a:t>and</a:t>
            </a:r>
            <a:r>
              <a:rPr sz="1600" b="0">
                <a:solidFill>
                  <a:srgbClr val="6B6B6B"/>
                </a:solidFill>
                <a:latin typeface="Trebuchet MS"/>
              </a:rPr>
              <a:t> ignored at prediction time. That keeps a clean one-tag-per-word contract, which is exactly what the submission format requires.</a:t>
            </a: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 · The problem
and the foundation</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3 · LONG DOCUMENTS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The 512-token wall, and chunking</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BERT's maximum sequence length is a hard </a:t>
            </a:r>
            <a:r>
              <a:rPr b="1" sz="1600">
                <a:solidFill>
                  <a:srgbClr val="6B6B6B"/>
                </a:solidFill>
                <a:latin typeface="Trebuchet MS"/>
              </a:rPr>
              <a:t>architectural</a:t>
            </a:r>
            <a:r>
              <a:rPr sz="1600" b="0">
                <a:solidFill>
                  <a:srgbClr val="6B6B6B"/>
                </a:solidFill>
                <a:latin typeface="Trebuchet MS"/>
              </a:rPr>
              <a:t> limit: positional embeddings only exist for 512 positions. Real documents are longer.</a:t>
            </a:r>
          </a:p>
        </p:txBody>
      </p:sp>
      <p:sp>
        <p:nvSpPr>
          <p:cNvPr id="6" name="TextBox 5"/>
          <p:cNvSpPr txBox="1"/>
          <p:nvPr/>
        </p:nvSpPr>
        <p:spPr>
          <a:xfrm>
            <a:off x="777240" y="2263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Split greedily at </a:t>
            </a:r>
            <a:r>
              <a:rPr b="1" sz="1700">
                <a:solidFill>
                  <a:srgbClr val="1A1A1A"/>
                </a:solidFill>
                <a:latin typeface="Trebuchet MS"/>
              </a:rPr>
              <a:t>word boundaries</a:t>
            </a:r>
            <a:r>
              <a:rPr sz="1700" b="0">
                <a:solidFill>
                  <a:srgbClr val="1A1A1A"/>
                </a:solidFill>
                <a:latin typeface="Trebuchet MS"/>
              </a:rPr>
              <a:t>, budget 510 subwords (leaving room for </a:t>
            </a:r>
            <a:r>
              <a:rPr sz="1530" b="0">
                <a:solidFill>
                  <a:srgbClr val="1F5673"/>
                </a:solidFill>
                <a:latin typeface="Consolas"/>
              </a:rPr>
              <a:t>[CLS]</a:t>
            </a:r>
            <a:r>
              <a:rPr sz="1700" b="0">
                <a:solidFill>
                  <a:srgbClr val="1A1A1A"/>
                </a:solidFill>
                <a:latin typeface="Trebuchet MS"/>
              </a:rPr>
              <a:t> and </a:t>
            </a:r>
            <a:r>
              <a:rPr sz="1530" b="0">
                <a:solidFill>
                  <a:srgbClr val="1F5673"/>
                </a:solidFill>
                <a:latin typeface="Consolas"/>
              </a:rPr>
              <a:t>[SEP]</a:t>
            </a:r>
            <a:r>
              <a:rPr sz="1700" b="0">
                <a:solidFill>
                  <a:srgbClr val="1A1A1A"/>
                </a:solidFill>
                <a:latin typeface="Trebuchet MS"/>
              </a:rPr>
              <a:t>)</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No overlap</a:t>
            </a:r>
            <a:r>
              <a:rPr sz="1700" b="0">
                <a:solidFill>
                  <a:srgbClr val="1A1A1A"/>
                </a:solidFill>
                <a:latin typeface="Trebuchet MS"/>
              </a:rPr>
              <a:t> between chunks</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Reassemble predictions by (sentence, word offset) afterwards</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Implementation: </a:t>
            </a:r>
            <a:r>
              <a:rPr sz="1530" b="0">
                <a:solidFill>
                  <a:srgbClr val="1F5673"/>
                </a:solidFill>
                <a:latin typeface="Consolas"/>
              </a:rPr>
              <a:t>chunking.py</a:t>
            </a:r>
          </a:p>
        </p:txBody>
      </p:sp>
      <p:sp>
        <p:nvSpPr>
          <p:cNvPr id="7" name="Rounded Rectangle 6"/>
          <p:cNvSpPr/>
          <p:nvPr/>
        </p:nvSpPr>
        <p:spPr>
          <a:xfrm>
            <a:off x="777240" y="3902456"/>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THE TRADEOFF WE ACCEPTED</a:t>
            </a:r>
          </a:p>
          <a:p>
            <a:pPr>
              <a:lnSpc>
                <a:spcPct val="124000"/>
              </a:lnSpc>
            </a:pPr>
            <a:r>
              <a:rPr sz="1500" b="0">
                <a:solidFill>
                  <a:srgbClr val="1A1A1A"/>
                </a:solidFill>
                <a:latin typeface="Trebuchet MS"/>
              </a:rPr>
              <a:t>A chunk boundary cuts the attention context, so an entity near a boundary loses part of its context. Overlapping windows would reduce that, at the cost of ambiguity about which copy to trust. We chose the simpler option because sentences long enough to be split are rare.</a:t>
            </a:r>
          </a:p>
        </p:txBody>
      </p:sp>
      <p:sp>
        <p:nvSpPr>
          <p:cNvPr id="8" name="Rectangle 7"/>
          <p:cNvSpPr/>
          <p:nvPr/>
        </p:nvSpPr>
        <p:spPr>
          <a:xfrm>
            <a:off x="777240" y="3902456"/>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 · The problem
and the foundation</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F5673"/>
        </a:solidFill>
        <a:effectLst/>
      </p:bgPr>
    </p:bg>
    <p:spTree>
      <p:nvGrpSpPr>
        <p:cNvPr id="1" name=""/>
        <p:cNvGrpSpPr/>
        <p:nvPr/>
      </p:nvGrpSpPr>
      <p:grpSpPr/>
      <p:sp>
        <p:nvSpPr>
          <p:cNvPr id="2" name="TextBox 1"/>
          <p:cNvSpPr txBox="1"/>
          <p:nvPr/>
        </p:nvSpPr>
        <p:spPr>
          <a:xfrm>
            <a:off x="1005840" y="1371600"/>
            <a:ext cx="5120640" cy="1097280"/>
          </a:xfrm>
          <a:prstGeom prst="rect">
            <a:avLst/>
          </a:prstGeom>
          <a:noFill/>
        </p:spPr>
        <p:txBody>
          <a:bodyPr wrap="square" lIns="0" rIns="0" tIns="0" bIns="0">
            <a:spAutoFit/>
          </a:bodyPr>
          <a:lstStyle/>
          <a:p>
            <a:r>
              <a:rPr sz="1500" b="1">
                <a:solidFill>
                  <a:srgbClr val="E8A57C"/>
                </a:solidFill>
                <a:latin typeface="Trebuchet MS"/>
              </a:rPr>
              <a:t>PART II</a:t>
            </a:r>
          </a:p>
        </p:txBody>
      </p:sp>
      <p:sp>
        <p:nvSpPr>
          <p:cNvPr id="3" name="TextBox 2"/>
          <p:cNvSpPr txBox="1"/>
          <p:nvPr/>
        </p:nvSpPr>
        <p:spPr>
          <a:xfrm>
            <a:off x="1005840" y="1828800"/>
            <a:ext cx="5120640" cy="2011680"/>
          </a:xfrm>
          <a:prstGeom prst="rect">
            <a:avLst/>
          </a:prstGeom>
          <a:noFill/>
        </p:spPr>
        <p:txBody>
          <a:bodyPr wrap="square" lIns="0" rIns="0" tIns="0" bIns="0">
            <a:spAutoFit/>
          </a:bodyPr>
          <a:lstStyle/>
          <a:p>
            <a:pPr>
              <a:lnSpc>
                <a:spcPct val="110000"/>
              </a:lnSpc>
            </a:pPr>
            <a:r>
              <a:rPr sz="3400" b="1">
                <a:solidFill>
                  <a:srgbClr val="FFFFFF"/>
                </a:solidFill>
                <a:latin typeface="Trebuchet MS"/>
              </a:rPr>
              <a:t>Subtask 1</a:t>
            </a:r>
            <a:br/>
            <a:r>
              <a:rPr sz="3400" b="1">
                <a:solidFill>
                  <a:srgbClr val="FFFFFF"/>
                </a:solidFill>
                <a:latin typeface="Trebuchet MS"/>
              </a:rPr>
              <a:t>Nested Arabic NER</a:t>
            </a:r>
          </a:p>
        </p:txBody>
      </p:sp>
      <p:sp>
        <p:nvSpPr>
          <p:cNvPr id="4" name="TextBox 3"/>
          <p:cNvSpPr txBox="1"/>
          <p:nvPr/>
        </p:nvSpPr>
        <p:spPr>
          <a:xfrm>
            <a:off x="1005840" y="3886200"/>
            <a:ext cx="4937760" cy="1463040"/>
          </a:xfrm>
          <a:prstGeom prst="rect">
            <a:avLst/>
          </a:prstGeom>
          <a:noFill/>
        </p:spPr>
        <p:txBody>
          <a:bodyPr wrap="square" lIns="0" rIns="0" tIns="0" bIns="0">
            <a:spAutoFit/>
          </a:bodyPr>
          <a:lstStyle/>
          <a:p>
            <a:pPr>
              <a:lnSpc>
                <a:spcPct val="125000"/>
              </a:lnSpc>
            </a:pPr>
            <a:r>
              <a:rPr sz="1500">
                <a:solidFill>
                  <a:srgbClr val="CBDDE6"/>
                </a:solidFill>
                <a:latin typeface="Trebuchet MS"/>
              </a:rPr>
              <a:t>Sections 4 to 7. The representation problem at the heart of the subtask, the loss that makes 21 heads learn together, and what ensembling could and could not fix.</a:t>
            </a:r>
          </a:p>
        </p:txBody>
      </p:sp>
      <p:sp>
        <p:nvSpPr>
          <p:cNvPr id="5" name="Rectangle 4"/>
          <p:cNvSpPr/>
          <p:nvPr/>
        </p:nvSpPr>
        <p:spPr>
          <a:xfrm>
            <a:off x="6858000" y="1600200"/>
            <a:ext cx="9144" cy="1270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0" y="1463040"/>
            <a:ext cx="4297680" cy="3931920"/>
          </a:xfrm>
          <a:prstGeom prst="roundRect">
            <a:avLst>
              <a:gd name="adj" fmla="val 3000"/>
            </a:avLst>
          </a:prstGeom>
          <a:solidFill>
            <a:srgbClr val="1A49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4048" rIns="329184" tIns="347472"/>
          <a:lstStyle/>
          <a:p>
            <a:pPr algn="l" marL="256032" indent="-256032">
              <a:lnSpc>
                <a:spcPct val="115000"/>
              </a:lnSpc>
              <a:spcAft>
                <a:spcPts val="1100"/>
              </a:spcAft>
            </a:pPr>
            <a:r>
              <a:rPr sz="1400">
                <a:solidFill>
                  <a:srgbClr val="D9E7EE"/>
                </a:solidFill>
                <a:latin typeface="Trebuchet MS"/>
              </a:rPr>
              <a:t>·   BIO tagging, and why one tag column is not enough</a:t>
            </a:r>
          </a:p>
          <a:p>
            <a:pPr algn="l" marL="256032" indent="-256032">
              <a:lnSpc>
                <a:spcPct val="115000"/>
              </a:lnSpc>
              <a:spcAft>
                <a:spcPts val="1100"/>
              </a:spcAft>
            </a:pPr>
            <a:r>
              <a:rPr sz="1400">
                <a:solidFill>
                  <a:srgbClr val="D9E7EE"/>
                </a:solidFill>
                <a:latin typeface="Trebuchet MS"/>
              </a:rPr>
              <a:t>·   21 parallel heads: nesting solved by construction</a:t>
            </a:r>
          </a:p>
          <a:p>
            <a:pPr algn="l" marL="256032" indent="-256032">
              <a:lnSpc>
                <a:spcPct val="115000"/>
              </a:lnSpc>
              <a:spcAft>
                <a:spcPts val="1100"/>
              </a:spcAft>
            </a:pPr>
            <a:r>
              <a:rPr sz="1400">
                <a:solidFill>
                  <a:srgbClr val="D9E7EE"/>
                </a:solidFill>
                <a:latin typeface="Trebuchet MS"/>
              </a:rPr>
              <a:t>·   A four-term loss, and the variance penalty</a:t>
            </a:r>
          </a:p>
          <a:p>
            <a:pPr algn="l" marL="256032" indent="-256032">
              <a:lnSpc>
                <a:spcPct val="115000"/>
              </a:lnSpc>
              <a:spcAft>
                <a:spcPts val="1100"/>
              </a:spcAft>
            </a:pPr>
            <a:r>
              <a:rPr sz="1400">
                <a:solidFill>
                  <a:srgbClr val="D9E7EE"/>
                </a:solidFill>
                <a:latin typeface="Trebuchet MS"/>
              </a:rPr>
              <a:t>·   Decoding, invalid sequences, and counted repairs</a:t>
            </a:r>
          </a:p>
          <a:p>
            <a:pPr algn="l" marL="256032" indent="-256032">
              <a:lnSpc>
                <a:spcPct val="115000"/>
              </a:lnSpc>
              <a:spcAft>
                <a:spcPts val="1100"/>
              </a:spcAft>
            </a:pPr>
            <a:r>
              <a:rPr sz="1400">
                <a:solidFill>
                  <a:srgbClr val="D9E7EE"/>
                </a:solidFill>
                <a:latin typeface="Trebuchet MS"/>
              </a:rPr>
              <a:t>·   Three ensembles, and the diagnostic that chose between them</a:t>
            </a:r>
          </a:p>
        </p:txBody>
      </p:sp>
      <p:sp>
        <p:nvSpPr>
          <p:cNvPr id="7" name="TextBox 6"/>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8" name="TextBox 7"/>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4 · SUBTASK 1</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What NER is</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b="1" sz="1600">
                <a:solidFill>
                  <a:srgbClr val="6B6B6B"/>
                </a:solidFill>
                <a:latin typeface="Trebuchet MS"/>
              </a:rPr>
              <a:t>Named entity recognition</a:t>
            </a:r>
            <a:r>
              <a:rPr sz="1600" b="0">
                <a:solidFill>
                  <a:srgbClr val="6B6B6B"/>
                </a:solidFill>
                <a:latin typeface="Trebuchet MS"/>
              </a:rPr>
              <a:t> finds spans of text that refer to entities and assigns each a type. Our task has </a:t>
            </a:r>
            <a:r>
              <a:rPr b="1" sz="1600">
                <a:solidFill>
                  <a:srgbClr val="6B6B6B"/>
                </a:solidFill>
                <a:latin typeface="Trebuchet MS"/>
              </a:rPr>
              <a:t>21 types</a:t>
            </a:r>
            <a:r>
              <a:rPr sz="1600" b="0">
                <a:solidFill>
                  <a:srgbClr val="6B6B6B"/>
                </a:solidFill>
                <a:latin typeface="Trebuchet MS"/>
              </a:rPr>
              <a:t>.</a:t>
            </a:r>
          </a:p>
        </p:txBody>
      </p:sp>
      <p:sp>
        <p:nvSpPr>
          <p:cNvPr id="6" name="Rounded Rectangle 5"/>
          <p:cNvSpPr/>
          <p:nvPr/>
        </p:nvSpPr>
        <p:spPr>
          <a:xfrm>
            <a:off x="777240" y="2263648"/>
            <a:ext cx="10637215" cy="1069848"/>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none" lIns="237744" tIns="155448"/>
          <a:lstStyle/>
          <a:p>
            <a:pPr algn="l">
              <a:lnSpc>
                <a:spcPct val="132000"/>
              </a:lnSpc>
              <a:spcAft>
                <a:spcPts val="0"/>
              </a:spcAft>
            </a:pPr>
            <a:r>
              <a:rPr sz="1400" b="0">
                <a:solidFill>
                  <a:srgbClr val="1A1A1A"/>
                </a:solidFill>
                <a:latin typeface="Consolas"/>
              </a:rPr>
              <a:t>PERS      ORG       GPE       LOC       FAC       DATE      TIME</a:t>
            </a:r>
          </a:p>
          <a:p>
            <a:pPr>
              <a:lnSpc>
                <a:spcPct val="132000"/>
              </a:lnSpc>
              <a:spcAft>
                <a:spcPts val="0"/>
              </a:spcAft>
            </a:pPr>
            <a:r>
              <a:rPr sz="1400" b="0">
                <a:solidFill>
                  <a:srgbClr val="1A1A1A"/>
                </a:solidFill>
                <a:latin typeface="Consolas"/>
              </a:rPr>
              <a:t>MONEY     CARDINAL  OCC       PRODUCT   LANGUAGE  LAW       QUANTITY</a:t>
            </a:r>
          </a:p>
          <a:p>
            <a:pPr>
              <a:lnSpc>
                <a:spcPct val="132000"/>
              </a:lnSpc>
              <a:spcAft>
                <a:spcPts val="0"/>
              </a:spcAft>
            </a:pPr>
            <a:r>
              <a:rPr sz="1400" b="0">
                <a:solidFill>
                  <a:srgbClr val="1A1A1A"/>
                </a:solidFill>
                <a:latin typeface="Consolas"/>
              </a:rPr>
              <a:t>UNIT      NORP      EVENT     WEBSITE   ...</a:t>
            </a:r>
          </a:p>
        </p:txBody>
      </p:sp>
      <p:sp>
        <p:nvSpPr>
          <p:cNvPr id="7" name="TextBox 6"/>
          <p:cNvSpPr txBox="1"/>
          <p:nvPr/>
        </p:nvSpPr>
        <p:spPr>
          <a:xfrm>
            <a:off x="777240" y="349808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A </a:t>
            </a:r>
            <a:r>
              <a:rPr b="1" sz="1600">
                <a:solidFill>
                  <a:srgbClr val="6B6B6B"/>
                </a:solidFill>
                <a:latin typeface="Trebuchet MS"/>
              </a:rPr>
              <a:t>span</a:t>
            </a:r>
            <a:r>
              <a:rPr sz="1600" b="0">
                <a:solidFill>
                  <a:srgbClr val="6B6B6B"/>
                </a:solidFill>
                <a:latin typeface="Trebuchet MS"/>
              </a:rPr>
              <a:t> is a contiguous range of words plus a type. We represent it as </a:t>
            </a:r>
            <a:r>
              <a:rPr sz="1440" b="0">
                <a:solidFill>
                  <a:srgbClr val="1F5673"/>
                </a:solidFill>
                <a:latin typeface="Consolas"/>
              </a:rPr>
              <a:t>(start, end_exclusive, type)</a:t>
            </a:r>
            <a:r>
              <a:rPr sz="1600" b="0">
                <a:solidFill>
                  <a:srgbClr val="6B6B6B"/>
                </a:solidFill>
                <a:latin typeface="Trebuchet MS"/>
              </a:rPr>
              <a:t>, so words 3 and 4 tagged ORG is </a:t>
            </a:r>
            <a:r>
              <a:rPr sz="1440" b="0">
                <a:solidFill>
                  <a:srgbClr val="1F5673"/>
                </a:solidFill>
                <a:latin typeface="Consolas"/>
              </a:rPr>
              <a:t>(3, 5, "ORG")</a:t>
            </a:r>
            <a:r>
              <a:rPr sz="1600" b="0">
                <a:solidFill>
                  <a:srgbClr val="6B6B6B"/>
                </a:solidFill>
                <a:latin typeface="Trebuchet MS"/>
              </a:rPr>
              <a:t>.</a:t>
            </a:r>
          </a:p>
        </p:txBody>
      </p:sp>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4 · THE STANDARD BRIDGE</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BIO tagging turns spans into per-token labels</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3338474" cy="137160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2200" b="1">
                <a:solidFill>
                  <a:srgbClr val="1F5673"/>
                </a:solidFill>
                <a:latin typeface="Trebuchet MS"/>
              </a:rPr>
              <a:t>B-X</a:t>
            </a:r>
          </a:p>
          <a:p>
            <a:pPr marL="182880" indent="-182880">
              <a:lnSpc>
                <a:spcPct val="120000"/>
              </a:lnSpc>
              <a:spcAft>
                <a:spcPts val="700"/>
              </a:spcAft>
            </a:pPr>
            <a:r>
              <a:rPr sz="1400">
                <a:solidFill>
                  <a:srgbClr val="9E4A2B"/>
                </a:solidFill>
                <a:latin typeface="Trebuchet MS"/>
              </a:rPr>
              <a:t>·  </a:t>
            </a:r>
            <a:r>
              <a:rPr b="1" sz="1500">
                <a:solidFill>
                  <a:srgbClr val="1A1A1A"/>
                </a:solidFill>
                <a:latin typeface="Trebuchet MS"/>
              </a:rPr>
              <a:t>B</a:t>
            </a:r>
            <a:r>
              <a:rPr sz="1500" b="0">
                <a:solidFill>
                  <a:srgbClr val="1A1A1A"/>
                </a:solidFill>
                <a:latin typeface="Trebuchet MS"/>
              </a:rPr>
              <a:t>eginning of an entity of type X</a:t>
            </a:r>
          </a:p>
        </p:txBody>
      </p:sp>
      <p:sp>
        <p:nvSpPr>
          <p:cNvPr id="6" name="Rounded Rectangle 5"/>
          <p:cNvSpPr/>
          <p:nvPr/>
        </p:nvSpPr>
        <p:spPr>
          <a:xfrm>
            <a:off x="4426610" y="1572768"/>
            <a:ext cx="3338474" cy="137160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2200" b="1">
                <a:solidFill>
                  <a:srgbClr val="1F5673"/>
                </a:solidFill>
                <a:latin typeface="Trebuchet MS"/>
              </a:rPr>
              <a:t>I-X</a:t>
            </a:r>
          </a:p>
          <a:p>
            <a:pPr marL="182880" indent="-182880">
              <a:lnSpc>
                <a:spcPct val="120000"/>
              </a:lnSpc>
              <a:spcAft>
                <a:spcPts val="700"/>
              </a:spcAft>
            </a:pPr>
            <a:r>
              <a:rPr sz="1400">
                <a:solidFill>
                  <a:srgbClr val="9E4A2B"/>
                </a:solidFill>
                <a:latin typeface="Trebuchet MS"/>
              </a:rPr>
              <a:t>·  </a:t>
            </a:r>
            <a:r>
              <a:rPr b="1" sz="1500">
                <a:solidFill>
                  <a:srgbClr val="1A1A1A"/>
                </a:solidFill>
                <a:latin typeface="Trebuchet MS"/>
              </a:rPr>
              <a:t>I</a:t>
            </a:r>
            <a:r>
              <a:rPr sz="1500" b="0">
                <a:solidFill>
                  <a:srgbClr val="1A1A1A"/>
                </a:solidFill>
                <a:latin typeface="Trebuchet MS"/>
              </a:rPr>
              <a:t>nside: continuation of an entity of type X</a:t>
            </a:r>
          </a:p>
        </p:txBody>
      </p:sp>
      <p:sp>
        <p:nvSpPr>
          <p:cNvPr id="7" name="Rounded Rectangle 6"/>
          <p:cNvSpPr/>
          <p:nvPr/>
        </p:nvSpPr>
        <p:spPr>
          <a:xfrm>
            <a:off x="8075980" y="1572768"/>
            <a:ext cx="3338474" cy="137160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2200" b="1">
                <a:solidFill>
                  <a:srgbClr val="1F5673"/>
                </a:solidFill>
                <a:latin typeface="Trebuchet MS"/>
              </a:rPr>
              <a:t>O</a:t>
            </a:r>
          </a:p>
          <a:p>
            <a:pPr marL="182880" indent="-182880">
              <a:lnSpc>
                <a:spcPct val="120000"/>
              </a:lnSpc>
              <a:spcAft>
                <a:spcPts val="700"/>
              </a:spcAft>
            </a:pPr>
            <a:r>
              <a:rPr sz="1400">
                <a:solidFill>
                  <a:srgbClr val="9E4A2B"/>
                </a:solidFill>
                <a:latin typeface="Trebuchet MS"/>
              </a:rPr>
              <a:t>·  </a:t>
            </a:r>
            <a:r>
              <a:rPr b="1" sz="1500">
                <a:solidFill>
                  <a:srgbClr val="1A1A1A"/>
                </a:solidFill>
                <a:latin typeface="Trebuchet MS"/>
              </a:rPr>
              <a:t>O</a:t>
            </a:r>
            <a:r>
              <a:rPr sz="1500" b="0">
                <a:solidFill>
                  <a:srgbClr val="1A1A1A"/>
                </a:solidFill>
                <a:latin typeface="Trebuchet MS"/>
              </a:rPr>
              <a:t>utside any entity</a:t>
            </a:r>
          </a:p>
        </p:txBody>
      </p:sp>
      <p:sp>
        <p:nvSpPr>
          <p:cNvPr id="8" name="TextBox 7"/>
          <p:cNvSpPr txBox="1"/>
          <p:nvPr/>
        </p:nvSpPr>
        <p:spPr>
          <a:xfrm>
            <a:off x="777240" y="3145536"/>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Neural sequence models naturally emit one label per token, not a list of spans. BIO (also called IOB2) is the bridge.</a:t>
            </a:r>
          </a:p>
        </p:txBody>
      </p:sp>
      <p:graphicFrame>
        <p:nvGraphicFramePr>
          <p:cNvPr id="9" name="Table 8"/>
          <p:cNvGraphicFramePr>
            <a:graphicFrameLocks noGrp="1"/>
          </p:cNvGraphicFramePr>
          <p:nvPr/>
        </p:nvGraphicFramePr>
        <p:xfrm>
          <a:off x="777240" y="3836416"/>
          <a:ext cx="10637214" cy="841248"/>
        </p:xfrm>
        <a:graphic>
          <a:graphicData uri="http://schemas.openxmlformats.org/drawingml/2006/table">
            <a:tbl>
              <a:tblPr firstRow="0" bandRow="0">
                <a:tableStyleId>{5C22544A-7EE6-4342-B048-85BDC9FD1C3A}</a:tableStyleId>
              </a:tblPr>
              <a:tblGrid>
                <a:gridCol w="1268658"/>
                <a:gridCol w="2342139"/>
                <a:gridCol w="2342139"/>
                <a:gridCol w="2342139"/>
                <a:gridCol w="2342139"/>
              </a:tblGrid>
              <a:tr h="420624">
                <a:tc>
                  <a:txBody>
                    <a:bodyPr wrap="square"/>
                    <a:lstStyle/>
                    <a:p>
                      <a:pPr>
                        <a:lnSpc>
                          <a:spcPct val="110000"/>
                        </a:lnSpc>
                      </a:pPr>
                      <a:r>
                        <a:rPr sz="1500" b="1">
                          <a:solidFill>
                            <a:srgbClr val="FFFFFF"/>
                          </a:solidFill>
                          <a:latin typeface="Trebuchet MS"/>
                        </a:rPr>
                        <a:t>words</a:t>
                      </a:r>
                    </a:p>
                  </a:txBody>
                  <a:tcPr marL="118872" marR="91440" marT="27432" marB="27432" anchor="ctr">
                    <a:solidFill>
                      <a:srgbClr val="1F5673"/>
                    </a:solidFill>
                  </a:tcPr>
                </a:tc>
                <a:tc>
                  <a:txBody>
                    <a:bodyPr wrap="square"/>
                    <a:lstStyle/>
                    <a:p>
                      <a:pPr algn="ctr" rtl="1">
                        <a:lnSpc>
                          <a:spcPct val="110000"/>
                        </a:lnSpc>
                      </a:pPr>
                      <a:r>
                        <a:rPr sz="1700">
                          <a:solidFill>
                            <a:srgbClr val="FFFFFF"/>
                          </a:solidFill>
                          <a:latin typeface="Arial"/>
                        </a:rPr>
                        <a:t>جامعة</a:t>
                      </a:r>
                    </a:p>
                  </a:txBody>
                  <a:tcPr marL="118872" marR="91440" marT="27432" marB="27432" anchor="ctr">
                    <a:solidFill>
                      <a:srgbClr val="1F5673"/>
                    </a:solidFill>
                  </a:tcPr>
                </a:tc>
                <a:tc>
                  <a:txBody>
                    <a:bodyPr wrap="square"/>
                    <a:lstStyle/>
                    <a:p>
                      <a:pPr algn="ctr" rtl="1">
                        <a:lnSpc>
                          <a:spcPct val="110000"/>
                        </a:lnSpc>
                      </a:pPr>
                      <a:r>
                        <a:rPr sz="1700">
                          <a:solidFill>
                            <a:srgbClr val="FFFFFF"/>
                          </a:solidFill>
                          <a:latin typeface="Arial"/>
                        </a:rPr>
                        <a:t>بيرزيت</a:t>
                      </a:r>
                    </a:p>
                  </a:txBody>
                  <a:tcPr marL="118872" marR="91440" marT="27432" marB="27432" anchor="ctr">
                    <a:solidFill>
                      <a:srgbClr val="1F5673"/>
                    </a:solidFill>
                  </a:tcPr>
                </a:tc>
                <a:tc>
                  <a:txBody>
                    <a:bodyPr wrap="square"/>
                    <a:lstStyle/>
                    <a:p>
                      <a:pPr algn="ctr" rtl="1">
                        <a:lnSpc>
                          <a:spcPct val="110000"/>
                        </a:lnSpc>
                      </a:pPr>
                      <a:r>
                        <a:rPr sz="1700">
                          <a:solidFill>
                            <a:srgbClr val="FFFFFF"/>
                          </a:solidFill>
                          <a:latin typeface="Arial"/>
                        </a:rPr>
                        <a:t>في</a:t>
                      </a:r>
                    </a:p>
                  </a:txBody>
                  <a:tcPr marL="118872" marR="91440" marT="27432" marB="27432" anchor="ctr">
                    <a:solidFill>
                      <a:srgbClr val="1F5673"/>
                    </a:solidFill>
                  </a:tcPr>
                </a:tc>
                <a:tc>
                  <a:txBody>
                    <a:bodyPr wrap="square"/>
                    <a:lstStyle/>
                    <a:p>
                      <a:pPr algn="ctr" rtl="1">
                        <a:lnSpc>
                          <a:spcPct val="110000"/>
                        </a:lnSpc>
                      </a:pPr>
                      <a:r>
                        <a:rPr sz="1700">
                          <a:solidFill>
                            <a:srgbClr val="FFFFFF"/>
                          </a:solidFill>
                          <a:latin typeface="Arial"/>
                        </a:rPr>
                        <a:t>فلسطين</a:t>
                      </a:r>
                    </a:p>
                  </a:txBody>
                  <a:tcPr marL="118872" marR="91440" marT="27432" marB="27432" anchor="ctr">
                    <a:solidFill>
                      <a:srgbClr val="1F5673"/>
                    </a:solidFill>
                  </a:tcPr>
                </a:tc>
              </a:tr>
              <a:tr h="420624">
                <a:tc>
                  <a:txBody>
                    <a:bodyPr wrap="square"/>
                    <a:lstStyle/>
                    <a:p>
                      <a:pPr>
                        <a:lnSpc>
                          <a:spcPct val="110000"/>
                        </a:lnSpc>
                      </a:pPr>
                      <a:r>
                        <a:rPr sz="1500" b="0">
                          <a:solidFill>
                            <a:srgbClr val="1A1A1A"/>
                          </a:solidFill>
                          <a:latin typeface="Trebuchet MS"/>
                        </a:rPr>
                        <a:t>tags</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B-ORG</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I-ORG</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O</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B-GPE</a:t>
                      </a:r>
                    </a:p>
                  </a:txBody>
                  <a:tcPr marL="118872" marR="91440" marT="27432" marB="27432" anchor="ctr">
                    <a:solidFill>
                      <a:srgbClr val="FDFCF9"/>
                    </a:solidFill>
                  </a:tcPr>
                </a:tc>
              </a:tr>
            </a:tbl>
          </a:graphicData>
        </a:graphic>
      </p:graphicFrame>
      <p:sp>
        <p:nvSpPr>
          <p:cNvPr id="10" name="TextBox 9"/>
          <p:cNvSpPr txBox="1"/>
          <p:nvPr/>
        </p:nvSpPr>
        <p:spPr>
          <a:xfrm>
            <a:off x="777240" y="4878832"/>
            <a:ext cx="10637215" cy="365760"/>
          </a:xfrm>
          <a:prstGeom prst="rect">
            <a:avLst/>
          </a:prstGeom>
          <a:noFill/>
        </p:spPr>
        <p:txBody>
          <a:bodyPr wrap="square" lIns="0" rIns="0" tIns="0" bIns="0">
            <a:spAutoFit/>
          </a:bodyPr>
          <a:lstStyle/>
          <a:p>
            <a:pPr>
              <a:lnSpc>
                <a:spcPct val="125000"/>
              </a:lnSpc>
            </a:pPr>
            <a:r>
              <a:rPr sz="1440" b="0">
                <a:solidFill>
                  <a:srgbClr val="1F5673"/>
                </a:solidFill>
                <a:latin typeface="Consolas"/>
              </a:rPr>
              <a:t>(0, 2, "ORG")</a:t>
            </a:r>
            <a:r>
              <a:rPr sz="1600" b="0">
                <a:solidFill>
                  <a:srgbClr val="6B6B6B"/>
                </a:solidFill>
                <a:latin typeface="Trebuchet MS"/>
              </a:rPr>
              <a:t> is one organization; </a:t>
            </a:r>
            <a:r>
              <a:rPr sz="1440" b="0">
                <a:solidFill>
                  <a:srgbClr val="1F5673"/>
                </a:solidFill>
                <a:latin typeface="Consolas"/>
              </a:rPr>
              <a:t>(3, 4, "GPE")</a:t>
            </a:r>
            <a:r>
              <a:rPr sz="1600" b="0">
                <a:solidFill>
                  <a:srgbClr val="6B6B6B"/>
                </a:solidFill>
                <a:latin typeface="Trebuchet MS"/>
              </a:rPr>
              <a:t> is one place. The </a:t>
            </a:r>
            <a:r>
              <a:rPr b="1" sz="1600">
                <a:solidFill>
                  <a:srgbClr val="6B6B6B"/>
                </a:solidFill>
                <a:latin typeface="Trebuchet MS"/>
              </a:rPr>
              <a:t>B versus I</a:t>
            </a:r>
            <a:r>
              <a:rPr sz="1600" b="0">
                <a:solidFill>
                  <a:srgbClr val="6B6B6B"/>
                </a:solidFill>
                <a:latin typeface="Trebuchet MS"/>
              </a:rPr>
              <a:t> distinction is what lets two adjacent ORG entities be </a:t>
            </a:r>
            <a:r>
              <a:rPr sz="1440" b="0">
                <a:solidFill>
                  <a:srgbClr val="1F5673"/>
                </a:solidFill>
                <a:latin typeface="Consolas"/>
              </a:rPr>
              <a:t>B-ORG B-ORG</a:t>
            </a:r>
            <a:r>
              <a:rPr sz="1600" b="0">
                <a:solidFill>
                  <a:srgbClr val="6B6B6B"/>
                </a:solidFill>
                <a:latin typeface="Trebuchet MS"/>
              </a:rPr>
              <a:t> rather than one two-word entity.</a:t>
            </a:r>
          </a:p>
        </p:txBody>
      </p:sp>
      <p:sp>
        <p:nvSpPr>
          <p:cNvPr id="11" name="TextBox 10"/>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12" name="TextBox 11"/>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4 · WHY THIS SUBTASK IS NOT ORDINARY NER</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The nesting problem</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b="1" sz="1600">
                <a:solidFill>
                  <a:srgbClr val="6B6B6B"/>
                </a:solidFill>
                <a:latin typeface="Trebuchet MS"/>
              </a:rPr>
              <a:t>Nested entities</a:t>
            </a:r>
            <a:r>
              <a:rPr sz="1600" b="0">
                <a:solidFill>
                  <a:srgbClr val="6B6B6B"/>
                </a:solidFill>
                <a:latin typeface="Trebuchet MS"/>
              </a:rPr>
              <a:t> are entities inside other entities, and they are everywhere: </a:t>
            </a:r>
            <a:r>
              <a:rPr b="1" sz="1600">
                <a:solidFill>
                  <a:srgbClr val="6B6B6B"/>
                </a:solidFill>
                <a:latin typeface="Trebuchet MS"/>
              </a:rPr>
              <a:t>22.5% of Wojood mentions are nested.</a:t>
            </a:r>
          </a:p>
        </p:txBody>
      </p:sp>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23</a:t>
            </a:r>
          </a:p>
        </p:txBody>
      </p:sp>
      <p:sp>
        <p:nvSpPr>
          <p:cNvPr id="8" name="Rounded Rectangle 7"/>
          <p:cNvSpPr/>
          <p:nvPr/>
        </p:nvSpPr>
        <p:spPr>
          <a:xfrm>
            <a:off x="3200400" y="2606040"/>
            <a:ext cx="5852160" cy="1417320"/>
          </a:xfrm>
          <a:prstGeom prst="roundRect">
            <a:avLst>
              <a:gd name="adj" fmla="val 6000"/>
            </a:avLst>
          </a:prstGeom>
          <a:solidFill>
            <a:srgbClr val="FDFCF9"/>
          </a:solidFill>
          <a:ln w="12700">
            <a:solidFill>
              <a:srgbClr val="1F5673"/>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9" name="TextBox 8"/>
          <p:cNvSpPr txBox="1"/>
          <p:nvPr/>
        </p:nvSpPr>
        <p:spPr>
          <a:xfrm>
            <a:off x="3310128" y="2670048"/>
            <a:ext cx="1097280" cy="292608"/>
          </a:xfrm>
          <a:prstGeom prst="rect">
            <a:avLst/>
          </a:prstGeom>
          <a:noFill/>
        </p:spPr>
        <p:txBody>
          <a:bodyPr wrap="square" lIns="0" rIns="0" tIns="0" bIns="0">
            <a:spAutoFit/>
          </a:bodyPr>
          <a:lstStyle/>
          <a:p>
            <a:pPr algn="l">
              <a:lnSpc>
                <a:spcPct val="115000"/>
              </a:lnSpc>
            </a:pPr>
            <a:r>
              <a:rPr sz="1300" b="1">
                <a:solidFill>
                  <a:srgbClr val="1F5673"/>
                </a:solidFill>
                <a:latin typeface="Trebuchet MS"/>
              </a:rPr>
              <a:t>ORG</a:t>
            </a:r>
          </a:p>
        </p:txBody>
      </p:sp>
      <p:sp>
        <p:nvSpPr>
          <p:cNvPr id="10" name="Rounded Rectangle 9"/>
          <p:cNvSpPr/>
          <p:nvPr/>
        </p:nvSpPr>
        <p:spPr>
          <a:xfrm>
            <a:off x="3657600" y="3035808"/>
            <a:ext cx="2377440" cy="841248"/>
          </a:xfrm>
          <a:prstGeom prst="roundRect">
            <a:avLst>
              <a:gd name="adj" fmla="val 8000"/>
            </a:avLst>
          </a:prstGeom>
          <a:solidFill>
            <a:srgbClr val="FBE9C8"/>
          </a:solidFill>
          <a:ln w="12700">
            <a:solidFill>
              <a:srgbClr val="9E4A2B"/>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1" name="TextBox 10"/>
          <p:cNvSpPr txBox="1"/>
          <p:nvPr/>
        </p:nvSpPr>
        <p:spPr>
          <a:xfrm>
            <a:off x="3767328" y="3072384"/>
            <a:ext cx="1097280" cy="292608"/>
          </a:xfrm>
          <a:prstGeom prst="rect">
            <a:avLst/>
          </a:prstGeom>
          <a:noFill/>
        </p:spPr>
        <p:txBody>
          <a:bodyPr wrap="square" lIns="0" rIns="0" tIns="0" bIns="0">
            <a:spAutoFit/>
          </a:bodyPr>
          <a:lstStyle/>
          <a:p>
            <a:pPr algn="l">
              <a:lnSpc>
                <a:spcPct val="115000"/>
              </a:lnSpc>
            </a:pPr>
            <a:r>
              <a:rPr sz="1200" b="1">
                <a:solidFill>
                  <a:srgbClr val="9E4A2B"/>
                </a:solidFill>
                <a:latin typeface="Trebuchet MS"/>
              </a:rPr>
              <a:t>GPE</a:t>
            </a:r>
          </a:p>
        </p:txBody>
      </p:sp>
      <p:sp>
        <p:nvSpPr>
          <p:cNvPr id="12" name="TextBox 11"/>
          <p:cNvSpPr txBox="1"/>
          <p:nvPr/>
        </p:nvSpPr>
        <p:spPr>
          <a:xfrm>
            <a:off x="3657600" y="3310128"/>
            <a:ext cx="2377440" cy="457200"/>
          </a:xfrm>
          <a:prstGeom prst="rect">
            <a:avLst/>
          </a:prstGeom>
          <a:noFill/>
        </p:spPr>
        <p:txBody>
          <a:bodyPr wrap="square" lIns="0" rIns="0" tIns="0" bIns="0">
            <a:spAutoFit/>
          </a:bodyPr>
          <a:lstStyle/>
          <a:p>
            <a:pPr algn="ctr">
              <a:lnSpc>
                <a:spcPct val="115000"/>
              </a:lnSpc>
            </a:pPr>
            <a:r>
              <a:rPr sz="2200" b="0">
                <a:solidFill>
                  <a:srgbClr val="1A1A1A"/>
                </a:solidFill>
                <a:latin typeface="Arial"/>
              </a:rPr>
              <a:t>بيرزيت</a:t>
            </a:r>
          </a:p>
        </p:txBody>
      </p:sp>
      <p:sp>
        <p:nvSpPr>
          <p:cNvPr id="13" name="TextBox 12"/>
          <p:cNvSpPr txBox="1"/>
          <p:nvPr/>
        </p:nvSpPr>
        <p:spPr>
          <a:xfrm>
            <a:off x="6400800" y="3310128"/>
            <a:ext cx="2377440" cy="457200"/>
          </a:xfrm>
          <a:prstGeom prst="rect">
            <a:avLst/>
          </a:prstGeom>
          <a:noFill/>
        </p:spPr>
        <p:txBody>
          <a:bodyPr wrap="square" lIns="0" rIns="0" tIns="0" bIns="0">
            <a:spAutoFit/>
          </a:bodyPr>
          <a:lstStyle/>
          <a:p>
            <a:pPr algn="ctr">
              <a:lnSpc>
                <a:spcPct val="115000"/>
              </a:lnSpc>
            </a:pPr>
            <a:r>
              <a:rPr sz="2200" b="0">
                <a:solidFill>
                  <a:srgbClr val="1A1A1A"/>
                </a:solidFill>
                <a:latin typeface="Arial"/>
              </a:rPr>
              <a:t>جامعة</a:t>
            </a:r>
          </a:p>
        </p:txBody>
      </p:sp>
      <p:sp>
        <p:nvSpPr>
          <p:cNvPr id="14" name="TextBox 13"/>
          <p:cNvSpPr txBox="1"/>
          <p:nvPr/>
        </p:nvSpPr>
        <p:spPr>
          <a:xfrm>
            <a:off x="3200400" y="4096512"/>
            <a:ext cx="5852160" cy="292608"/>
          </a:xfrm>
          <a:prstGeom prst="rect">
            <a:avLst/>
          </a:prstGeom>
          <a:noFill/>
        </p:spPr>
        <p:txBody>
          <a:bodyPr wrap="square" lIns="0" rIns="0" tIns="0" bIns="0">
            <a:spAutoFit/>
          </a:bodyPr>
          <a:lstStyle/>
          <a:p>
            <a:pPr algn="ctr">
              <a:lnSpc>
                <a:spcPct val="115000"/>
              </a:lnSpc>
            </a:pPr>
            <a:r>
              <a:rPr sz="1300" b="0">
                <a:solidFill>
                  <a:srgbClr val="6B6B6B"/>
                </a:solidFill>
                <a:latin typeface="Trebuchet MS"/>
              </a:rPr>
              <a:t>“Birzeit University”, with the city “Birzeit” inside it. Arabic reads right to left.</a:t>
            </a:r>
          </a:p>
        </p:txBody>
      </p:sp>
      <p:sp>
        <p:nvSpPr>
          <p:cNvPr id="15" name="Rounded Rectangle 14"/>
          <p:cNvSpPr/>
          <p:nvPr/>
        </p:nvSpPr>
        <p:spPr>
          <a:xfrm>
            <a:off x="777240" y="4572000"/>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ONE TAG COLUMN CANNOT HOLD TWO LABELS</a:t>
            </a:r>
          </a:p>
          <a:p>
            <a:pPr>
              <a:lnSpc>
                <a:spcPct val="124000"/>
              </a:lnSpc>
            </a:pPr>
            <a:r>
              <a:rPr sz="1500" b="0">
                <a:solidFill>
                  <a:srgbClr val="1A1A1A"/>
                </a:solidFill>
                <a:latin typeface="Trebuchet MS"/>
              </a:rPr>
              <a:t>The second word must be </a:t>
            </a:r>
            <a:r>
              <a:rPr sz="1350" b="0">
                <a:solidFill>
                  <a:srgbClr val="1F5673"/>
                </a:solidFill>
                <a:latin typeface="Consolas"/>
              </a:rPr>
              <a:t>I-ORG</a:t>
            </a:r>
            <a:r>
              <a:rPr sz="1500" b="0">
                <a:solidFill>
                  <a:srgbClr val="1A1A1A"/>
                </a:solidFill>
                <a:latin typeface="Trebuchet MS"/>
              </a:rPr>
              <a:t>, because it continues the university. It must </a:t>
            </a:r>
            <a:r>
              <a:rPr b="1" sz="1500">
                <a:solidFill>
                  <a:srgbClr val="1A1A1A"/>
                </a:solidFill>
                <a:latin typeface="Trebuchet MS"/>
              </a:rPr>
              <a:t>also</a:t>
            </a:r>
            <a:r>
              <a:rPr sz="1500" b="0">
                <a:solidFill>
                  <a:srgbClr val="1A1A1A"/>
                </a:solidFill>
                <a:latin typeface="Trebuchet MS"/>
              </a:rPr>
              <a:t> be </a:t>
            </a:r>
            <a:r>
              <a:rPr sz="1350" b="0">
                <a:solidFill>
                  <a:srgbClr val="1F5673"/>
                </a:solidFill>
                <a:latin typeface="Consolas"/>
              </a:rPr>
              <a:t>B-GPE</a:t>
            </a:r>
            <a:r>
              <a:rPr sz="1500" b="0">
                <a:solidFill>
                  <a:srgbClr val="1A1A1A"/>
                </a:solidFill>
                <a:latin typeface="Trebuchet MS"/>
              </a:rPr>
              <a:t>, because it starts the city. This is the fundamental limitation that every nested-NER architecture exists to solve.</a:t>
            </a:r>
          </a:p>
        </p:txBody>
      </p:sp>
      <p:sp>
        <p:nvSpPr>
          <p:cNvPr id="16" name="Rectangle 15"/>
          <p:cNvSpPr/>
          <p:nvPr/>
        </p:nvSpPr>
        <p:spPr>
          <a:xfrm>
            <a:off x="777240" y="4572000"/>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4 · THE ARCHITECTURE</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Our solution: 21 parallel BIO columns</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Instead of one tag per word, emit </a:t>
            </a:r>
            <a:r>
              <a:rPr b="1" sz="1600">
                <a:solidFill>
                  <a:srgbClr val="6B6B6B"/>
                </a:solidFill>
                <a:latin typeface="Trebuchet MS"/>
              </a:rPr>
              <a:t>21 tags per word, one per entity type</a:t>
            </a:r>
            <a:r>
              <a:rPr sz="1600" b="0">
                <a:solidFill>
                  <a:srgbClr val="6B6B6B"/>
                </a:solidFill>
                <a:latin typeface="Trebuchet MS"/>
              </a:rPr>
              <a:t>. Each type gets its own independent BIO column.</a:t>
            </a:r>
          </a:p>
        </p:txBody>
      </p:sp>
      <p:graphicFrame>
        <p:nvGraphicFramePr>
          <p:cNvPr id="6" name="Table 5"/>
          <p:cNvGraphicFramePr>
            <a:graphicFrameLocks noGrp="1"/>
          </p:cNvGraphicFramePr>
          <p:nvPr/>
        </p:nvGraphicFramePr>
        <p:xfrm>
          <a:off x="777240" y="2263648"/>
          <a:ext cx="10637211" cy="1261872"/>
        </p:xfrm>
        <a:graphic>
          <a:graphicData uri="http://schemas.openxmlformats.org/drawingml/2006/table">
            <a:tbl>
              <a:tblPr firstRow="0" bandRow="0">
                <a:tableStyleId>{5C22544A-7EE6-4342-B048-85BDC9FD1C3A}</a:tableStyleId>
              </a:tblPr>
              <a:tblGrid>
                <a:gridCol w="1834002"/>
                <a:gridCol w="1375501"/>
                <a:gridCol w="1742302"/>
                <a:gridCol w="1742302"/>
                <a:gridCol w="1375501"/>
                <a:gridCol w="2567603"/>
              </a:tblGrid>
              <a:tr h="420624">
                <a:tc>
                  <a:txBody>
                    <a:bodyPr wrap="square"/>
                    <a:lstStyle/>
                    <a:p>
                      <a:pPr algn="ctr">
                        <a:lnSpc>
                          <a:spcPct val="110000"/>
                        </a:lnSpc>
                      </a:pPr>
                      <a:r>
                        <a:rPr sz="1500" b="1">
                          <a:solidFill>
                            <a:srgbClr val="FFFFFF"/>
                          </a:solidFill>
                          <a:latin typeface="Trebuchet MS"/>
                        </a:rPr>
                        <a:t>word</a:t>
                      </a:r>
                    </a:p>
                  </a:txBody>
                  <a:tcPr marL="118872" marR="91440" marT="27432" marB="27432" anchor="ctr">
                    <a:solidFill>
                      <a:srgbClr val="1F5673"/>
                    </a:solidFill>
                  </a:tcPr>
                </a:tc>
                <a:tc>
                  <a:txBody>
                    <a:bodyPr wrap="square"/>
                    <a:lstStyle/>
                    <a:p>
                      <a:pPr algn="ctr">
                        <a:lnSpc>
                          <a:spcPct val="110000"/>
                        </a:lnSpc>
                      </a:pPr>
                      <a:r>
                        <a:rPr sz="1500" b="1">
                          <a:solidFill>
                            <a:srgbClr val="FFFFFF"/>
                          </a:solidFill>
                          <a:latin typeface="Trebuchet MS"/>
                        </a:rPr>
                        <a:t>PERS</a:t>
                      </a:r>
                    </a:p>
                  </a:txBody>
                  <a:tcPr marL="118872" marR="91440" marT="27432" marB="27432" anchor="ctr">
                    <a:solidFill>
                      <a:srgbClr val="1F5673"/>
                    </a:solidFill>
                  </a:tcPr>
                </a:tc>
                <a:tc>
                  <a:txBody>
                    <a:bodyPr wrap="square"/>
                    <a:lstStyle/>
                    <a:p>
                      <a:pPr algn="ctr">
                        <a:lnSpc>
                          <a:spcPct val="110000"/>
                        </a:lnSpc>
                      </a:pPr>
                      <a:r>
                        <a:rPr sz="1500" b="1">
                          <a:solidFill>
                            <a:srgbClr val="FFFFFF"/>
                          </a:solidFill>
                          <a:latin typeface="Trebuchet MS"/>
                        </a:rPr>
                        <a:t>ORG</a:t>
                      </a:r>
                    </a:p>
                  </a:txBody>
                  <a:tcPr marL="118872" marR="91440" marT="27432" marB="27432" anchor="ctr">
                    <a:solidFill>
                      <a:srgbClr val="1F5673"/>
                    </a:solidFill>
                  </a:tcPr>
                </a:tc>
                <a:tc>
                  <a:txBody>
                    <a:bodyPr wrap="square"/>
                    <a:lstStyle/>
                    <a:p>
                      <a:pPr algn="ctr">
                        <a:lnSpc>
                          <a:spcPct val="110000"/>
                        </a:lnSpc>
                      </a:pPr>
                      <a:r>
                        <a:rPr sz="1500" b="1">
                          <a:solidFill>
                            <a:srgbClr val="FFFFFF"/>
                          </a:solidFill>
                          <a:latin typeface="Trebuchet MS"/>
                        </a:rPr>
                        <a:t>GPE</a:t>
                      </a:r>
                    </a:p>
                  </a:txBody>
                  <a:tcPr marL="118872" marR="91440" marT="27432" marB="27432" anchor="ctr">
                    <a:solidFill>
                      <a:srgbClr val="1F5673"/>
                    </a:solidFill>
                  </a:tcPr>
                </a:tc>
                <a:tc>
                  <a:txBody>
                    <a:bodyPr wrap="square"/>
                    <a:lstStyle/>
                    <a:p>
                      <a:pPr algn="ctr">
                        <a:lnSpc>
                          <a:spcPct val="110000"/>
                        </a:lnSpc>
                      </a:pPr>
                      <a:r>
                        <a:rPr sz="1500" b="1">
                          <a:solidFill>
                            <a:srgbClr val="FFFFFF"/>
                          </a:solidFill>
                          <a:latin typeface="Trebuchet MS"/>
                        </a:rPr>
                        <a:t>DATE</a:t>
                      </a:r>
                    </a:p>
                  </a:txBody>
                  <a:tcPr marL="118872" marR="91440" marT="27432" marB="27432" anchor="ctr">
                    <a:solidFill>
                      <a:srgbClr val="1F5673"/>
                    </a:solidFill>
                  </a:tcPr>
                </a:tc>
                <a:tc>
                  <a:txBody>
                    <a:bodyPr wrap="square"/>
                    <a:lstStyle/>
                    <a:p>
                      <a:pPr algn="ctr">
                        <a:lnSpc>
                          <a:spcPct val="110000"/>
                        </a:lnSpc>
                      </a:pPr>
                      <a:r>
                        <a:rPr sz="1500" b="1">
                          <a:solidFill>
                            <a:srgbClr val="FFFFFF"/>
                          </a:solidFill>
                          <a:latin typeface="Trebuchet MS"/>
                        </a:rPr>
                        <a:t>… (21 columns)</a:t>
                      </a:r>
                    </a:p>
                  </a:txBody>
                  <a:tcPr marL="118872" marR="91440" marT="27432" marB="27432" anchor="ctr">
                    <a:solidFill>
                      <a:srgbClr val="1F5673"/>
                    </a:solidFill>
                  </a:tcPr>
                </a:tc>
              </a:tr>
              <a:tr h="420624">
                <a:tc>
                  <a:txBody>
                    <a:bodyPr wrap="square"/>
                    <a:lstStyle/>
                    <a:p>
                      <a:pPr algn="ctr" rtl="1">
                        <a:lnSpc>
                          <a:spcPct val="110000"/>
                        </a:lnSpc>
                      </a:pPr>
                      <a:r>
                        <a:rPr sz="1700">
                          <a:solidFill>
                            <a:srgbClr val="1A1A1A"/>
                          </a:solidFill>
                          <a:latin typeface="Arial"/>
                        </a:rPr>
                        <a:t>جامعة</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O</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B-ORG</a:t>
                      </a:r>
                    </a:p>
                  </a:txBody>
                  <a:tcPr marL="118872" marR="91440" marT="27432" marB="27432" anchor="ctr">
                    <a:solidFill>
                      <a:srgbClr val="FBE9C8"/>
                    </a:solidFill>
                  </a:tcPr>
                </a:tc>
                <a:tc>
                  <a:txBody>
                    <a:bodyPr wrap="square"/>
                    <a:lstStyle/>
                    <a:p>
                      <a:pPr algn="ctr">
                        <a:lnSpc>
                          <a:spcPct val="110000"/>
                        </a:lnSpc>
                      </a:pPr>
                      <a:r>
                        <a:rPr sz="1500" b="0">
                          <a:solidFill>
                            <a:srgbClr val="1A1A1A"/>
                          </a:solidFill>
                          <a:latin typeface="Trebuchet MS"/>
                        </a:rPr>
                        <a:t>O</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O</a:t>
                      </a:r>
                    </a:p>
                  </a:txBody>
                  <a:tcPr marL="118872" marR="91440" marT="27432" marB="27432" anchor="ctr">
                    <a:solidFill>
                      <a:srgbClr val="FDFCF9"/>
                    </a:solidFill>
                  </a:tcPr>
                </a:tc>
                <a:tc>
                  <a:txBody>
                    <a:bodyPr wrap="square"/>
                    <a:lstStyle/>
                    <a:p>
                      <a:pPr algn="ctr">
                        <a:lnSpc>
                          <a:spcPct val="110000"/>
                        </a:lnSpc>
                      </a:pPr>
                    </a:p>
                  </a:txBody>
                  <a:tcPr marL="118872" marR="91440" marT="27432" marB="27432" anchor="ctr">
                    <a:solidFill>
                      <a:srgbClr val="FDFCF9"/>
                    </a:solidFill>
                  </a:tcPr>
                </a:tc>
              </a:tr>
              <a:tr h="420624">
                <a:tc>
                  <a:txBody>
                    <a:bodyPr wrap="square"/>
                    <a:lstStyle/>
                    <a:p>
                      <a:pPr algn="ctr" rtl="1">
                        <a:lnSpc>
                          <a:spcPct val="110000"/>
                        </a:lnSpc>
                      </a:pPr>
                      <a:r>
                        <a:rPr sz="1700">
                          <a:solidFill>
                            <a:srgbClr val="1A1A1A"/>
                          </a:solidFill>
                          <a:latin typeface="Arial"/>
                        </a:rPr>
                        <a:t>بيرزيت</a:t>
                      </a:r>
                    </a:p>
                  </a:txBody>
                  <a:tcPr marL="118872" marR="91440" marT="27432" marB="27432" anchor="ctr">
                    <a:solidFill>
                      <a:srgbClr val="F4F1EA"/>
                    </a:solidFill>
                  </a:tcPr>
                </a:tc>
                <a:tc>
                  <a:txBody>
                    <a:bodyPr wrap="square"/>
                    <a:lstStyle/>
                    <a:p>
                      <a:pPr algn="ctr">
                        <a:lnSpc>
                          <a:spcPct val="110000"/>
                        </a:lnSpc>
                      </a:pPr>
                      <a:r>
                        <a:rPr sz="1500" b="0">
                          <a:solidFill>
                            <a:srgbClr val="1A1A1A"/>
                          </a:solidFill>
                          <a:latin typeface="Trebuchet MS"/>
                        </a:rPr>
                        <a:t>O</a:t>
                      </a:r>
                    </a:p>
                  </a:txBody>
                  <a:tcPr marL="118872" marR="91440" marT="27432" marB="27432" anchor="ctr">
                    <a:solidFill>
                      <a:srgbClr val="F4F1EA"/>
                    </a:solidFill>
                  </a:tcPr>
                </a:tc>
                <a:tc>
                  <a:txBody>
                    <a:bodyPr wrap="square"/>
                    <a:lstStyle/>
                    <a:p>
                      <a:pPr algn="ctr">
                        <a:lnSpc>
                          <a:spcPct val="110000"/>
                        </a:lnSpc>
                      </a:pPr>
                      <a:r>
                        <a:rPr sz="1500" b="0">
                          <a:solidFill>
                            <a:srgbClr val="1A1A1A"/>
                          </a:solidFill>
                          <a:latin typeface="Trebuchet MS"/>
                        </a:rPr>
                        <a:t>I-ORG</a:t>
                      </a:r>
                    </a:p>
                  </a:txBody>
                  <a:tcPr marL="118872" marR="91440" marT="27432" marB="27432" anchor="ctr">
                    <a:solidFill>
                      <a:srgbClr val="FBE9C8"/>
                    </a:solidFill>
                  </a:tcPr>
                </a:tc>
                <a:tc>
                  <a:txBody>
                    <a:bodyPr wrap="square"/>
                    <a:lstStyle/>
                    <a:p>
                      <a:pPr algn="ctr">
                        <a:lnSpc>
                          <a:spcPct val="110000"/>
                        </a:lnSpc>
                      </a:pPr>
                      <a:r>
                        <a:rPr sz="1500" b="0">
                          <a:solidFill>
                            <a:srgbClr val="1A1A1A"/>
                          </a:solidFill>
                          <a:latin typeface="Trebuchet MS"/>
                        </a:rPr>
                        <a:t>B-GPE</a:t>
                      </a:r>
                    </a:p>
                  </a:txBody>
                  <a:tcPr marL="118872" marR="91440" marT="27432" marB="27432" anchor="ctr">
                    <a:solidFill>
                      <a:srgbClr val="FBE9C8"/>
                    </a:solidFill>
                  </a:tcPr>
                </a:tc>
                <a:tc>
                  <a:txBody>
                    <a:bodyPr wrap="square"/>
                    <a:lstStyle/>
                    <a:p>
                      <a:pPr algn="ctr">
                        <a:lnSpc>
                          <a:spcPct val="110000"/>
                        </a:lnSpc>
                      </a:pPr>
                      <a:r>
                        <a:rPr sz="1500" b="0">
                          <a:solidFill>
                            <a:srgbClr val="1A1A1A"/>
                          </a:solidFill>
                          <a:latin typeface="Trebuchet MS"/>
                        </a:rPr>
                        <a:t>O</a:t>
                      </a:r>
                    </a:p>
                  </a:txBody>
                  <a:tcPr marL="118872" marR="91440" marT="27432" marB="27432" anchor="ctr">
                    <a:solidFill>
                      <a:srgbClr val="F4F1EA"/>
                    </a:solidFill>
                  </a:tcPr>
                </a:tc>
                <a:tc>
                  <a:txBody>
                    <a:bodyPr wrap="square"/>
                    <a:lstStyle/>
                    <a:p>
                      <a:pPr algn="ctr">
                        <a:lnSpc>
                          <a:spcPct val="110000"/>
                        </a:lnSpc>
                      </a:pPr>
                    </a:p>
                  </a:txBody>
                  <a:tcPr marL="118872" marR="91440" marT="27432" marB="27432" anchor="ctr">
                    <a:solidFill>
                      <a:srgbClr val="F4F1EA"/>
                    </a:solidFill>
                  </a:tcPr>
                </a:tc>
              </a:tr>
            </a:tbl>
          </a:graphicData>
        </a:graphic>
      </p:graphicFrame>
      <p:sp>
        <p:nvSpPr>
          <p:cNvPr id="7" name="TextBox 6"/>
          <p:cNvSpPr txBox="1"/>
          <p:nvPr/>
        </p:nvSpPr>
        <p:spPr>
          <a:xfrm>
            <a:off x="777240" y="372668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Read down the ORG column: </a:t>
            </a:r>
            <a:r>
              <a:rPr sz="1440" b="0">
                <a:solidFill>
                  <a:srgbClr val="1F5673"/>
                </a:solidFill>
                <a:latin typeface="Consolas"/>
              </a:rPr>
              <a:t>B-ORG, I-ORG</a:t>
            </a:r>
            <a:r>
              <a:rPr sz="1600" b="0">
                <a:solidFill>
                  <a:srgbClr val="6B6B6B"/>
                </a:solidFill>
                <a:latin typeface="Trebuchet MS"/>
              </a:rPr>
              <a:t> gives the university. Read down the GPE column: </a:t>
            </a:r>
            <a:r>
              <a:rPr sz="1440" b="0">
                <a:solidFill>
                  <a:srgbClr val="1F5673"/>
                </a:solidFill>
                <a:latin typeface="Consolas"/>
              </a:rPr>
              <a:t>O, B-GPE</a:t>
            </a:r>
            <a:r>
              <a:rPr sz="1600" b="0">
                <a:solidFill>
                  <a:srgbClr val="6B6B6B"/>
                </a:solidFill>
                <a:latin typeface="Trebuchet MS"/>
              </a:rPr>
              <a:t> gives the city. Both entities coexist because they live in different columns.</a:t>
            </a:r>
          </a:p>
        </p:txBody>
      </p:sp>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24</a:t>
            </a:r>
          </a:p>
        </p:txBody>
      </p:sp>
      <p:sp>
        <p:nvSpPr>
          <p:cNvPr id="10" name="TextBox 9"/>
          <p:cNvSpPr txBox="1"/>
          <p:nvPr/>
        </p:nvSpPr>
        <p:spPr>
          <a:xfrm>
            <a:off x="777240" y="5166360"/>
            <a:ext cx="10607040" cy="548640"/>
          </a:xfrm>
          <a:prstGeom prst="rect">
            <a:avLst/>
          </a:prstGeom>
          <a:noFill/>
        </p:spPr>
        <p:txBody>
          <a:bodyPr wrap="square" lIns="0" rIns="0" tIns="0" bIns="0">
            <a:spAutoFit/>
          </a:bodyPr>
          <a:lstStyle/>
          <a:p>
            <a:pPr algn="l">
              <a:lnSpc>
                <a:spcPct val="115000"/>
              </a:lnSpc>
            </a:pPr>
            <a:r>
              <a:rPr sz="2200" b="1">
                <a:solidFill>
                  <a:srgbClr val="1F5673"/>
                </a:solidFill>
                <a:latin typeface="Trebuchet MS"/>
              </a:rPr>
              <a:t>Nesting is solved by construction, not by post-processing.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4 · IMPLEMENTATION (`NER_MODEL.PY`)</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It is one linear layer, not 21 networks</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10637215" cy="153924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none" lIns="237744" tIns="155448"/>
          <a:lstStyle/>
          <a:p>
            <a:pPr algn="l">
              <a:lnSpc>
                <a:spcPct val="132000"/>
              </a:lnSpc>
              <a:spcAft>
                <a:spcPts val="0"/>
              </a:spcAft>
            </a:pPr>
            <a:r>
              <a:rPr sz="1400" b="0">
                <a:solidFill>
                  <a:srgbClr val="1A1A1A"/>
                </a:solidFill>
                <a:latin typeface="Consolas"/>
              </a:rPr>
              <a:t>logits = linear(hidden)              # [B, T, 63]      63 = 21 types x 3 tags</a:t>
            </a:r>
          </a:p>
          <a:p>
            <a:pPr>
              <a:lnSpc>
                <a:spcPct val="132000"/>
              </a:lnSpc>
              <a:spcAft>
                <a:spcPts val="0"/>
              </a:spcAft>
            </a:pPr>
            <a:r>
              <a:rPr sz="1400" b="0">
                <a:solidFill>
                  <a:srgbClr val="1A1A1A"/>
                </a:solidFill>
                <a:latin typeface="Consolas"/>
              </a:rPr>
              <a:t>logits = logits.view(B, T, 21, 3)    # [B, T, 21, 3]</a:t>
            </a:r>
          </a:p>
          <a:p>
            <a:pPr>
              <a:lnSpc>
                <a:spcPct val="132000"/>
              </a:lnSpc>
              <a:spcAft>
                <a:spcPts val="0"/>
              </a:spcAft>
            </a:pPr>
            <a:r>
              <a:rPr sz="1400" b="0">
                <a:solidFill>
                  <a:srgbClr val="1A1A1A"/>
                </a:solidFill>
                <a:latin typeface="Consolas"/>
              </a:rPr>
              <a:t> </a:t>
            </a:r>
          </a:p>
          <a:p>
            <a:pPr>
              <a:lnSpc>
                <a:spcPct val="132000"/>
              </a:lnSpc>
              <a:spcAft>
                <a:spcPts val="0"/>
              </a:spcAft>
            </a:pPr>
            <a:r>
              <a:rPr sz="1400" b="0">
                <a:solidFill>
                  <a:srgbClr val="1A1A1A"/>
                </a:solidFill>
                <a:latin typeface="Consolas"/>
              </a:rPr>
              <a:t># logits[b, t, k, :] = the O / B / I scores for type k at token t</a:t>
            </a:r>
          </a:p>
          <a:p>
            <a:pPr>
              <a:lnSpc>
                <a:spcPct val="132000"/>
              </a:lnSpc>
              <a:spcAft>
                <a:spcPts val="0"/>
              </a:spcAft>
            </a:pPr>
            <a:r>
              <a:rPr sz="1400" b="0">
                <a:solidFill>
                  <a:srgbClr val="1A1A1A"/>
                </a:solidFill>
                <a:latin typeface="Consolas"/>
              </a:rPr>
              <a:t># each group of 3 is an independent softmax</a:t>
            </a:r>
          </a:p>
        </p:txBody>
      </p:sp>
      <p:sp>
        <p:nvSpPr>
          <p:cNvPr id="6" name="TextBox 5"/>
          <p:cNvSpPr txBox="1"/>
          <p:nvPr/>
        </p:nvSpPr>
        <p:spPr>
          <a:xfrm>
            <a:off x="777240" y="3276600"/>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A single </a:t>
            </a:r>
            <a:r>
              <a:rPr sz="1440" b="0">
                <a:solidFill>
                  <a:srgbClr val="1F5673"/>
                </a:solidFill>
                <a:latin typeface="Consolas"/>
              </a:rPr>
              <a:t>nn.Linear(768, 63)</a:t>
            </a:r>
            <a:r>
              <a:rPr sz="1600" b="0">
                <a:solidFill>
                  <a:srgbClr val="6B6B6B"/>
                </a:solidFill>
                <a:latin typeface="Trebuchet MS"/>
              </a:rPr>
              <a:t> on top of the shared encoder, reshaped. That is the entire nested-NER mechanism.</a:t>
            </a:r>
          </a:p>
        </p:txBody>
      </p:sp>
      <p:sp>
        <p:nvSpPr>
          <p:cNvPr id="7" name="Rounded Rectangle 6"/>
          <p:cNvSpPr/>
          <p:nvPr/>
        </p:nvSpPr>
        <p:spPr>
          <a:xfrm>
            <a:off x="777240" y="3967480"/>
            <a:ext cx="3338474" cy="169164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It matches the format</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The official submission format </a:t>
            </a:r>
            <a:r>
              <a:rPr b="1" sz="1400">
                <a:solidFill>
                  <a:srgbClr val="1A1A1A"/>
                </a:solidFill>
                <a:latin typeface="Trebuchet MS"/>
              </a:rPr>
              <a:t>is</a:t>
            </a:r>
            <a:r>
              <a:rPr sz="1400" b="0">
                <a:solidFill>
                  <a:srgbClr val="1A1A1A"/>
                </a:solidFill>
                <a:latin typeface="Trebuchet MS"/>
              </a:rPr>
              <a:t> 21 tag columns per token. No conversion code, so no conversion bugs</a:t>
            </a:r>
          </a:p>
        </p:txBody>
      </p:sp>
      <p:sp>
        <p:nvSpPr>
          <p:cNvPr id="8" name="Rounded Rectangle 7"/>
          <p:cNvSpPr/>
          <p:nvPr/>
        </p:nvSpPr>
        <p:spPr>
          <a:xfrm>
            <a:off x="4426610" y="3967480"/>
            <a:ext cx="3338474" cy="169164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It is cheap</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One encoder pass, one small layer. An MRC-style approach (“where are the ORGs?” asked 21 times) costs </a:t>
            </a:r>
            <a:r>
              <a:rPr b="1" sz="1400">
                <a:solidFill>
                  <a:srgbClr val="1A1A1A"/>
                </a:solidFill>
                <a:latin typeface="Trebuchet MS"/>
              </a:rPr>
              <a:t>21 encoder passes</a:t>
            </a:r>
          </a:p>
        </p:txBody>
      </p:sp>
      <p:sp>
        <p:nvSpPr>
          <p:cNvPr id="9" name="Rounded Rectangle 8"/>
          <p:cNvSpPr/>
          <p:nvPr/>
        </p:nvSpPr>
        <p:spPr>
          <a:xfrm>
            <a:off x="8075980" y="3967480"/>
            <a:ext cx="3338474" cy="169164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The heads share an encoder</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Learning to recognize organizations helps the model represent locations too. This is </a:t>
            </a:r>
            <a:r>
              <a:rPr b="1" sz="1400">
                <a:solidFill>
                  <a:srgbClr val="1A1A1A"/>
                </a:solidFill>
                <a:latin typeface="Trebuchet MS"/>
              </a:rPr>
              <a:t>multi-task learning</a:t>
            </a:r>
          </a:p>
        </p:txBody>
      </p:sp>
      <p:sp>
        <p:nvSpPr>
          <p:cNvPr id="10" name="TextBox 9"/>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11" name="TextBox 10"/>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4 · THE ACCEPTED LIMITATION</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What this architecture cannot do</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It cannot represent </a:t>
            </a:r>
            <a:r>
              <a:rPr b="1" sz="1600">
                <a:solidFill>
                  <a:srgbClr val="6B6B6B"/>
                </a:solidFill>
                <a:latin typeface="Trebuchet MS"/>
              </a:rPr>
              <a:t>two entities of the same type that overlap</a:t>
            </a:r>
            <a:r>
              <a:rPr sz="1600" b="0">
                <a:solidFill>
                  <a:srgbClr val="6B6B6B"/>
                </a:solidFill>
                <a:latin typeface="Trebuchet MS"/>
              </a:rPr>
              <a:t> — an ORG inside another ORG. Both would need the same column, and a column holds one BIO chain.</a:t>
            </a:r>
          </a:p>
        </p:txBody>
      </p:sp>
      <p:sp>
        <p:nvSpPr>
          <p:cNvPr id="6" name="TextBox 5"/>
          <p:cNvSpPr txBox="1"/>
          <p:nvPr/>
        </p:nvSpPr>
        <p:spPr>
          <a:xfrm>
            <a:off x="777240" y="2263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The official 21-column submission format has the </a:t>
            </a:r>
            <a:r>
              <a:rPr b="1" sz="1700">
                <a:solidFill>
                  <a:srgbClr val="1A1A1A"/>
                </a:solidFill>
                <a:latin typeface="Trebuchet MS"/>
              </a:rPr>
              <a:t>same</a:t>
            </a:r>
            <a:r>
              <a:rPr sz="1700" b="0">
                <a:solidFill>
                  <a:srgbClr val="1A1A1A"/>
                </a:solidFill>
                <a:latin typeface="Trebuchet MS"/>
              </a:rPr>
              <a:t> limitation, so no architecture could express it anyway</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The organizers confirmed Konooz contains </a:t>
            </a:r>
            <a:r>
              <a:rPr b="1" sz="1700">
                <a:solidFill>
                  <a:srgbClr val="1A1A1A"/>
                </a:solidFill>
                <a:latin typeface="Trebuchet MS"/>
              </a:rPr>
              <a:t>no</a:t>
            </a:r>
            <a:r>
              <a:rPr sz="1700" b="0">
                <a:solidFill>
                  <a:srgbClr val="1A1A1A"/>
                </a:solidFill>
                <a:latin typeface="Trebuchet MS"/>
              </a:rPr>
              <a:t> same-type nesting</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In Wojood only about </a:t>
            </a:r>
            <a:r>
              <a:rPr b="1" sz="1700">
                <a:solidFill>
                  <a:srgbClr val="1A1A1A"/>
                </a:solidFill>
                <a:latin typeface="Trebuchet MS"/>
              </a:rPr>
              <a:t>576 pairs</a:t>
            </a:r>
            <a:r>
              <a:rPr sz="1700" b="0">
                <a:solidFill>
                  <a:srgbClr val="1A1A1A"/>
                </a:solidFill>
                <a:latin typeface="Trebuchet MS"/>
              </a:rPr>
              <a:t> are affected</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When a collision does occur: keep the outer span, drop the inner, </a:t>
            </a:r>
            <a:r>
              <a:rPr b="1" sz="1700">
                <a:solidFill>
                  <a:srgbClr val="1A1A1A"/>
                </a:solidFill>
                <a:latin typeface="Trebuchet MS"/>
              </a:rPr>
              <a:t>and count the drop</a:t>
            </a:r>
          </a:p>
        </p:txBody>
      </p:sp>
      <p:sp>
        <p:nvSpPr>
          <p:cNvPr id="7" name="Rounded Rectangle 6"/>
          <p:cNvSpPr/>
          <p:nvPr/>
        </p:nvSpPr>
        <p:spPr>
          <a:xfrm>
            <a:off x="777240" y="4165854"/>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THE GENERAL LESSON</a:t>
            </a:r>
          </a:p>
          <a:p>
            <a:pPr>
              <a:lnSpc>
                <a:spcPct val="124000"/>
              </a:lnSpc>
            </a:pPr>
            <a:r>
              <a:rPr sz="1500" b="0">
                <a:solidFill>
                  <a:srgbClr val="1A1A1A"/>
                </a:solidFill>
                <a:latin typeface="Trebuchet MS"/>
              </a:rPr>
              <a:t>Every representation choice forecloses something. Knowing what yours forecloses, and how often it bites, is the difference between a documented limitation and a silent bug. An uncounted approximation is a bug.</a:t>
            </a:r>
          </a:p>
        </p:txBody>
      </p:sp>
      <p:sp>
        <p:nvSpPr>
          <p:cNvPr id="8" name="Rectangle 7"/>
          <p:cNvSpPr/>
          <p:nvPr/>
        </p:nvSpPr>
        <p:spPr>
          <a:xfrm>
            <a:off x="777240" y="4165854"/>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777240" y="1737360"/>
            <a:ext cx="2377440" cy="3175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234440"/>
            <a:ext cx="10637215" cy="365760"/>
          </a:xfrm>
          <a:prstGeom prst="rect">
            <a:avLst/>
          </a:prstGeom>
          <a:noFill/>
        </p:spPr>
        <p:txBody>
          <a:bodyPr wrap="square" lIns="0" rIns="0" tIns="0" bIns="0">
            <a:spAutoFit/>
          </a:bodyPr>
          <a:lstStyle/>
          <a:p>
            <a:r>
              <a:rPr sz="1300" b="1">
                <a:solidFill>
                  <a:srgbClr val="9E4A2B"/>
                </a:solidFill>
                <a:latin typeface="Trebuchet MS"/>
              </a:rPr>
              <a:t>RECURRING THEME</a:t>
            </a:r>
          </a:p>
        </p:txBody>
      </p:sp>
      <p:sp>
        <p:nvSpPr>
          <p:cNvPr id="4" name="TextBox 3"/>
          <p:cNvSpPr txBox="1"/>
          <p:nvPr/>
        </p:nvSpPr>
        <p:spPr>
          <a:xfrm>
            <a:off x="777240" y="2148840"/>
            <a:ext cx="9905695" cy="2743200"/>
          </a:xfrm>
          <a:prstGeom prst="rect">
            <a:avLst/>
          </a:prstGeom>
          <a:noFill/>
        </p:spPr>
        <p:txBody>
          <a:bodyPr wrap="square" lIns="0" rIns="0" tIns="0" bIns="0">
            <a:spAutoFit/>
          </a:bodyPr>
          <a:lstStyle/>
          <a:p>
            <a:pPr>
              <a:lnSpc>
                <a:spcPct val="122000"/>
              </a:lnSpc>
            </a:pPr>
            <a:r>
              <a:rPr sz="3000" b="0">
                <a:solidFill>
                  <a:srgbClr val="1F5673"/>
                </a:solidFill>
                <a:latin typeface="Trebuchet MS"/>
              </a:rPr>
              <a:t>Counting your known failures is not optional.</a:t>
            </a:r>
          </a:p>
        </p:txBody>
      </p:sp>
      <p:sp>
        <p:nvSpPr>
          <p:cNvPr id="5" name="TextBox 4"/>
          <p:cNvSpPr txBox="1"/>
          <p:nvPr/>
        </p:nvSpPr>
        <p:spPr>
          <a:xfrm>
            <a:off x="777240" y="5120640"/>
            <a:ext cx="9905695" cy="731520"/>
          </a:xfrm>
          <a:prstGeom prst="rect">
            <a:avLst/>
          </a:prstGeom>
          <a:noFill/>
        </p:spPr>
        <p:txBody>
          <a:bodyPr wrap="square" lIns="0" rIns="0" tIns="0" bIns="0">
            <a:spAutoFit/>
          </a:bodyPr>
          <a:lstStyle/>
          <a:p>
            <a:pPr>
              <a:lnSpc>
                <a:spcPct val="120000"/>
              </a:lnSpc>
            </a:pPr>
            <a:r>
              <a:rPr sz="1400" b="0">
                <a:solidFill>
                  <a:srgbClr val="6B6B6B"/>
                </a:solidFill>
                <a:latin typeface="Trebuchet MS"/>
              </a:rPr>
              <a:t>It appears four more times in this deck: 201 IOB repairs, 698 dropped overlaps, 187 untyped entity sides, 0 truncated markers. Each one is a number we report precisely so a reader can judge whether it invalidates our conclusions.</a:t>
            </a:r>
          </a:p>
        </p:txBody>
      </p:sp>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5 · THE LOSS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The loss function, in one line</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A </a:t>
            </a:r>
            <a:r>
              <a:rPr b="1" sz="1600">
                <a:solidFill>
                  <a:srgbClr val="6B6B6B"/>
                </a:solidFill>
                <a:latin typeface="Trebuchet MS"/>
              </a:rPr>
              <a:t>loss function</a:t>
            </a:r>
            <a:r>
              <a:rPr sz="1600" b="0">
                <a:solidFill>
                  <a:srgbClr val="6B6B6B"/>
                </a:solidFill>
                <a:latin typeface="Trebuchet MS"/>
              </a:rPr>
              <a:t> measures how wrong the model is; training minimizes it. Ours combines four, following the UM6P&amp;UL system from WojoodNER 2023.</a:t>
            </a:r>
          </a:p>
        </p:txBody>
      </p:sp>
      <p:sp>
        <p:nvSpPr>
          <p:cNvPr id="6" name="Rounded Rectangle 5"/>
          <p:cNvSpPr/>
          <p:nvPr/>
        </p:nvSpPr>
        <p:spPr>
          <a:xfrm>
            <a:off x="777240" y="2263648"/>
            <a:ext cx="10637215" cy="789177"/>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146304"/>
          <a:lstStyle/>
          <a:p>
            <a:pPr algn="ctr">
              <a:lnSpc>
                <a:spcPct val="145000"/>
              </a:lnSpc>
              <a:spcAft>
                <a:spcPts val="0"/>
              </a:spcAft>
            </a:pPr>
            <a:r>
              <a:rPr sz="2200">
                <a:solidFill>
                  <a:srgbClr val="1F5673"/>
                </a:solidFill>
                <a:latin typeface="Cambria"/>
              </a:rPr>
              <a:t>L_head  =  0.4 · CE  +  0.2 · Dice  +  0.2 · Tversky  +  0.2 · Focal</a:t>
            </a:r>
          </a:p>
        </p:txBody>
      </p:sp>
      <p:sp>
        <p:nvSpPr>
          <p:cNvPr id="7" name="TextBox 6"/>
          <p:cNvSpPr txBox="1"/>
          <p:nvPr/>
        </p:nvSpPr>
        <p:spPr>
          <a:xfrm>
            <a:off x="777240" y="3235706"/>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Why four? Because they </a:t>
            </a:r>
            <a:r>
              <a:rPr b="1" sz="1600">
                <a:solidFill>
                  <a:srgbClr val="6B6B6B"/>
                </a:solidFill>
                <a:latin typeface="Trebuchet MS"/>
              </a:rPr>
              <a:t>fail differently</a:t>
            </a:r>
            <a:r>
              <a:rPr sz="1600" b="0">
                <a:solidFill>
                  <a:srgbClr val="6B6B6B"/>
                </a:solidFill>
                <a:latin typeface="Trebuchet MS"/>
              </a:rPr>
              <a:t>, and the thing they are all fighting is the same: class imbalance.</a:t>
            </a:r>
          </a:p>
        </p:txBody>
      </p:sp>
      <p:sp>
        <p:nvSpPr>
          <p:cNvPr id="8" name="Rounded Rectangle 7"/>
          <p:cNvSpPr/>
          <p:nvPr/>
        </p:nvSpPr>
        <p:spPr>
          <a:xfrm>
            <a:off x="777240" y="3926586"/>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THE IMBALANCE, CONCRETELY</a:t>
            </a:r>
          </a:p>
          <a:p>
            <a:pPr>
              <a:lnSpc>
                <a:spcPct val="124000"/>
              </a:lnSpc>
            </a:pPr>
            <a:r>
              <a:rPr sz="1500" b="0">
                <a:solidFill>
                  <a:srgbClr val="1A1A1A"/>
                </a:solidFill>
                <a:latin typeface="Trebuchet MS"/>
              </a:rPr>
              <a:t>In any NER dataset </a:t>
            </a:r>
            <a:r>
              <a:rPr sz="1350" b="0">
                <a:solidFill>
                  <a:srgbClr val="1F5673"/>
                </a:solidFill>
                <a:latin typeface="Consolas"/>
              </a:rPr>
              <a:t>O</a:t>
            </a:r>
            <a:r>
              <a:rPr sz="1500" b="0">
                <a:solidFill>
                  <a:srgbClr val="1A1A1A"/>
                </a:solidFill>
                <a:latin typeface="Trebuchet MS"/>
              </a:rPr>
              <a:t> massively outnumbers </a:t>
            </a:r>
            <a:r>
              <a:rPr sz="1350" b="0">
                <a:solidFill>
                  <a:srgbClr val="1F5673"/>
                </a:solidFill>
                <a:latin typeface="Consolas"/>
              </a:rPr>
              <a:t>B</a:t>
            </a:r>
            <a:r>
              <a:rPr sz="1500" b="0">
                <a:solidFill>
                  <a:srgbClr val="1A1A1A"/>
                </a:solidFill>
                <a:latin typeface="Trebuchet MS"/>
              </a:rPr>
              <a:t> and </a:t>
            </a:r>
            <a:r>
              <a:rPr sz="1350" b="0">
                <a:solidFill>
                  <a:srgbClr val="1F5673"/>
                </a:solidFill>
                <a:latin typeface="Consolas"/>
              </a:rPr>
              <a:t>I</a:t>
            </a:r>
            <a:r>
              <a:rPr sz="1500" b="0">
                <a:solidFill>
                  <a:srgbClr val="1A1A1A"/>
                </a:solidFill>
                <a:latin typeface="Trebuchet MS"/>
              </a:rPr>
              <a:t>. In our per-type formulation it is far worse: for the WEBSITE column, almost every token in the corpus is </a:t>
            </a:r>
            <a:r>
              <a:rPr sz="1350" b="0">
                <a:solidFill>
                  <a:srgbClr val="1F5673"/>
                </a:solidFill>
                <a:latin typeface="Consolas"/>
              </a:rPr>
              <a:t>O</a:t>
            </a:r>
            <a:r>
              <a:rPr sz="1500" b="0">
                <a:solidFill>
                  <a:srgbClr val="1A1A1A"/>
                </a:solidFill>
                <a:latin typeface="Trebuchet MS"/>
              </a:rPr>
              <a:t>. A model that predicts </a:t>
            </a:r>
            <a:r>
              <a:rPr sz="1350" b="0">
                <a:solidFill>
                  <a:srgbClr val="1F5673"/>
                </a:solidFill>
                <a:latin typeface="Consolas"/>
              </a:rPr>
              <a:t>O</a:t>
            </a:r>
            <a:r>
              <a:rPr sz="1500" b="0">
                <a:solidFill>
                  <a:srgbClr val="1A1A1A"/>
                </a:solidFill>
                <a:latin typeface="Trebuchet MS"/>
              </a:rPr>
              <a:t> everywhere in that column scores 99.9% accuracy and is completely useless.</a:t>
            </a:r>
          </a:p>
        </p:txBody>
      </p:sp>
      <p:sp>
        <p:nvSpPr>
          <p:cNvPr id="9" name="Rectangle 8"/>
          <p:cNvSpPr/>
          <p:nvPr/>
        </p:nvSpPr>
        <p:spPr>
          <a:xfrm>
            <a:off x="777240" y="3926586"/>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11" name="TextBox 10"/>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5 · TWO OF THE FOUR TERMS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Cross-entropy and Dice</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5163159" cy="320040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Cross-entropy: the baseline</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For the correct class with predicted probability </a:t>
            </a:r>
            <a:r>
              <a:rPr i="1" b="0" sz="1450">
                <a:solidFill>
                  <a:srgbClr val="1A1A1A"/>
                </a:solidFill>
                <a:latin typeface="Trebuchet MS"/>
              </a:rPr>
              <a:t>p</a:t>
            </a:r>
            <a:r>
              <a:rPr sz="1450" b="0">
                <a:solidFill>
                  <a:srgbClr val="1A1A1A"/>
                </a:solidFill>
                <a:latin typeface="Trebuchet MS"/>
              </a:rPr>
              <a:t>, the loss is </a:t>
            </a:r>
            <a:r>
              <a:rPr b="1" sz="1450">
                <a:solidFill>
                  <a:srgbClr val="1A1A1A"/>
                </a:solidFill>
                <a:latin typeface="Trebuchet MS"/>
              </a:rPr>
              <a:t>−log p</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Confident and correct → near zero. Confident and wrong → large penalty</a:t>
            </a:r>
          </a:p>
          <a:p>
            <a:pPr marL="182880" indent="-182880">
              <a:lnSpc>
                <a:spcPct val="120000"/>
              </a:lnSpc>
              <a:spcAft>
                <a:spcPts val="700"/>
              </a:spcAft>
            </a:pPr>
            <a:r>
              <a:rPr sz="1400">
                <a:solidFill>
                  <a:srgbClr val="9E4A2B"/>
                </a:solidFill>
                <a:latin typeface="Trebuchet MS"/>
              </a:rPr>
              <a:t>·  </a:t>
            </a:r>
            <a:r>
              <a:rPr b="1" sz="1450">
                <a:solidFill>
                  <a:srgbClr val="1A1A1A"/>
                </a:solidFill>
                <a:latin typeface="Trebuchet MS"/>
              </a:rPr>
              <a:t>Weakness:</a:t>
            </a:r>
            <a:r>
              <a:rPr sz="1450" b="0">
                <a:solidFill>
                  <a:srgbClr val="1A1A1A"/>
                </a:solidFill>
                <a:latin typeface="Trebuchet MS"/>
              </a:rPr>
              <a:t> it optimizes </a:t>
            </a:r>
            <a:r>
              <a:rPr i="1" b="0" sz="1450">
                <a:solidFill>
                  <a:srgbClr val="1A1A1A"/>
                </a:solidFill>
                <a:latin typeface="Trebuchet MS"/>
              </a:rPr>
              <a:t>average per-token correctness</a:t>
            </a:r>
            <a:r>
              <a:rPr sz="1450" b="0">
                <a:solidFill>
                  <a:srgbClr val="1A1A1A"/>
                </a:solidFill>
                <a:latin typeface="Trebuchet MS"/>
              </a:rPr>
              <a:t>. With 99.9% </a:t>
            </a:r>
            <a:r>
              <a:rPr sz="1305" b="0">
                <a:solidFill>
                  <a:srgbClr val="1F5673"/>
                </a:solidFill>
                <a:latin typeface="Consolas"/>
              </a:rPr>
              <a:t>O</a:t>
            </a:r>
            <a:r>
              <a:rPr sz="1450" b="0">
                <a:solidFill>
                  <a:srgbClr val="1A1A1A"/>
                </a:solidFill>
                <a:latin typeface="Trebuchet MS"/>
              </a:rPr>
              <a:t> tokens, predicting all-</a:t>
            </a:r>
            <a:r>
              <a:rPr sz="1305" b="0">
                <a:solidFill>
                  <a:srgbClr val="1F5673"/>
                </a:solidFill>
                <a:latin typeface="Consolas"/>
              </a:rPr>
              <a:t>O</a:t>
            </a:r>
            <a:r>
              <a:rPr sz="1450" b="0">
                <a:solidFill>
                  <a:srgbClr val="1A1A1A"/>
                </a:solidFill>
                <a:latin typeface="Trebuchet MS"/>
              </a:rPr>
              <a:t> is an excellent CE solution</a:t>
            </a:r>
          </a:p>
        </p:txBody>
      </p:sp>
      <p:sp>
        <p:nvSpPr>
          <p:cNvPr id="6" name="Rounded Rectangle 5"/>
          <p:cNvSpPr/>
          <p:nvPr/>
        </p:nvSpPr>
        <p:spPr>
          <a:xfrm>
            <a:off x="6251295" y="1572768"/>
            <a:ext cx="5163159" cy="3200400"/>
          </a:xfrm>
          <a:prstGeom prst="roundRect">
            <a:avLst>
              <a:gd name="adj" fmla="val 3000"/>
            </a:avLst>
          </a:prstGeom>
          <a:solidFill>
            <a:srgbClr val="FBE9C8"/>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Dice: optimizing overlap instead</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The Dice coefficient measures overlap between predicted and true sets</a:t>
            </a:r>
          </a:p>
          <a:p>
            <a:pPr marL="182880" indent="-182880">
              <a:lnSpc>
                <a:spcPct val="120000"/>
              </a:lnSpc>
              <a:spcAft>
                <a:spcPts val="700"/>
              </a:spcAft>
            </a:pPr>
            <a:r>
              <a:rPr sz="1400">
                <a:solidFill>
                  <a:srgbClr val="9E4A2B"/>
                </a:solidFill>
                <a:latin typeface="Trebuchet MS"/>
              </a:rPr>
              <a:t>·  </a:t>
            </a:r>
            <a:r>
              <a:rPr b="1" sz="1450">
                <a:solidFill>
                  <a:srgbClr val="1A1A1A"/>
                </a:solidFill>
                <a:latin typeface="Trebuchet MS"/>
              </a:rPr>
              <a:t>Dice = 2|A ∩ B| / (|A| + |B|)</a:t>
            </a:r>
            <a:r>
              <a:rPr sz="1450" b="0">
                <a:solidFill>
                  <a:srgbClr val="1A1A1A"/>
                </a:solidFill>
                <a:latin typeface="Trebuchet MS"/>
              </a:rPr>
              <a:t>, which is exactly F1 in set form</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Since we are </a:t>
            </a:r>
            <a:r>
              <a:rPr i="1" b="0" sz="1450">
                <a:solidFill>
                  <a:srgbClr val="1A1A1A"/>
                </a:solidFill>
                <a:latin typeface="Trebuchet MS"/>
              </a:rPr>
              <a:t>evaluated</a:t>
            </a:r>
            <a:r>
              <a:rPr sz="1450" b="0">
                <a:solidFill>
                  <a:srgbClr val="1A1A1A"/>
                </a:solidFill>
                <a:latin typeface="Trebuchet MS"/>
              </a:rPr>
              <a:t> on F1, optimizing an F1-shaped objective is the natural move. Loss = 1 − Dice</a:t>
            </a:r>
          </a:p>
          <a:p>
            <a:pPr marL="182880" indent="-182880">
              <a:lnSpc>
                <a:spcPct val="120000"/>
              </a:lnSpc>
              <a:spcAft>
                <a:spcPts val="700"/>
              </a:spcAft>
            </a:pPr>
            <a:r>
              <a:rPr sz="1400">
                <a:solidFill>
                  <a:srgbClr val="9E4A2B"/>
                </a:solidFill>
                <a:latin typeface="Trebuchet MS"/>
              </a:rPr>
              <a:t>·  </a:t>
            </a:r>
            <a:r>
              <a:rPr b="1" sz="1450">
                <a:solidFill>
                  <a:srgbClr val="1A1A1A"/>
                </a:solidFill>
                <a:latin typeface="Trebuchet MS"/>
              </a:rPr>
              <a:t>Normalized by set size</a:t>
            </a:r>
            <a:r>
              <a:rPr sz="1450" b="0">
                <a:solidFill>
                  <a:srgbClr val="1A1A1A"/>
                </a:solidFill>
                <a:latin typeface="Trebuchet MS"/>
              </a:rPr>
              <a:t>, so a rare type contributes as much as a frequent one</a:t>
            </a:r>
          </a:p>
        </p:txBody>
      </p:sp>
      <p:sp>
        <p:nvSpPr>
          <p:cNvPr id="7" name="TextBox 6"/>
          <p:cNvSpPr txBox="1"/>
          <p:nvPr/>
        </p:nvSpPr>
        <p:spPr>
          <a:xfrm>
            <a:off x="777240" y="4974336"/>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The all-</a:t>
            </a:r>
            <a:r>
              <a:rPr sz="1440" b="0">
                <a:solidFill>
                  <a:srgbClr val="1F5673"/>
                </a:solidFill>
                <a:latin typeface="Consolas"/>
              </a:rPr>
              <a:t>O</a:t>
            </a:r>
            <a:r>
              <a:rPr sz="1600" b="0">
                <a:solidFill>
                  <a:srgbClr val="6B6B6B"/>
                </a:solidFill>
                <a:latin typeface="Trebuchet MS"/>
              </a:rPr>
              <a:t> solution scores terribly on Dice, because the intersection is empty. To keep it differentiable we use predicted </a:t>
            </a:r>
            <a:r>
              <a:rPr i="1" b="0" sz="1600">
                <a:solidFill>
                  <a:srgbClr val="6B6B6B"/>
                </a:solidFill>
                <a:latin typeface="Trebuchet MS"/>
              </a:rPr>
              <a:t>probabilities</a:t>
            </a:r>
            <a:r>
              <a:rPr sz="1600" b="0">
                <a:solidFill>
                  <a:srgbClr val="6B6B6B"/>
                </a:solidFill>
                <a:latin typeface="Trebuchet MS"/>
              </a:rPr>
              <a:t> rather than hard decisions (a “soft” Dice).</a:t>
            </a:r>
          </a:p>
        </p:txBody>
      </p:sp>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5 · THE PRECISION/RECALL DIAL</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Tversky: asymmetric overlap</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10637215" cy="770763"/>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146304"/>
          <a:lstStyle/>
          <a:p>
            <a:pPr algn="ctr">
              <a:lnSpc>
                <a:spcPct val="145000"/>
              </a:lnSpc>
              <a:spcAft>
                <a:spcPts val="0"/>
              </a:spcAft>
            </a:pPr>
            <a:r>
              <a:rPr sz="2100">
                <a:solidFill>
                  <a:srgbClr val="1F5673"/>
                </a:solidFill>
                <a:latin typeface="Cambria"/>
              </a:rPr>
              <a:t>Tversky  =  TP / ( TP  +  α · FP  +  (1−α) · FN )</a:t>
            </a:r>
          </a:p>
        </p:txBody>
      </p:sp>
      <p:sp>
        <p:nvSpPr>
          <p:cNvPr id="6" name="TextBox 5"/>
          <p:cNvSpPr txBox="1"/>
          <p:nvPr/>
        </p:nvSpPr>
        <p:spPr>
          <a:xfrm>
            <a:off x="777240" y="2526411"/>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α &gt; 0.5</a:t>
            </a:r>
            <a:r>
              <a:rPr sz="1700" b="0">
                <a:solidFill>
                  <a:srgbClr val="1A1A1A"/>
                </a:solidFill>
                <a:latin typeface="Trebuchet MS"/>
              </a:rPr>
              <a:t> — penalize false positives more, pushing toward </a:t>
            </a:r>
            <a:r>
              <a:rPr b="1" sz="1700">
                <a:solidFill>
                  <a:srgbClr val="1A1A1A"/>
                </a:solidFill>
                <a:latin typeface="Trebuchet MS"/>
              </a:rPr>
              <a:t>precision</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α &lt; 0.5</a:t>
            </a:r>
            <a:r>
              <a:rPr sz="1700" b="0">
                <a:solidFill>
                  <a:srgbClr val="1A1A1A"/>
                </a:solidFill>
                <a:latin typeface="Trebuchet MS"/>
              </a:rPr>
              <a:t> — penalize false negatives more, pushing toward </a:t>
            </a:r>
            <a:r>
              <a:rPr b="1" sz="1700">
                <a:solidFill>
                  <a:srgbClr val="1A1A1A"/>
                </a:solidFill>
                <a:latin typeface="Trebuchet MS"/>
              </a:rPr>
              <a:t>recall</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α = 0.5</a:t>
            </a:r>
            <a:r>
              <a:rPr sz="1700" b="0">
                <a:solidFill>
                  <a:srgbClr val="1A1A1A"/>
                </a:solidFill>
                <a:latin typeface="Trebuchet MS"/>
              </a:rPr>
              <a:t> — symmetric, and mathematically </a:t>
            </a:r>
            <a:r>
              <a:rPr b="1" sz="1700">
                <a:solidFill>
                  <a:srgbClr val="1A1A1A"/>
                </a:solidFill>
                <a:latin typeface="Trebuchet MS"/>
              </a:rPr>
              <a:t>equivalent to Dice</a:t>
            </a:r>
          </a:p>
        </p:txBody>
      </p:sp>
      <p:sp>
        <p:nvSpPr>
          <p:cNvPr id="7" name="Rounded Rectangle 6"/>
          <p:cNvSpPr/>
          <p:nvPr/>
        </p:nvSpPr>
        <p:spPr>
          <a:xfrm>
            <a:off x="777240" y="3787520"/>
            <a:ext cx="10637215" cy="183946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AN HONEST OBSERVATION, FOUND BY AUDITING OUR OWN CODE</a:t>
            </a:r>
          </a:p>
          <a:p>
            <a:pPr>
              <a:lnSpc>
                <a:spcPct val="124000"/>
              </a:lnSpc>
            </a:pPr>
            <a:r>
              <a:rPr sz="1500" b="0">
                <a:solidFill>
                  <a:srgbClr val="1A1A1A"/>
                </a:solidFill>
                <a:latin typeface="Trebuchet MS"/>
              </a:rPr>
              <a:t>We use α = 0.5, which makes the Tversky term equivalent to a linear Dice. Our Dice term uses the squared-denominator (V-Net) variant, so the two are not literally identical, but they measure the same thing and are highly correlated. In effect our loss is closer to “0.4 CE + 0.4 Dice-ish + 0.2 Focal” than to four independent objectives. We inherited the recipe from a system reporting +1.18 F1 with it, and did not ablate it.</a:t>
            </a:r>
          </a:p>
        </p:txBody>
      </p:sp>
      <p:sp>
        <p:nvSpPr>
          <p:cNvPr id="8" name="Rectangle 7"/>
          <p:cNvSpPr/>
          <p:nvPr/>
        </p:nvSpPr>
        <p:spPr>
          <a:xfrm>
            <a:off x="777240" y="3787520"/>
            <a:ext cx="44450" cy="183946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777240" y="1737360"/>
            <a:ext cx="2377440" cy="3175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234440"/>
            <a:ext cx="10637215" cy="365760"/>
          </a:xfrm>
          <a:prstGeom prst="rect">
            <a:avLst/>
          </a:prstGeom>
          <a:noFill/>
        </p:spPr>
        <p:txBody>
          <a:bodyPr wrap="square" lIns="0" rIns="0" tIns="0" bIns="0">
            <a:spAutoFit/>
          </a:bodyPr>
          <a:lstStyle/>
          <a:p>
            <a:r>
              <a:rPr sz="1300" b="1">
                <a:solidFill>
                  <a:srgbClr val="9E4A2B"/>
                </a:solidFill>
                <a:latin typeface="Trebuchet MS"/>
              </a:rPr>
              <a:t>THE MOST INTERESTING UNEXPLORED KNOB IN OUR SYSTEM</a:t>
            </a:r>
          </a:p>
        </p:txBody>
      </p:sp>
      <p:sp>
        <p:nvSpPr>
          <p:cNvPr id="4" name="TextBox 3"/>
          <p:cNvSpPr txBox="1"/>
          <p:nvPr/>
        </p:nvSpPr>
        <p:spPr>
          <a:xfrm>
            <a:off x="777240" y="2148840"/>
            <a:ext cx="9905695" cy="2743200"/>
          </a:xfrm>
          <a:prstGeom prst="rect">
            <a:avLst/>
          </a:prstGeom>
          <a:noFill/>
        </p:spPr>
        <p:txBody>
          <a:bodyPr wrap="square" lIns="0" rIns="0" tIns="0" bIns="0">
            <a:spAutoFit/>
          </a:bodyPr>
          <a:lstStyle/>
          <a:p>
            <a:pPr>
              <a:lnSpc>
                <a:spcPct val="122000"/>
              </a:lnSpc>
            </a:pPr>
            <a:r>
              <a:rPr sz="3000" b="0">
                <a:solidFill>
                  <a:srgbClr val="1F5673"/>
                </a:solidFill>
                <a:latin typeface="Trebuchet MS"/>
              </a:rPr>
              <a:t>Our biggest weakness is recall collapse under domain shift. Tversky's α is precisely the dial for trading precision against recall, and we left it at neutral.</a:t>
            </a:r>
          </a:p>
        </p:txBody>
      </p:sp>
      <p:sp>
        <p:nvSpPr>
          <p:cNvPr id="5" name="TextBox 4"/>
          <p:cNvSpPr txBox="1"/>
          <p:nvPr/>
        </p:nvSpPr>
        <p:spPr>
          <a:xfrm>
            <a:off x="777240" y="5120640"/>
            <a:ext cx="9905695" cy="731520"/>
          </a:xfrm>
          <a:prstGeom prst="rect">
            <a:avLst/>
          </a:prstGeom>
          <a:noFill/>
        </p:spPr>
        <p:txBody>
          <a:bodyPr wrap="square" lIns="0" rIns="0" tIns="0" bIns="0">
            <a:spAutoFit/>
          </a:bodyPr>
          <a:lstStyle/>
          <a:p>
            <a:pPr>
              <a:lnSpc>
                <a:spcPct val="120000"/>
              </a:lnSpc>
            </a:pPr>
            <a:r>
              <a:rPr sz="1400" b="0">
                <a:solidFill>
                  <a:srgbClr val="6B6B6B"/>
                </a:solidFill>
                <a:latin typeface="Trebuchet MS"/>
              </a:rPr>
              <a:t>Trying </a:t>
            </a:r>
            <a:r>
              <a:rPr b="1" sz="1400">
                <a:solidFill>
                  <a:srgbClr val="6B6B6B"/>
                </a:solidFill>
                <a:latin typeface="Trebuchet MS"/>
              </a:rPr>
              <a:t>α = 0.3</a:t>
            </a:r>
            <a:r>
              <a:rPr sz="1400" b="0">
                <a:solidFill>
                  <a:srgbClr val="6B6B6B"/>
                </a:solidFill>
                <a:latin typeface="Trebuchet MS"/>
              </a:rPr>
              <a:t> is an obvious experiment, cheap to run, and a good first contribution for a new team member. See Part IV for why recall is the deficit.</a:t>
            </a:r>
          </a:p>
        </p:txBody>
      </p:sp>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5 · THE LAST TERM, AND THE CLEVER PART</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Focal loss, and the variance penalty</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5163159" cy="338328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Focal: focus on hard examples</a:t>
            </a:r>
          </a:p>
          <a:p>
            <a:pPr marL="182880" indent="-182880">
              <a:lnSpc>
                <a:spcPct val="120000"/>
              </a:lnSpc>
              <a:spcAft>
                <a:spcPts val="700"/>
              </a:spcAft>
            </a:pPr>
            <a:r>
              <a:rPr sz="1400">
                <a:solidFill>
                  <a:srgbClr val="9E4A2B"/>
                </a:solidFill>
                <a:latin typeface="Trebuchet MS"/>
              </a:rPr>
              <a:t>·  </a:t>
            </a:r>
            <a:r>
              <a:rPr b="1" sz="1450">
                <a:solidFill>
                  <a:srgbClr val="1A1A1A"/>
                </a:solidFill>
                <a:latin typeface="Trebuchet MS"/>
              </a:rPr>
              <a:t>Focal = (1 − p_t)^γ · (−log p_t)</a:t>
            </a:r>
            <a:r>
              <a:rPr sz="1450" b="0">
                <a:solidFill>
                  <a:srgbClr val="1A1A1A"/>
                </a:solidFill>
                <a:latin typeface="Trebuchet MS"/>
              </a:rPr>
              <a:t>, with γ = 2</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Read the multiplier: at p_t = 0.99, (1−0.99)² = 0.0001, so an easy example contributes almost nothing</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At p_t = 0.1 the multiplier is 0.81, nearly full weight</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Effort concentrates on hard cases instead of being swamped by millions of easy </a:t>
            </a:r>
            <a:r>
              <a:rPr sz="1305" b="0">
                <a:solidFill>
                  <a:srgbClr val="1F5673"/>
                </a:solidFill>
                <a:latin typeface="Consolas"/>
              </a:rPr>
              <a:t>O</a:t>
            </a:r>
            <a:r>
              <a:rPr sz="1450" b="0">
                <a:solidFill>
                  <a:srgbClr val="1A1A1A"/>
                </a:solidFill>
                <a:latin typeface="Trebuchet MS"/>
              </a:rPr>
              <a:t> tokens</a:t>
            </a:r>
          </a:p>
        </p:txBody>
      </p:sp>
      <p:sp>
        <p:nvSpPr>
          <p:cNvPr id="6" name="Rounded Rectangle 5"/>
          <p:cNvSpPr/>
          <p:nvPr/>
        </p:nvSpPr>
        <p:spPr>
          <a:xfrm>
            <a:off x="6251295" y="1572768"/>
            <a:ext cx="5163159" cy="3383280"/>
          </a:xfrm>
          <a:prstGeom prst="roundRect">
            <a:avLst>
              <a:gd name="adj" fmla="val 3000"/>
            </a:avLst>
          </a:prstGeom>
          <a:solidFill>
            <a:srgbClr val="FBE9C8"/>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Variance: a fairness constraint</a:t>
            </a:r>
          </a:p>
          <a:p>
            <a:pPr marL="182880" indent="-182880">
              <a:lnSpc>
                <a:spcPct val="120000"/>
              </a:lnSpc>
              <a:spcAft>
                <a:spcPts val="700"/>
              </a:spcAft>
            </a:pPr>
            <a:r>
              <a:rPr sz="1400">
                <a:solidFill>
                  <a:srgbClr val="9E4A2B"/>
                </a:solidFill>
                <a:latin typeface="Trebuchet MS"/>
              </a:rPr>
              <a:t>·  </a:t>
            </a:r>
            <a:r>
              <a:rPr b="1" sz="1450">
                <a:solidFill>
                  <a:srgbClr val="1A1A1A"/>
                </a:solidFill>
                <a:latin typeface="Trebuchet MS"/>
              </a:rPr>
              <a:t>L_total = mean(L_heads) + 5.0 · Var(L_heads)</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Averaging lets the model trade gains on frequent types (PERS, ORG, GPE) against neglecting rare ones (WEBSITE, LAW, UNIT)</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The average would look fine while several heads never learned anything</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The variance term punishes </a:t>
            </a:r>
            <a:r>
              <a:rPr b="1" sz="1450">
                <a:solidFill>
                  <a:srgbClr val="1A1A1A"/>
                </a:solidFill>
                <a:latin typeface="Trebuchet MS"/>
              </a:rPr>
              <a:t>disagreement between heads</a:t>
            </a:r>
            <a:r>
              <a:rPr sz="1450" b="0">
                <a:solidFill>
                  <a:srgbClr val="1A1A1A"/>
                </a:solidFill>
                <a:latin typeface="Trebuchet MS"/>
              </a:rPr>
              <a:t>. The only way to reduce it is to bring the straggler up</a:t>
            </a:r>
          </a:p>
        </p:txBody>
      </p:sp>
      <p:sp>
        <p:nvSpPr>
          <p:cNvPr id="7" name="TextBox 6"/>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8" name="TextBox 7"/>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777240" y="1737360"/>
            <a:ext cx="2377440" cy="3175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234440"/>
            <a:ext cx="10637215" cy="365760"/>
          </a:xfrm>
          <a:prstGeom prst="rect">
            <a:avLst/>
          </a:prstGeom>
          <a:noFill/>
        </p:spPr>
        <p:txBody>
          <a:bodyPr wrap="square" lIns="0" rIns="0" tIns="0" bIns="0">
            <a:spAutoFit/>
          </a:bodyPr>
          <a:lstStyle/>
          <a:p>
            <a:r>
              <a:rPr sz="1300" b="1">
                <a:solidFill>
                  <a:srgbClr val="9E4A2B"/>
                </a:solidFill>
                <a:latin typeface="Trebuchet MS"/>
              </a:rPr>
              <a:t>GENUINELY TRANSFERABLE</a:t>
            </a:r>
          </a:p>
        </p:txBody>
      </p:sp>
      <p:sp>
        <p:nvSpPr>
          <p:cNvPr id="4" name="TextBox 3"/>
          <p:cNvSpPr txBox="1"/>
          <p:nvPr/>
        </p:nvSpPr>
        <p:spPr>
          <a:xfrm>
            <a:off x="777240" y="2148840"/>
            <a:ext cx="9905695" cy="2743200"/>
          </a:xfrm>
          <a:prstGeom prst="rect">
            <a:avLst/>
          </a:prstGeom>
          <a:noFill/>
        </p:spPr>
        <p:txBody>
          <a:bodyPr wrap="square" lIns="0" rIns="0" tIns="0" bIns="0">
            <a:spAutoFit/>
          </a:bodyPr>
          <a:lstStyle/>
          <a:p>
            <a:pPr>
              <a:lnSpc>
                <a:spcPct val="122000"/>
              </a:lnSpc>
            </a:pPr>
            <a:r>
              <a:rPr sz="3000" b="0">
                <a:solidFill>
                  <a:srgbClr val="1F5673"/>
                </a:solidFill>
                <a:latin typeface="Trebuchet MS"/>
              </a:rPr>
              <a:t>When your loss is a sum over sub-problems you care about individually, penalize the variance, not just the mean.</a:t>
            </a:r>
          </a:p>
        </p:txBody>
      </p:sp>
      <p:sp>
        <p:nvSpPr>
          <p:cNvPr id="5" name="TextBox 4"/>
          <p:cNvSpPr txBox="1"/>
          <p:nvPr/>
        </p:nvSpPr>
        <p:spPr>
          <a:xfrm>
            <a:off x="777240" y="5120640"/>
            <a:ext cx="9905695" cy="731520"/>
          </a:xfrm>
          <a:prstGeom prst="rect">
            <a:avLst/>
          </a:prstGeom>
          <a:noFill/>
        </p:spPr>
        <p:txBody>
          <a:bodyPr wrap="square" lIns="0" rIns="0" tIns="0" bIns="0">
            <a:spAutoFit/>
          </a:bodyPr>
          <a:lstStyle/>
          <a:p>
            <a:pPr>
              <a:lnSpc>
                <a:spcPct val="120000"/>
              </a:lnSpc>
            </a:pPr>
            <a:r>
              <a:rPr sz="1400" b="0">
                <a:solidFill>
                  <a:srgbClr val="6B6B6B"/>
                </a:solidFill>
                <a:latin typeface="Trebuchet MS"/>
              </a:rPr>
              <a:t>With weight 5.0, ours is a strong constraint. It is the difference between “the model is good on average” and “the model works across the board”.</a:t>
            </a:r>
          </a:p>
        </p:txBody>
      </p:sp>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5 · FP16 AND FP32</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One implementation detail worth knowing</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The loss is computed in </a:t>
            </a:r>
            <a:r>
              <a:rPr b="1" sz="1600">
                <a:solidFill>
                  <a:srgbClr val="6B6B6B"/>
                </a:solidFill>
                <a:latin typeface="Trebuchet MS"/>
              </a:rPr>
              <a:t>fp32 even though training runs in fp16</a:t>
            </a:r>
            <a:r>
              <a:rPr sz="1600" b="0">
                <a:solidFill>
                  <a:srgbClr val="6B6B6B"/>
                </a:solidFill>
                <a:latin typeface="Trebuchet MS"/>
              </a:rPr>
              <a:t> (</a:t>
            </a:r>
            <a:r>
              <a:rPr sz="1440" b="0">
                <a:solidFill>
                  <a:srgbClr val="1F5673"/>
                </a:solidFill>
                <a:latin typeface="Consolas"/>
              </a:rPr>
              <a:t>ner_model.py</a:t>
            </a:r>
            <a:r>
              <a:rPr sz="1600" b="0">
                <a:solidFill>
                  <a:srgbClr val="6B6B6B"/>
                </a:solidFill>
                <a:latin typeface="Trebuchet MS"/>
              </a:rPr>
              <a:t>).</a:t>
            </a:r>
          </a:p>
        </p:txBody>
      </p:sp>
      <p:sp>
        <p:nvSpPr>
          <p:cNvPr id="6" name="TextBox 5"/>
          <p:cNvSpPr txBox="1"/>
          <p:nvPr/>
        </p:nvSpPr>
        <p:spPr>
          <a:xfrm>
            <a:off x="777240" y="2009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Mixed-precision training uses 16-bit floats for speed</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But Dice and Tversky </a:t>
            </a:r>
            <a:r>
              <a:rPr b="1" sz="1700">
                <a:solidFill>
                  <a:srgbClr val="1A1A1A"/>
                </a:solidFill>
                <a:latin typeface="Trebuchet MS"/>
              </a:rPr>
              <a:t>sum over the entire batch</a:t>
            </a:r>
            <a:r>
              <a:rPr sz="1700" b="0">
                <a:solidFill>
                  <a:srgbClr val="1A1A1A"/>
                </a:solidFill>
                <a:latin typeface="Trebuchet MS"/>
              </a:rPr>
              <a:t>, and long sums of small 16-bit numbers lose precision catastrophically</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CE and focal are per-token means and tolerate fp16 fine; the set-level losses do not</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Casting just the loss computation to fp32 costs nothing measurable</a:t>
            </a:r>
          </a:p>
        </p:txBody>
      </p:sp>
      <p:sp>
        <p:nvSpPr>
          <p:cNvPr id="7" name="Rounded Rectangle 6"/>
          <p:cNvSpPr/>
          <p:nvPr/>
        </p:nvSpPr>
        <p:spPr>
          <a:xfrm>
            <a:off x="777240" y="3911854"/>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WHY THIS IS WORTH INTERNALIZING</a:t>
            </a:r>
          </a:p>
          <a:p>
            <a:pPr>
              <a:lnSpc>
                <a:spcPct val="124000"/>
              </a:lnSpc>
            </a:pPr>
            <a:r>
              <a:rPr sz="1500" b="0">
                <a:solidFill>
                  <a:srgbClr val="1A1A1A"/>
                </a:solidFill>
                <a:latin typeface="Trebuchet MS"/>
              </a:rPr>
              <a:t>The failure mode here is silent. Nothing crashes, nothing warns; your loss is just quietly wrong, and you spend a week blaming the architecture. Whenever you reduce over a large axis in low precision, ask what the accumulator is.</a:t>
            </a:r>
          </a:p>
        </p:txBody>
      </p:sp>
      <p:sp>
        <p:nvSpPr>
          <p:cNvPr id="8" name="Rectangle 7"/>
          <p:cNvSpPr/>
          <p:nvPr/>
        </p:nvSpPr>
        <p:spPr>
          <a:xfrm>
            <a:off x="777240" y="3911854"/>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6 · DECODING</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Decoding: from model outputs back to entities</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For each of the 21 columns independently (</a:t>
            </a:r>
            <a:r>
              <a:rPr sz="1440" b="0">
                <a:solidFill>
                  <a:srgbClr val="1F5673"/>
                </a:solidFill>
                <a:latin typeface="Consolas"/>
              </a:rPr>
              <a:t>spans.py</a:t>
            </a:r>
            <a:r>
              <a:rPr sz="1600" b="0">
                <a:solidFill>
                  <a:srgbClr val="6B6B6B"/>
                </a:solidFill>
                <a:latin typeface="Trebuchet MS"/>
              </a:rPr>
              <a:t>), read the BIO chain off and emit spans.</a:t>
            </a:r>
          </a:p>
        </p:txBody>
      </p:sp>
      <p:sp>
        <p:nvSpPr>
          <p:cNvPr id="6" name="Rounded Rectangle 5"/>
          <p:cNvSpPr/>
          <p:nvPr/>
        </p:nvSpPr>
        <p:spPr>
          <a:xfrm>
            <a:off x="777240" y="2009648"/>
            <a:ext cx="10637215" cy="137160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none" lIns="237744" tIns="155448"/>
          <a:lstStyle/>
          <a:p>
            <a:pPr algn="l">
              <a:lnSpc>
                <a:spcPct val="132000"/>
              </a:lnSpc>
              <a:spcAft>
                <a:spcPts val="0"/>
              </a:spcAft>
            </a:pPr>
            <a:r>
              <a:rPr sz="1500" b="0">
                <a:solidFill>
                  <a:srgbClr val="1A1A1A"/>
                </a:solidFill>
                <a:latin typeface="Consolas"/>
              </a:rPr>
              <a:t>tags:   O    B-ORG   I-ORG    O    B-ORG</a:t>
            </a:r>
          </a:p>
          <a:p>
            <a:pPr>
              <a:lnSpc>
                <a:spcPct val="132000"/>
              </a:lnSpc>
              <a:spcAft>
                <a:spcPts val="0"/>
              </a:spcAft>
            </a:pPr>
            <a:r>
              <a:rPr sz="1500" b="0">
                <a:solidFill>
                  <a:srgbClr val="1A1A1A"/>
                </a:solidFill>
                <a:latin typeface="Consolas"/>
              </a:rPr>
              <a:t>        0      1       2      3      4</a:t>
            </a:r>
          </a:p>
          <a:p>
            <a:pPr>
              <a:lnSpc>
                <a:spcPct val="132000"/>
              </a:lnSpc>
              <a:spcAft>
                <a:spcPts val="0"/>
              </a:spcAft>
            </a:pPr>
            <a:r>
              <a:rPr sz="1500" b="0">
                <a:solidFill>
                  <a:srgbClr val="1A1A1A"/>
                </a:solidFill>
                <a:latin typeface="Consolas"/>
              </a:rPr>
              <a:t> </a:t>
            </a:r>
          </a:p>
          <a:p>
            <a:pPr>
              <a:lnSpc>
                <a:spcPct val="132000"/>
              </a:lnSpc>
              <a:spcAft>
                <a:spcPts val="0"/>
              </a:spcAft>
            </a:pPr>
            <a:r>
              <a:rPr sz="1500" b="1">
                <a:solidFill>
                  <a:srgbClr val="9E4A2B"/>
                </a:solidFill>
                <a:latin typeface="Consolas"/>
              </a:rPr>
              <a:t>spans: (1, 3, "ORG")   and   (4, 5, "ORG")</a:t>
            </a:r>
          </a:p>
        </p:txBody>
      </p:sp>
      <p:sp>
        <p:nvSpPr>
          <p:cNvPr id="7" name="TextBox 6"/>
          <p:cNvSpPr txBox="1"/>
          <p:nvPr/>
        </p:nvSpPr>
        <p:spPr>
          <a:xfrm>
            <a:off x="777240" y="3545840"/>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Straightforward, except when the model emits something invalid. The 21 heads predict each token independently, and </a:t>
            </a:r>
            <a:r>
              <a:rPr b="1" sz="1600">
                <a:solidFill>
                  <a:srgbClr val="6B6B6B"/>
                </a:solidFill>
                <a:latin typeface="Trebuchet MS"/>
              </a:rPr>
              <a:t>nothing forces the output to be a valid BIO sequence</a:t>
            </a:r>
            <a:r>
              <a:rPr sz="1600" b="0">
                <a:solidFill>
                  <a:srgbClr val="6B6B6B"/>
                </a:solidFill>
                <a:latin typeface="Trebuchet MS"/>
              </a:rPr>
              <a:t>.</a:t>
            </a:r>
          </a:p>
        </p:txBody>
      </p:sp>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6 · INVALID SEQUENCES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Orphan I-, and the repair rule</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10637215" cy="86868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none" lIns="237744" tIns="155448"/>
          <a:lstStyle/>
          <a:p>
            <a:pPr algn="l">
              <a:lnSpc>
                <a:spcPct val="132000"/>
              </a:lnSpc>
              <a:spcAft>
                <a:spcPts val="0"/>
              </a:spcAft>
            </a:pPr>
            <a:r>
              <a:rPr sz="1500" b="0">
                <a:solidFill>
                  <a:srgbClr val="1A1A1A"/>
                </a:solidFill>
                <a:latin typeface="Consolas"/>
              </a:rPr>
              <a:t>tags:   O   I-ORG   I-ORG   O</a:t>
            </a:r>
          </a:p>
          <a:p>
            <a:pPr>
              <a:lnSpc>
                <a:spcPct val="132000"/>
              </a:lnSpc>
              <a:spcAft>
                <a:spcPts val="0"/>
              </a:spcAft>
            </a:pPr>
            <a:r>
              <a:rPr sz="1500" b="1">
                <a:solidFill>
                  <a:srgbClr val="9E4A2B"/>
                </a:solidFill>
                <a:latin typeface="Consolas"/>
              </a:rPr>
              <a:t>            ^^^^^  “continue an ORG”, but no ORG was started</a:t>
            </a:r>
          </a:p>
        </p:txBody>
      </p:sp>
      <p:sp>
        <p:nvSpPr>
          <p:cNvPr id="6" name="Rounded Rectangle 5"/>
          <p:cNvSpPr/>
          <p:nvPr/>
        </p:nvSpPr>
        <p:spPr>
          <a:xfrm>
            <a:off x="777240" y="2606040"/>
            <a:ext cx="3338474" cy="128016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1. Drop it</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Lose a probably-real entity</a:t>
            </a:r>
          </a:p>
        </p:txBody>
      </p:sp>
      <p:sp>
        <p:nvSpPr>
          <p:cNvPr id="7" name="Rounded Rectangle 6"/>
          <p:cNvSpPr/>
          <p:nvPr/>
        </p:nvSpPr>
        <p:spPr>
          <a:xfrm>
            <a:off x="4426610" y="2606040"/>
            <a:ext cx="3338474" cy="1280160"/>
          </a:xfrm>
          <a:prstGeom prst="roundRect">
            <a:avLst>
              <a:gd name="adj" fmla="val 3000"/>
            </a:avLst>
          </a:prstGeom>
          <a:solidFill>
            <a:srgbClr val="FBE9C8"/>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2. Treat it as B-</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Start a new span there. </a:t>
            </a:r>
            <a:r>
              <a:rPr b="1" sz="1400">
                <a:solidFill>
                  <a:srgbClr val="1A1A1A"/>
                </a:solidFill>
                <a:latin typeface="Trebuchet MS"/>
              </a:rPr>
              <a:t>Our choice</a:t>
            </a:r>
          </a:p>
        </p:txBody>
      </p:sp>
      <p:sp>
        <p:nvSpPr>
          <p:cNvPr id="8" name="Rounded Rectangle 7"/>
          <p:cNvSpPr/>
          <p:nvPr/>
        </p:nvSpPr>
        <p:spPr>
          <a:xfrm>
            <a:off x="8075980" y="2606040"/>
            <a:ext cx="3338474" cy="128016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3. Constrain decoding</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Viterbi / CRF forces validity</a:t>
            </a:r>
          </a:p>
        </p:txBody>
      </p:sp>
      <p:sp>
        <p:nvSpPr>
          <p:cNvPr id="9" name="TextBox 8"/>
          <p:cNvSpPr txBox="1"/>
          <p:nvPr/>
        </p:nvSpPr>
        <p:spPr>
          <a:xfrm>
            <a:off x="777240" y="40873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Every repair is counted: on the blind test this fired </a:t>
            </a:r>
            <a:r>
              <a:rPr b="1" sz="1600">
                <a:solidFill>
                  <a:srgbClr val="6B6B6B"/>
                </a:solidFill>
                <a:latin typeface="Trebuchet MS"/>
              </a:rPr>
              <a:t>201 times out of 5,780 spans</a:t>
            </a:r>
            <a:r>
              <a:rPr sz="1600" b="0">
                <a:solidFill>
                  <a:srgbClr val="6B6B6B"/>
                </a:solidFill>
                <a:latin typeface="Trebuchet MS"/>
              </a:rPr>
              <a:t>, about 3.5%. That number is what makes the choice defensible.</a:t>
            </a:r>
          </a:p>
        </p:txBody>
      </p:sp>
      <p:sp>
        <p:nvSpPr>
          <p:cNvPr id="10" name="Rounded Rectangle 9"/>
          <p:cNvSpPr/>
          <p:nvPr/>
        </p:nvSpPr>
        <p:spPr>
          <a:xfrm>
            <a:off x="777240" y="4778248"/>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WHY NOT A CRF?</a:t>
            </a:r>
          </a:p>
          <a:p>
            <a:pPr>
              <a:lnSpc>
                <a:spcPct val="124000"/>
              </a:lnSpc>
            </a:pPr>
            <a:r>
              <a:rPr sz="1500" b="0">
                <a:solidFill>
                  <a:srgbClr val="1A1A1A"/>
                </a:solidFill>
                <a:latin typeface="Trebuchet MS"/>
              </a:rPr>
              <a:t>A CRF would guarantee valid sequences via learned transition scores and Viterbi decoding. It is the textbook answer, but it costs 21 CRFs, one per column, to fix 3.5% of spans.</a:t>
            </a:r>
          </a:p>
        </p:txBody>
      </p:sp>
      <p:sp>
        <p:nvSpPr>
          <p:cNvPr id="11" name="Rectangle 10"/>
          <p:cNvSpPr/>
          <p:nvPr/>
        </p:nvSpPr>
        <p:spPr>
          <a:xfrm>
            <a:off x="777240" y="4778248"/>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13" name="TextBox 12"/>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7 · COMBINING SEEDS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Ensembling: the principle</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An </a:t>
            </a:r>
            <a:r>
              <a:rPr b="1" sz="1600">
                <a:solidFill>
                  <a:srgbClr val="6B6B6B"/>
                </a:solidFill>
                <a:latin typeface="Trebuchet MS"/>
              </a:rPr>
              <a:t>ensemble</a:t>
            </a:r>
            <a:r>
              <a:rPr sz="1600" b="0">
                <a:solidFill>
                  <a:srgbClr val="6B6B6B"/>
                </a:solidFill>
                <a:latin typeface="Trebuchet MS"/>
              </a:rPr>
              <a:t> combines several models to beat any individual one. The principle: if models make </a:t>
            </a:r>
            <a:r>
              <a:rPr i="1" b="0" sz="1600">
                <a:solidFill>
                  <a:srgbClr val="6B6B6B"/>
                </a:solidFill>
                <a:latin typeface="Trebuchet MS"/>
              </a:rPr>
              <a:t>independent</a:t>
            </a:r>
            <a:r>
              <a:rPr sz="1600" b="0">
                <a:solidFill>
                  <a:srgbClr val="6B6B6B"/>
                </a:solidFill>
                <a:latin typeface="Trebuchet MS"/>
              </a:rPr>
              <a:t> errors, combining them cancels noise while preserving signal.</a:t>
            </a:r>
          </a:p>
        </p:txBody>
      </p:sp>
      <p:sp>
        <p:nvSpPr>
          <p:cNvPr id="6" name="TextBox 5"/>
          <p:cNvSpPr txBox="1"/>
          <p:nvPr/>
        </p:nvSpPr>
        <p:spPr>
          <a:xfrm>
            <a:off x="777240" y="2263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We trained three models identical in every way except the </a:t>
            </a:r>
            <a:r>
              <a:rPr b="1" sz="1700">
                <a:solidFill>
                  <a:srgbClr val="1A1A1A"/>
                </a:solidFill>
                <a:latin typeface="Trebuchet MS"/>
              </a:rPr>
              <a:t>random seed</a:t>
            </a:r>
            <a:r>
              <a:rPr sz="1700" b="0">
                <a:solidFill>
                  <a:srgbClr val="1A1A1A"/>
                </a:solidFill>
                <a:latin typeface="Trebuchet MS"/>
              </a:rPr>
              <a:t> (13, 42, 77)</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The seed controls weight initialization, dropout, and data order</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Same data, same hyperparameters, </a:t>
            </a:r>
            <a:r>
              <a:rPr b="1" sz="1700">
                <a:solidFill>
                  <a:srgbClr val="1A1A1A"/>
                </a:solidFill>
                <a:latin typeface="Trebuchet MS"/>
              </a:rPr>
              <a:t>three different local optima</a:t>
            </a:r>
          </a:p>
        </p:txBody>
      </p:sp>
      <p:sp>
        <p:nvSpPr>
          <p:cNvPr id="7" name="Rounded Rectangle 6"/>
          <p:cNvSpPr/>
          <p:nvPr/>
        </p:nvSpPr>
        <p:spPr>
          <a:xfrm>
            <a:off x="777240" y="3524758"/>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HOLD ON TO THE WORD “INDEPENDENT”</a:t>
            </a:r>
          </a:p>
          <a:p>
            <a:pPr>
              <a:lnSpc>
                <a:spcPct val="124000"/>
              </a:lnSpc>
            </a:pPr>
            <a:r>
              <a:rPr sz="1500" b="0">
                <a:solidFill>
                  <a:srgbClr val="1A1A1A"/>
                </a:solidFill>
                <a:latin typeface="Trebuchet MS"/>
              </a:rPr>
              <a:t>The whole justification rests on it. Two slides from now, a single diagnostic number tests whether the assumption actually holds on our blind set, and the answer changes what we submitted.</a:t>
            </a:r>
          </a:p>
        </p:txBody>
      </p:sp>
      <p:sp>
        <p:nvSpPr>
          <p:cNvPr id="8" name="Rectangle 7"/>
          <p:cNvSpPr/>
          <p:nvPr/>
        </p:nvSpPr>
        <p:spPr>
          <a:xfrm>
            <a:off x="777240" y="3524758"/>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7 · THE STRATEGIES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Three ways to combine three seeds</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3338474" cy="274320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Mean-probability</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Average the softmax distributions across seeds, then argmax</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Combines at the level of </a:t>
            </a:r>
            <a:r>
              <a:rPr b="1" sz="1400">
                <a:solidFill>
                  <a:srgbClr val="1A1A1A"/>
                </a:solidFill>
                <a:latin typeface="Trebuchet MS"/>
              </a:rPr>
              <a:t>model confidence</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A very confident model can outvote two uncertain ones</a:t>
            </a:r>
          </a:p>
        </p:txBody>
      </p:sp>
      <p:sp>
        <p:nvSpPr>
          <p:cNvPr id="6" name="Rounded Rectangle 5"/>
          <p:cNvSpPr/>
          <p:nvPr/>
        </p:nvSpPr>
        <p:spPr>
          <a:xfrm>
            <a:off x="4426610" y="1572768"/>
            <a:ext cx="3338474" cy="274320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Span union  (≥ 1 vote)</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Decode each model to spans, keep every span </a:t>
            </a:r>
            <a:r>
              <a:rPr b="1" sz="1400">
                <a:solidFill>
                  <a:srgbClr val="1A1A1A"/>
                </a:solidFill>
                <a:latin typeface="Trebuchet MS"/>
              </a:rPr>
              <a:t>any</a:t>
            </a:r>
            <a:r>
              <a:rPr sz="1400" b="0">
                <a:solidFill>
                  <a:srgbClr val="1A1A1A"/>
                </a:solidFill>
                <a:latin typeface="Trebuchet MS"/>
              </a:rPr>
              <a:t> model predicted</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More predictions: </a:t>
            </a:r>
            <a:r>
              <a:rPr b="1" sz="1400">
                <a:solidFill>
                  <a:srgbClr val="1A1A1A"/>
                </a:solidFill>
                <a:latin typeface="Trebuchet MS"/>
              </a:rPr>
              <a:t>higher recall, lower precision</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A </a:t>
            </a:r>
            <a:r>
              <a:rPr b="1" sz="1400">
                <a:solidFill>
                  <a:srgbClr val="1A1A1A"/>
                </a:solidFill>
                <a:latin typeface="Trebuchet MS"/>
              </a:rPr>
              <a:t>recall lever</a:t>
            </a:r>
          </a:p>
        </p:txBody>
      </p:sp>
      <p:sp>
        <p:nvSpPr>
          <p:cNvPr id="7" name="Rounded Rectangle 6"/>
          <p:cNvSpPr/>
          <p:nvPr/>
        </p:nvSpPr>
        <p:spPr>
          <a:xfrm>
            <a:off x="8075980" y="1572768"/>
            <a:ext cx="3338474" cy="2743200"/>
          </a:xfrm>
          <a:prstGeom prst="roundRect">
            <a:avLst>
              <a:gd name="adj" fmla="val 3000"/>
            </a:avLst>
          </a:prstGeom>
          <a:solidFill>
            <a:srgbClr val="FBE9C8"/>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Majority vote  (≥ 2 votes)</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Keep only spans </a:t>
            </a:r>
            <a:r>
              <a:rPr b="1" sz="1400">
                <a:solidFill>
                  <a:srgbClr val="1A1A1A"/>
                </a:solidFill>
                <a:latin typeface="Trebuchet MS"/>
              </a:rPr>
              <a:t>at least 2 of 3</a:t>
            </a:r>
            <a:r>
              <a:rPr sz="1400" b="0">
                <a:solidFill>
                  <a:srgbClr val="1A1A1A"/>
                </a:solidFill>
                <a:latin typeface="Trebuchet MS"/>
              </a:rPr>
              <a:t> models predicted</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Fewer predictions, each corroborated: </a:t>
            </a:r>
            <a:r>
              <a:rPr b="1" sz="1400">
                <a:solidFill>
                  <a:srgbClr val="1A1A1A"/>
                </a:solidFill>
                <a:latin typeface="Trebuchet MS"/>
              </a:rPr>
              <a:t>higher precision</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A </a:t>
            </a:r>
            <a:r>
              <a:rPr b="1" sz="1400">
                <a:solidFill>
                  <a:srgbClr val="1A1A1A"/>
                </a:solidFill>
                <a:latin typeface="Trebuchet MS"/>
              </a:rPr>
              <a:t>precision lever</a:t>
            </a:r>
          </a:p>
        </p:txBody>
      </p:sp>
      <p:sp>
        <p:nvSpPr>
          <p:cNvPr id="8" name="Rounded Rectangle 7"/>
          <p:cNvSpPr/>
          <p:nvPr/>
        </p:nvSpPr>
        <p:spPr>
          <a:xfrm>
            <a:off x="777240" y="4517136"/>
            <a:ext cx="10637215" cy="1019556"/>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none" lIns="237744" tIns="155448"/>
          <a:lstStyle/>
          <a:p>
            <a:pPr algn="l">
              <a:lnSpc>
                <a:spcPct val="132000"/>
              </a:lnSpc>
              <a:spcAft>
                <a:spcPts val="0"/>
              </a:spcAft>
            </a:pPr>
            <a:r>
              <a:rPr sz="1300" b="0">
                <a:solidFill>
                  <a:srgbClr val="1A1A1A"/>
                </a:solidFill>
                <a:latin typeface="Consolas"/>
              </a:rPr>
              <a:t>seed 13: (0,2,ORG)  (5,6,GPE)              vote counts:  (0,2,ORG) = 3</a:t>
            </a:r>
          </a:p>
          <a:p>
            <a:pPr>
              <a:lnSpc>
                <a:spcPct val="132000"/>
              </a:lnSpc>
              <a:spcAft>
                <a:spcPts val="0"/>
              </a:spcAft>
            </a:pPr>
            <a:r>
              <a:rPr sz="1300" b="0">
                <a:solidFill>
                  <a:srgbClr val="1A1A1A"/>
                </a:solidFill>
                <a:latin typeface="Consolas"/>
              </a:rPr>
              <a:t>seed 42: (0,2,ORG)  (5,6,GPE)  (9,11,PERS)               (5,6,GPE) = 2</a:t>
            </a:r>
          </a:p>
          <a:p>
            <a:pPr>
              <a:lnSpc>
                <a:spcPct val="132000"/>
              </a:lnSpc>
              <a:spcAft>
                <a:spcPts val="0"/>
              </a:spcAft>
            </a:pPr>
            <a:r>
              <a:rPr sz="1300" b="0">
                <a:solidFill>
                  <a:srgbClr val="1A1A1A"/>
                </a:solidFill>
                <a:latin typeface="Consolas"/>
              </a:rPr>
              <a:t>seed 77: (0,2,ORG)             (9,11,PERS)               (9,11,PERS) = 2</a:t>
            </a: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7 · WHAT THE UNION COSTS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Resolving conflicts, and the in-domain scores</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Union can produce two overlapping spans </a:t>
            </a:r>
            <a:r>
              <a:rPr b="1" sz="1600">
                <a:solidFill>
                  <a:srgbClr val="6B6B6B"/>
                </a:solidFill>
                <a:latin typeface="Trebuchet MS"/>
              </a:rPr>
              <a:t>of the same type</a:t>
            </a:r>
            <a:r>
              <a:rPr sz="1600" b="0">
                <a:solidFill>
                  <a:srgbClr val="6B6B6B"/>
                </a:solidFill>
                <a:latin typeface="Trebuchet MS"/>
              </a:rPr>
              <a:t>, which the output format cannot encode. We resolve greedily, sorting candidates by (votes desc, length desc, start asc) and taking non-conflicting ones.</a:t>
            </a:r>
          </a:p>
        </p:txBody>
      </p:sp>
      <p:sp>
        <p:nvSpPr>
          <p:cNvPr id="6" name="TextBox 5"/>
          <p:cNvSpPr txBox="1"/>
          <p:nvPr/>
        </p:nvSpPr>
        <p:spPr>
          <a:xfrm>
            <a:off x="777240" y="2263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On the blind test this dropped </a:t>
            </a:r>
            <a:r>
              <a:rPr b="1" sz="1700">
                <a:solidFill>
                  <a:srgbClr val="1A1A1A"/>
                </a:solidFill>
                <a:latin typeface="Trebuchet MS"/>
              </a:rPr>
              <a:t>698 candidates</a:t>
            </a:r>
            <a:r>
              <a:rPr sz="1700" b="0">
                <a:solidFill>
                  <a:srgbClr val="1A1A1A"/>
                </a:solidFill>
                <a:latin typeface="Trebuchet MS"/>
              </a:rPr>
              <a:t> from the union variant, and </a:t>
            </a:r>
            <a:r>
              <a:rPr b="1" sz="1700">
                <a:solidFill>
                  <a:srgbClr val="1A1A1A"/>
                </a:solidFill>
                <a:latin typeface="Trebuchet MS"/>
              </a:rPr>
              <a:t>zero</a:t>
            </a:r>
            <a:r>
              <a:rPr sz="1700" b="0">
                <a:solidFill>
                  <a:srgbClr val="1A1A1A"/>
                </a:solidFill>
                <a:latin typeface="Trebuchet MS"/>
              </a:rPr>
              <a:t> from the vote variant</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Deterministic given input order, so runs are reproducible</a:t>
            </a:r>
          </a:p>
        </p:txBody>
      </p:sp>
      <p:graphicFrame>
        <p:nvGraphicFramePr>
          <p:cNvPr id="7" name="Table 6"/>
          <p:cNvGraphicFramePr>
            <a:graphicFrameLocks noGrp="1"/>
          </p:cNvGraphicFramePr>
          <p:nvPr/>
        </p:nvGraphicFramePr>
        <p:xfrm>
          <a:off x="777240" y="3410458"/>
          <a:ext cx="10637213" cy="1737360"/>
        </p:xfrm>
        <a:graphic>
          <a:graphicData uri="http://schemas.openxmlformats.org/drawingml/2006/table">
            <a:tbl>
              <a:tblPr firstRow="0" bandRow="0">
                <a:tableStyleId>{5C22544A-7EE6-4342-B048-85BDC9FD1C3A}</a:tableStyleId>
              </a:tblPr>
              <a:tblGrid>
                <a:gridCol w="5135207"/>
                <a:gridCol w="1834002"/>
                <a:gridCol w="1834002"/>
                <a:gridCol w="1834002"/>
              </a:tblGrid>
              <a:tr h="347472">
                <a:tc>
                  <a:txBody>
                    <a:bodyPr wrap="square"/>
                    <a:lstStyle/>
                    <a:p>
                      <a:pPr>
                        <a:lnSpc>
                          <a:spcPct val="110000"/>
                        </a:lnSpc>
                      </a:pPr>
                      <a:r>
                        <a:rPr sz="1400" b="1">
                          <a:solidFill>
                            <a:srgbClr val="FFFFFF"/>
                          </a:solidFill>
                          <a:latin typeface="Trebuchet MS"/>
                        </a:rPr>
                        <a:t>Variant (Wojood test, in-domain)</a:t>
                      </a:r>
                    </a:p>
                  </a:txBody>
                  <a:tcPr marL="118872" marR="91440" marT="27432" marB="27432" anchor="ctr">
                    <a:solidFill>
                      <a:srgbClr val="1F5673"/>
                    </a:solidFill>
                  </a:tcPr>
                </a:tc>
                <a:tc>
                  <a:txBody>
                    <a:bodyPr wrap="square"/>
                    <a:lstStyle/>
                    <a:p>
                      <a:pPr algn="ctr">
                        <a:lnSpc>
                          <a:spcPct val="110000"/>
                        </a:lnSpc>
                      </a:pPr>
                      <a:r>
                        <a:rPr sz="1400" b="1">
                          <a:solidFill>
                            <a:srgbClr val="FFFFFF"/>
                          </a:solidFill>
                          <a:latin typeface="Trebuchet MS"/>
                        </a:rPr>
                        <a:t>P</a:t>
                      </a:r>
                    </a:p>
                  </a:txBody>
                  <a:tcPr marL="118872" marR="91440" marT="27432" marB="27432" anchor="ctr">
                    <a:solidFill>
                      <a:srgbClr val="1F5673"/>
                    </a:solidFill>
                  </a:tcPr>
                </a:tc>
                <a:tc>
                  <a:txBody>
                    <a:bodyPr wrap="square"/>
                    <a:lstStyle/>
                    <a:p>
                      <a:pPr algn="ctr">
                        <a:lnSpc>
                          <a:spcPct val="110000"/>
                        </a:lnSpc>
                      </a:pPr>
                      <a:r>
                        <a:rPr sz="1400" b="1">
                          <a:solidFill>
                            <a:srgbClr val="FFFFFF"/>
                          </a:solidFill>
                          <a:latin typeface="Trebuchet MS"/>
                        </a:rPr>
                        <a:t>R</a:t>
                      </a:r>
                    </a:p>
                  </a:txBody>
                  <a:tcPr marL="118872" marR="91440" marT="27432" marB="27432" anchor="ctr">
                    <a:solidFill>
                      <a:srgbClr val="1F5673"/>
                    </a:solidFill>
                  </a:tcPr>
                </a:tc>
                <a:tc>
                  <a:txBody>
                    <a:bodyPr wrap="square"/>
                    <a:lstStyle/>
                    <a:p>
                      <a:pPr algn="ctr">
                        <a:lnSpc>
                          <a:spcPct val="110000"/>
                        </a:lnSpc>
                      </a:pPr>
                      <a:r>
                        <a:rPr sz="1400" b="1">
                          <a:solidFill>
                            <a:srgbClr val="FFFFFF"/>
                          </a:solidFill>
                          <a:latin typeface="Trebuchet MS"/>
                        </a:rPr>
                        <a:t>F1</a:t>
                      </a:r>
                    </a:p>
                  </a:txBody>
                  <a:tcPr marL="118872" marR="91440" marT="27432" marB="27432" anchor="ctr">
                    <a:solidFill>
                      <a:srgbClr val="1F5673"/>
                    </a:solidFill>
                  </a:tcPr>
                </a:tc>
              </a:tr>
              <a:tr h="347472">
                <a:tc>
                  <a:txBody>
                    <a:bodyPr wrap="square"/>
                    <a:lstStyle/>
                    <a:p>
                      <a:pPr>
                        <a:lnSpc>
                          <a:spcPct val="110000"/>
                        </a:lnSpc>
                      </a:pPr>
                      <a:r>
                        <a:rPr sz="1400" b="0">
                          <a:solidFill>
                            <a:srgbClr val="1A1A1A"/>
                          </a:solidFill>
                          <a:latin typeface="Trebuchet MS"/>
                        </a:rPr>
                        <a:t>Single seed</a:t>
                      </a:r>
                    </a:p>
                  </a:txBody>
                  <a:tcPr marL="118872" marR="91440" marT="27432" marB="27432" anchor="ctr">
                    <a:solidFill>
                      <a:srgbClr val="FDFCF9"/>
                    </a:solidFill>
                  </a:tcPr>
                </a:tc>
                <a:tc>
                  <a:txBody>
                    <a:bodyPr wrap="square"/>
                    <a:lstStyle/>
                    <a:p>
                      <a:pPr algn="ctr">
                        <a:lnSpc>
                          <a:spcPct val="110000"/>
                        </a:lnSpc>
                      </a:pPr>
                      <a:r>
                        <a:rPr sz="1400" b="0">
                          <a:solidFill>
                            <a:srgbClr val="1A1A1A"/>
                          </a:solidFill>
                          <a:latin typeface="Trebuchet MS"/>
                        </a:rPr>
                        <a:t>0.9183</a:t>
                      </a:r>
                    </a:p>
                  </a:txBody>
                  <a:tcPr marL="118872" marR="91440" marT="27432" marB="27432" anchor="ctr">
                    <a:solidFill>
                      <a:srgbClr val="FDFCF9"/>
                    </a:solidFill>
                  </a:tcPr>
                </a:tc>
                <a:tc>
                  <a:txBody>
                    <a:bodyPr wrap="square"/>
                    <a:lstStyle/>
                    <a:p>
                      <a:pPr algn="ctr">
                        <a:lnSpc>
                          <a:spcPct val="110000"/>
                        </a:lnSpc>
                      </a:pPr>
                      <a:r>
                        <a:rPr sz="1400" b="0">
                          <a:solidFill>
                            <a:srgbClr val="1A1A1A"/>
                          </a:solidFill>
                          <a:latin typeface="Trebuchet MS"/>
                        </a:rPr>
                        <a:t>0.9353</a:t>
                      </a:r>
                    </a:p>
                  </a:txBody>
                  <a:tcPr marL="118872" marR="91440" marT="27432" marB="27432" anchor="ctr">
                    <a:solidFill>
                      <a:srgbClr val="FDFCF9"/>
                    </a:solidFill>
                  </a:tcPr>
                </a:tc>
                <a:tc>
                  <a:txBody>
                    <a:bodyPr wrap="square"/>
                    <a:lstStyle/>
                    <a:p>
                      <a:pPr algn="ctr">
                        <a:lnSpc>
                          <a:spcPct val="110000"/>
                        </a:lnSpc>
                      </a:pPr>
                      <a:r>
                        <a:rPr sz="1400" b="0">
                          <a:solidFill>
                            <a:srgbClr val="1A1A1A"/>
                          </a:solidFill>
                          <a:latin typeface="Trebuchet MS"/>
                        </a:rPr>
                        <a:t>0.9268</a:t>
                      </a:r>
                    </a:p>
                  </a:txBody>
                  <a:tcPr marL="118872" marR="91440" marT="27432" marB="27432" anchor="ctr">
                    <a:solidFill>
                      <a:srgbClr val="FDFCF9"/>
                    </a:solidFill>
                  </a:tcPr>
                </a:tc>
              </a:tr>
              <a:tr h="347472">
                <a:tc>
                  <a:txBody>
                    <a:bodyPr wrap="square"/>
                    <a:lstStyle/>
                    <a:p>
                      <a:pPr>
                        <a:lnSpc>
                          <a:spcPct val="110000"/>
                        </a:lnSpc>
                      </a:pPr>
                      <a:r>
                        <a:rPr sz="1400" b="0">
                          <a:solidFill>
                            <a:srgbClr val="1A1A1A"/>
                          </a:solidFill>
                          <a:latin typeface="Trebuchet MS"/>
                        </a:rPr>
                        <a:t>Mean-probability</a:t>
                      </a:r>
                    </a:p>
                  </a:txBody>
                  <a:tcPr marL="118872" marR="91440" marT="27432" marB="27432" anchor="ctr">
                    <a:solidFill>
                      <a:srgbClr val="F4F1EA"/>
                    </a:solidFill>
                  </a:tcPr>
                </a:tc>
                <a:tc>
                  <a:txBody>
                    <a:bodyPr wrap="square"/>
                    <a:lstStyle/>
                    <a:p>
                      <a:pPr algn="ctr">
                        <a:lnSpc>
                          <a:spcPct val="110000"/>
                        </a:lnSpc>
                      </a:pPr>
                      <a:r>
                        <a:rPr sz="1400" b="0">
                          <a:solidFill>
                            <a:srgbClr val="1A1A1A"/>
                          </a:solidFill>
                          <a:latin typeface="Trebuchet MS"/>
                        </a:rPr>
                        <a:t>0.9211</a:t>
                      </a:r>
                    </a:p>
                  </a:txBody>
                  <a:tcPr marL="118872" marR="91440" marT="27432" marB="27432" anchor="ctr">
                    <a:solidFill>
                      <a:srgbClr val="F4F1EA"/>
                    </a:solidFill>
                  </a:tcPr>
                </a:tc>
                <a:tc>
                  <a:txBody>
                    <a:bodyPr wrap="square"/>
                    <a:lstStyle/>
                    <a:p>
                      <a:pPr algn="ctr">
                        <a:lnSpc>
                          <a:spcPct val="110000"/>
                        </a:lnSpc>
                      </a:pPr>
                      <a:r>
                        <a:rPr sz="1400" b="0">
                          <a:solidFill>
                            <a:srgbClr val="1A1A1A"/>
                          </a:solidFill>
                          <a:latin typeface="Trebuchet MS"/>
                        </a:rPr>
                        <a:t>0.9379</a:t>
                      </a:r>
                    </a:p>
                  </a:txBody>
                  <a:tcPr marL="118872" marR="91440" marT="27432" marB="27432" anchor="ctr">
                    <a:solidFill>
                      <a:srgbClr val="F4F1EA"/>
                    </a:solidFill>
                  </a:tcPr>
                </a:tc>
                <a:tc>
                  <a:txBody>
                    <a:bodyPr wrap="square"/>
                    <a:lstStyle/>
                    <a:p>
                      <a:pPr algn="ctr">
                        <a:lnSpc>
                          <a:spcPct val="110000"/>
                        </a:lnSpc>
                      </a:pPr>
                      <a:r>
                        <a:rPr sz="1400" b="0">
                          <a:solidFill>
                            <a:srgbClr val="1A1A1A"/>
                          </a:solidFill>
                          <a:latin typeface="Trebuchet MS"/>
                        </a:rPr>
                        <a:t>0.9295</a:t>
                      </a:r>
                    </a:p>
                  </a:txBody>
                  <a:tcPr marL="118872" marR="91440" marT="27432" marB="27432" anchor="ctr">
                    <a:solidFill>
                      <a:srgbClr val="F4F1EA"/>
                    </a:solidFill>
                  </a:tcPr>
                </a:tc>
              </a:tr>
              <a:tr h="347472">
                <a:tc>
                  <a:txBody>
                    <a:bodyPr wrap="square"/>
                    <a:lstStyle/>
                    <a:p>
                      <a:pPr>
                        <a:lnSpc>
                          <a:spcPct val="110000"/>
                        </a:lnSpc>
                      </a:pPr>
                      <a:r>
                        <a:rPr sz="1400" b="0">
                          <a:solidFill>
                            <a:srgbClr val="1A1A1A"/>
                          </a:solidFill>
                          <a:latin typeface="Trebuchet MS"/>
                        </a:rPr>
                        <a:t>Union</a:t>
                      </a:r>
                    </a:p>
                  </a:txBody>
                  <a:tcPr marL="118872" marR="91440" marT="27432" marB="27432" anchor="ctr">
                    <a:solidFill>
                      <a:srgbClr val="FDFCF9"/>
                    </a:solidFill>
                  </a:tcPr>
                </a:tc>
                <a:tc>
                  <a:txBody>
                    <a:bodyPr wrap="square"/>
                    <a:lstStyle/>
                    <a:p>
                      <a:pPr algn="ctr">
                        <a:lnSpc>
                          <a:spcPct val="110000"/>
                        </a:lnSpc>
                      </a:pPr>
                      <a:r>
                        <a:rPr sz="1400" b="0">
                          <a:solidFill>
                            <a:srgbClr val="1A1A1A"/>
                          </a:solidFill>
                          <a:latin typeface="Trebuchet MS"/>
                        </a:rPr>
                        <a:t>0.8981</a:t>
                      </a:r>
                    </a:p>
                  </a:txBody>
                  <a:tcPr marL="118872" marR="91440" marT="27432" marB="27432" anchor="ctr">
                    <a:solidFill>
                      <a:srgbClr val="FDFCF9"/>
                    </a:solidFill>
                  </a:tcPr>
                </a:tc>
                <a:tc>
                  <a:txBody>
                    <a:bodyPr wrap="square"/>
                    <a:lstStyle/>
                    <a:p>
                      <a:pPr algn="ctr">
                        <a:lnSpc>
                          <a:spcPct val="110000"/>
                        </a:lnSpc>
                      </a:pPr>
                      <a:r>
                        <a:rPr b="1" sz="1400">
                          <a:solidFill>
                            <a:srgbClr val="1A1A1A"/>
                          </a:solidFill>
                          <a:latin typeface="Trebuchet MS"/>
                        </a:rPr>
                        <a:t>0.9440</a:t>
                      </a:r>
                    </a:p>
                  </a:txBody>
                  <a:tcPr marL="118872" marR="91440" marT="27432" marB="27432" anchor="ctr">
                    <a:solidFill>
                      <a:srgbClr val="FBE9C8"/>
                    </a:solidFill>
                  </a:tcPr>
                </a:tc>
                <a:tc>
                  <a:txBody>
                    <a:bodyPr wrap="square"/>
                    <a:lstStyle/>
                    <a:p>
                      <a:pPr algn="ctr">
                        <a:lnSpc>
                          <a:spcPct val="110000"/>
                        </a:lnSpc>
                      </a:pPr>
                      <a:r>
                        <a:rPr sz="1400" b="0">
                          <a:solidFill>
                            <a:srgbClr val="1A1A1A"/>
                          </a:solidFill>
                          <a:latin typeface="Trebuchet MS"/>
                        </a:rPr>
                        <a:t>0.9205</a:t>
                      </a:r>
                    </a:p>
                  </a:txBody>
                  <a:tcPr marL="118872" marR="91440" marT="27432" marB="27432" anchor="ctr">
                    <a:solidFill>
                      <a:srgbClr val="FDFCF9"/>
                    </a:solidFill>
                  </a:tcPr>
                </a:tc>
              </a:tr>
              <a:tr h="347472">
                <a:tc>
                  <a:txBody>
                    <a:bodyPr wrap="square"/>
                    <a:lstStyle/>
                    <a:p>
                      <a:pPr>
                        <a:lnSpc>
                          <a:spcPct val="110000"/>
                        </a:lnSpc>
                      </a:pPr>
                      <a:r>
                        <a:rPr b="1" sz="1400">
                          <a:solidFill>
                            <a:srgbClr val="1A1A1A"/>
                          </a:solidFill>
                          <a:latin typeface="Trebuchet MS"/>
                        </a:rPr>
                        <a:t>Majority vote</a:t>
                      </a:r>
                    </a:p>
                  </a:txBody>
                  <a:tcPr marL="118872" marR="91440" marT="27432" marB="27432" anchor="ctr">
                    <a:solidFill>
                      <a:srgbClr val="F4F1EA"/>
                    </a:solidFill>
                  </a:tcPr>
                </a:tc>
                <a:tc>
                  <a:txBody>
                    <a:bodyPr wrap="square"/>
                    <a:lstStyle/>
                    <a:p>
                      <a:pPr algn="ctr">
                        <a:lnSpc>
                          <a:spcPct val="110000"/>
                        </a:lnSpc>
                      </a:pPr>
                      <a:r>
                        <a:rPr sz="1400" b="0">
                          <a:solidFill>
                            <a:srgbClr val="1A1A1A"/>
                          </a:solidFill>
                          <a:latin typeface="Trebuchet MS"/>
                        </a:rPr>
                        <a:t>0.9281</a:t>
                      </a:r>
                    </a:p>
                  </a:txBody>
                  <a:tcPr marL="118872" marR="91440" marT="27432" marB="27432" anchor="ctr">
                    <a:solidFill>
                      <a:srgbClr val="F4F1EA"/>
                    </a:solidFill>
                  </a:tcPr>
                </a:tc>
                <a:tc>
                  <a:txBody>
                    <a:bodyPr wrap="square"/>
                    <a:lstStyle/>
                    <a:p>
                      <a:pPr algn="ctr">
                        <a:lnSpc>
                          <a:spcPct val="110000"/>
                        </a:lnSpc>
                      </a:pPr>
                      <a:r>
                        <a:rPr sz="1400" b="0">
                          <a:solidFill>
                            <a:srgbClr val="1A1A1A"/>
                          </a:solidFill>
                          <a:latin typeface="Trebuchet MS"/>
                        </a:rPr>
                        <a:t>0.9377</a:t>
                      </a:r>
                    </a:p>
                  </a:txBody>
                  <a:tcPr marL="118872" marR="91440" marT="27432" marB="27432" anchor="ctr">
                    <a:solidFill>
                      <a:srgbClr val="F4F1EA"/>
                    </a:solidFill>
                  </a:tcPr>
                </a:tc>
                <a:tc>
                  <a:txBody>
                    <a:bodyPr wrap="square"/>
                    <a:lstStyle/>
                    <a:p>
                      <a:pPr algn="ctr">
                        <a:lnSpc>
                          <a:spcPct val="110000"/>
                        </a:lnSpc>
                      </a:pPr>
                      <a:r>
                        <a:rPr b="1" sz="1400">
                          <a:solidFill>
                            <a:srgbClr val="1A1A1A"/>
                          </a:solidFill>
                          <a:latin typeface="Trebuchet MS"/>
                        </a:rPr>
                        <a:t>0.9329</a:t>
                      </a:r>
                    </a:p>
                  </a:txBody>
                  <a:tcPr marL="118872" marR="91440" marT="27432" marB="27432" anchor="ctr">
                    <a:solidFill>
                      <a:srgbClr val="FBE9C8"/>
                    </a:solidFill>
                  </a:tcPr>
                </a:tc>
              </a:tr>
            </a:tbl>
          </a:graphicData>
        </a:graphic>
      </p:graphicFrame>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7 · MEASURING BEFORE FIXING</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The diagnostic that changed the decision</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We </a:t>
            </a:r>
            <a:r>
              <a:rPr b="1" sz="1600">
                <a:solidFill>
                  <a:srgbClr val="6B6B6B"/>
                </a:solidFill>
                <a:latin typeface="Trebuchet MS"/>
              </a:rPr>
              <a:t>wanted</a:t>
            </a:r>
            <a:r>
              <a:rPr sz="1600" b="0">
                <a:solidFill>
                  <a:srgbClr val="6B6B6B"/>
                </a:solidFill>
                <a:latin typeface="Trebuchet MS"/>
              </a:rPr>
              <a:t> the union to be the answer, because our blind-set weakness is recall. But we ran one diagnostic first:</a:t>
            </a:r>
          </a:p>
        </p:txBody>
      </p:sp>
      <p:sp>
        <p:nvSpPr>
          <p:cNvPr id="6" name="Rounded Rectangle 5"/>
          <p:cNvSpPr/>
          <p:nvPr/>
        </p:nvSpPr>
        <p:spPr>
          <a:xfrm>
            <a:off x="777240" y="2263648"/>
            <a:ext cx="3375050" cy="155448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3200" b="1">
                <a:solidFill>
                  <a:srgbClr val="1F5673"/>
                </a:solidFill>
                <a:latin typeface="Trebuchet MS"/>
              </a:rPr>
              <a:t>6,479</a:t>
            </a:r>
          </a:p>
          <a:p>
            <a:pPr algn="ctr">
              <a:lnSpc>
                <a:spcPct val="115000"/>
              </a:lnSpc>
              <a:spcBef>
                <a:spcPts val="500"/>
              </a:spcBef>
            </a:pPr>
            <a:r>
              <a:rPr sz="1250" b="0">
                <a:solidFill>
                  <a:srgbClr val="6B6B6B"/>
                </a:solidFill>
                <a:latin typeface="Trebuchet MS"/>
              </a:rPr>
              <a:t>spans predicted by the </a:t>
            </a:r>
            <a:r>
              <a:rPr b="1" sz="1250">
                <a:solidFill>
                  <a:srgbClr val="6B6B6B"/>
                </a:solidFill>
                <a:latin typeface="Trebuchet MS"/>
              </a:rPr>
              <a:t>union</a:t>
            </a:r>
            <a:r>
              <a:rPr sz="1250" b="0">
                <a:solidFill>
                  <a:srgbClr val="6B6B6B"/>
                </a:solidFill>
                <a:latin typeface="Trebuchet MS"/>
              </a:rPr>
              <a:t> on the blind set</a:t>
            </a:r>
          </a:p>
        </p:txBody>
      </p:sp>
      <p:sp>
        <p:nvSpPr>
          <p:cNvPr id="7" name="Rounded Rectangle 6"/>
          <p:cNvSpPr/>
          <p:nvPr/>
        </p:nvSpPr>
        <p:spPr>
          <a:xfrm>
            <a:off x="4408322" y="2263648"/>
            <a:ext cx="3375050" cy="155448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3200" b="1">
                <a:solidFill>
                  <a:srgbClr val="1F5673"/>
                </a:solidFill>
                <a:latin typeface="Trebuchet MS"/>
              </a:rPr>
              <a:t>5,982</a:t>
            </a:r>
          </a:p>
          <a:p>
            <a:pPr algn="ctr">
              <a:lnSpc>
                <a:spcPct val="115000"/>
              </a:lnSpc>
              <a:spcBef>
                <a:spcPts val="500"/>
              </a:spcBef>
            </a:pPr>
            <a:r>
              <a:rPr sz="1250" b="0">
                <a:solidFill>
                  <a:srgbClr val="6B6B6B"/>
                </a:solidFill>
                <a:latin typeface="Trebuchet MS"/>
              </a:rPr>
              <a:t>spans predicted by the </a:t>
            </a:r>
            <a:r>
              <a:rPr b="1" sz="1250">
                <a:solidFill>
                  <a:srgbClr val="6B6B6B"/>
                </a:solidFill>
                <a:latin typeface="Trebuchet MS"/>
              </a:rPr>
              <a:t>best single seed</a:t>
            </a:r>
          </a:p>
        </p:txBody>
      </p:sp>
      <p:sp>
        <p:nvSpPr>
          <p:cNvPr id="8" name="Rounded Rectangle 7"/>
          <p:cNvSpPr/>
          <p:nvPr/>
        </p:nvSpPr>
        <p:spPr>
          <a:xfrm>
            <a:off x="8039404" y="2263648"/>
            <a:ext cx="3375050" cy="155448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3200" b="1">
                <a:solidFill>
                  <a:srgbClr val="1F5673"/>
                </a:solidFill>
                <a:latin typeface="Trebuchet MS"/>
              </a:rPr>
              <a:t>+8%</a:t>
            </a:r>
          </a:p>
          <a:p>
            <a:pPr algn="ctr">
              <a:lnSpc>
                <a:spcPct val="115000"/>
              </a:lnSpc>
              <a:spcBef>
                <a:spcPts val="500"/>
              </a:spcBef>
            </a:pPr>
            <a:r>
              <a:rPr sz="1250" b="0">
                <a:solidFill>
                  <a:srgbClr val="6B6B6B"/>
                </a:solidFill>
                <a:latin typeface="Trebuchet MS"/>
              </a:rPr>
              <a:t>the entire recall headroom the union offered</a:t>
            </a:r>
          </a:p>
        </p:txBody>
      </p:sp>
      <p:sp>
        <p:nvSpPr>
          <p:cNvPr id="9" name="TextBox 8"/>
          <p:cNvSpPr txBox="1"/>
          <p:nvPr/>
        </p:nvSpPr>
        <p:spPr>
          <a:xfrm>
            <a:off x="777240" y="4037584"/>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If the seeds nearly agree on blind data, the entities we are missing are missed by </a:t>
            </a:r>
            <a:r>
              <a:rPr b="1" sz="1700">
                <a:solidFill>
                  <a:srgbClr val="1A1A1A"/>
                </a:solidFill>
                <a:latin typeface="Trebuchet MS"/>
              </a:rPr>
              <a:t>all</a:t>
            </a:r>
            <a:r>
              <a:rPr sz="1700" b="0">
                <a:solidFill>
                  <a:srgbClr val="1A1A1A"/>
                </a:solidFill>
                <a:latin typeface="Trebuchet MS"/>
              </a:rPr>
              <a:t> seeds</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That makes the failure </a:t>
            </a:r>
            <a:r>
              <a:rPr b="1" sz="1700">
                <a:solidFill>
                  <a:srgbClr val="1A1A1A"/>
                </a:solidFill>
                <a:latin typeface="Trebuchet MS"/>
              </a:rPr>
              <a:t>systematic</a:t>
            </a:r>
            <a:r>
              <a:rPr sz="1700" b="0">
                <a:solidFill>
                  <a:srgbClr val="1A1A1A"/>
                </a:solidFill>
                <a:latin typeface="Trebuchet MS"/>
              </a:rPr>
              <a:t>, not random</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Ensembling cancels random error. It cannot recover something no member ever finds. </a:t>
            </a:r>
            <a:r>
              <a:rPr b="1" sz="1700">
                <a:solidFill>
                  <a:srgbClr val="1A1A1A"/>
                </a:solidFill>
                <a:latin typeface="Trebuchet MS"/>
              </a:rPr>
              <a:t>The recall lever had nothing to lever</a:t>
            </a:r>
          </a:p>
        </p:txBody>
      </p:sp>
      <p:sp>
        <p:nvSpPr>
          <p:cNvPr id="10" name="TextBox 9"/>
          <p:cNvSpPr txBox="1"/>
          <p:nvPr/>
        </p:nvSpPr>
        <p:spPr>
          <a:xfrm>
            <a:off x="777240" y="5562092"/>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So we submitted the vote, and the blind results confirmed the reasoning: </a:t>
            </a:r>
            <a:r>
              <a:rPr b="1" sz="1600">
                <a:solidFill>
                  <a:srgbClr val="6B6B6B"/>
                </a:solidFill>
                <a:latin typeface="Trebuchet MS"/>
              </a:rPr>
              <a:t>+1.9 precision, +0.3 recall, +0.98 F1</a:t>
            </a:r>
            <a:r>
              <a:rPr sz="1600" b="0">
                <a:solidFill>
                  <a:srgbClr val="6B6B6B"/>
                </a:solidFill>
                <a:latin typeface="Trebuchet MS"/>
              </a:rPr>
              <a:t> overall.</a:t>
            </a:r>
          </a:p>
        </p:txBody>
      </p:sp>
      <p:sp>
        <p:nvSpPr>
          <p:cNvPr id="11" name="TextBox 10"/>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12" name="TextBox 11"/>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777240" y="1737360"/>
            <a:ext cx="2377440" cy="3175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234440"/>
            <a:ext cx="10637215" cy="365760"/>
          </a:xfrm>
          <a:prstGeom prst="rect">
            <a:avLst/>
          </a:prstGeom>
          <a:noFill/>
        </p:spPr>
        <p:txBody>
          <a:bodyPr wrap="square" lIns="0" rIns="0" tIns="0" bIns="0">
            <a:spAutoFit/>
          </a:bodyPr>
          <a:lstStyle/>
          <a:p>
            <a:r>
              <a:rPr sz="1300" b="1">
                <a:solidFill>
                  <a:srgbClr val="9E4A2B"/>
                </a:solidFill>
                <a:latin typeface="Trebuchet MS"/>
              </a:rPr>
              <a:t>THE TRANSFERABLE LESSON</a:t>
            </a:r>
          </a:p>
        </p:txBody>
      </p:sp>
      <p:sp>
        <p:nvSpPr>
          <p:cNvPr id="4" name="TextBox 3"/>
          <p:cNvSpPr txBox="1"/>
          <p:nvPr/>
        </p:nvSpPr>
        <p:spPr>
          <a:xfrm>
            <a:off x="777240" y="2148840"/>
            <a:ext cx="9905695" cy="2743200"/>
          </a:xfrm>
          <a:prstGeom prst="rect">
            <a:avLst/>
          </a:prstGeom>
          <a:noFill/>
        </p:spPr>
        <p:txBody>
          <a:bodyPr wrap="square" lIns="0" rIns="0" tIns="0" bIns="0">
            <a:spAutoFit/>
          </a:bodyPr>
          <a:lstStyle/>
          <a:p>
            <a:pPr>
              <a:lnSpc>
                <a:spcPct val="122000"/>
              </a:lnSpc>
            </a:pPr>
            <a:r>
              <a:rPr sz="3000" b="0">
                <a:solidFill>
                  <a:srgbClr val="1F5673"/>
                </a:solidFill>
                <a:latin typeface="Trebuchet MS"/>
              </a:rPr>
              <a:t>Before deploying a fix, measure whether the problem it addresses is actually the problem you have.</a:t>
            </a:r>
          </a:p>
        </p:txBody>
      </p:sp>
      <p:sp>
        <p:nvSpPr>
          <p:cNvPr id="5" name="TextBox 4"/>
          <p:cNvSpPr txBox="1"/>
          <p:nvPr/>
        </p:nvSpPr>
        <p:spPr>
          <a:xfrm>
            <a:off x="777240" y="5120640"/>
            <a:ext cx="9905695" cy="731520"/>
          </a:xfrm>
          <a:prstGeom prst="rect">
            <a:avLst/>
          </a:prstGeom>
          <a:noFill/>
        </p:spPr>
        <p:txBody>
          <a:bodyPr wrap="square" lIns="0" rIns="0" tIns="0" bIns="0">
            <a:spAutoFit/>
          </a:bodyPr>
          <a:lstStyle/>
          <a:p>
            <a:pPr>
              <a:lnSpc>
                <a:spcPct val="120000"/>
              </a:lnSpc>
            </a:pPr>
            <a:r>
              <a:rPr sz="1400" b="0">
                <a:solidFill>
                  <a:srgbClr val="6B6B6B"/>
                </a:solidFill>
                <a:latin typeface="Trebuchet MS"/>
              </a:rPr>
              <a:t>One number, cheap to compute, redirected the whole submission strategy. It cost an afternoon and it was the highest-return work in the NER track.</a:t>
            </a:r>
          </a:p>
        </p:txBody>
      </p:sp>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 · Subtask 1
Nested Arabic NER</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F5673"/>
        </a:solidFill>
        <a:effectLst/>
      </p:bgPr>
    </p:bg>
    <p:spTree>
      <p:nvGrpSpPr>
        <p:cNvPr id="1" name=""/>
        <p:cNvGrpSpPr/>
        <p:nvPr/>
      </p:nvGrpSpPr>
      <p:grpSpPr/>
      <p:sp>
        <p:nvSpPr>
          <p:cNvPr id="2" name="TextBox 1"/>
          <p:cNvSpPr txBox="1"/>
          <p:nvPr/>
        </p:nvSpPr>
        <p:spPr>
          <a:xfrm>
            <a:off x="1005840" y="1371600"/>
            <a:ext cx="5120640" cy="1097280"/>
          </a:xfrm>
          <a:prstGeom prst="rect">
            <a:avLst/>
          </a:prstGeom>
          <a:noFill/>
        </p:spPr>
        <p:txBody>
          <a:bodyPr wrap="square" lIns="0" rIns="0" tIns="0" bIns="0">
            <a:spAutoFit/>
          </a:bodyPr>
          <a:lstStyle/>
          <a:p>
            <a:r>
              <a:rPr sz="1500" b="1">
                <a:solidFill>
                  <a:srgbClr val="E8A57C"/>
                </a:solidFill>
                <a:latin typeface="Trebuchet MS"/>
              </a:rPr>
              <a:t>PART III</a:t>
            </a:r>
          </a:p>
        </p:txBody>
      </p:sp>
      <p:sp>
        <p:nvSpPr>
          <p:cNvPr id="3" name="TextBox 2"/>
          <p:cNvSpPr txBox="1"/>
          <p:nvPr/>
        </p:nvSpPr>
        <p:spPr>
          <a:xfrm>
            <a:off x="1005840" y="1828800"/>
            <a:ext cx="5120640" cy="2011680"/>
          </a:xfrm>
          <a:prstGeom prst="rect">
            <a:avLst/>
          </a:prstGeom>
          <a:noFill/>
        </p:spPr>
        <p:txBody>
          <a:bodyPr wrap="square" lIns="0" rIns="0" tIns="0" bIns="0">
            <a:spAutoFit/>
          </a:bodyPr>
          <a:lstStyle/>
          <a:p>
            <a:pPr>
              <a:lnSpc>
                <a:spcPct val="110000"/>
              </a:lnSpc>
            </a:pPr>
            <a:r>
              <a:rPr sz="3400" b="1">
                <a:solidFill>
                  <a:srgbClr val="FFFFFF"/>
                </a:solidFill>
                <a:latin typeface="Trebuchet MS"/>
              </a:rPr>
              <a:t>Subtask 2</a:t>
            </a:r>
            <a:br/>
            <a:r>
              <a:rPr sz="3400" b="1">
                <a:solidFill>
                  <a:srgbClr val="FFFFFF"/>
                </a:solidFill>
                <a:latin typeface="Trebuchet MS"/>
              </a:rPr>
              <a:t>Relation extraction</a:t>
            </a:r>
          </a:p>
        </p:txBody>
      </p:sp>
      <p:sp>
        <p:nvSpPr>
          <p:cNvPr id="4" name="TextBox 3"/>
          <p:cNvSpPr txBox="1"/>
          <p:nvPr/>
        </p:nvSpPr>
        <p:spPr>
          <a:xfrm>
            <a:off x="1005840" y="3886200"/>
            <a:ext cx="4937760" cy="1463040"/>
          </a:xfrm>
          <a:prstGeom prst="rect">
            <a:avLst/>
          </a:prstGeom>
          <a:noFill/>
        </p:spPr>
        <p:txBody>
          <a:bodyPr wrap="square" lIns="0" rIns="0" tIns="0" bIns="0">
            <a:spAutoFit/>
          </a:bodyPr>
          <a:lstStyle/>
          <a:p>
            <a:pPr>
              <a:lnSpc>
                <a:spcPct val="125000"/>
              </a:lnSpc>
            </a:pPr>
            <a:r>
              <a:rPr sz="1500">
                <a:solidFill>
                  <a:srgbClr val="CBDDE6"/>
                </a:solidFill>
                <a:latin typeface="Trebuchet MS"/>
              </a:rPr>
              <a:t>Sections 8 to 10. How you point a model at two specific entities, how a type system gets injected into a neural classifier, and how to split data that is not independent.</a:t>
            </a:r>
          </a:p>
        </p:txBody>
      </p:sp>
      <p:sp>
        <p:nvSpPr>
          <p:cNvPr id="5" name="Rectangle 4"/>
          <p:cNvSpPr/>
          <p:nvPr/>
        </p:nvSpPr>
        <p:spPr>
          <a:xfrm>
            <a:off x="6858000" y="1600200"/>
            <a:ext cx="9144" cy="1270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0" y="1463040"/>
            <a:ext cx="4297680" cy="3931920"/>
          </a:xfrm>
          <a:prstGeom prst="roundRect">
            <a:avLst>
              <a:gd name="adj" fmla="val 3000"/>
            </a:avLst>
          </a:prstGeom>
          <a:solidFill>
            <a:srgbClr val="1A49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4048" rIns="329184" tIns="347472"/>
          <a:lstStyle/>
          <a:p>
            <a:pPr algn="l" marL="256032" indent="-256032">
              <a:lnSpc>
                <a:spcPct val="115000"/>
              </a:lnSpc>
              <a:spcAft>
                <a:spcPts val="1100"/>
              </a:spcAft>
            </a:pPr>
            <a:r>
              <a:rPr sz="1400">
                <a:solidFill>
                  <a:srgbClr val="D9E7EE"/>
                </a:solidFill>
                <a:latin typeface="Trebuchet MS"/>
              </a:rPr>
              <a:t>·   Forced choice, and what is not being asked</a:t>
            </a:r>
          </a:p>
          <a:p>
            <a:pPr algn="l" marL="256032" indent="-256032">
              <a:lnSpc>
                <a:spcPct val="115000"/>
              </a:lnSpc>
              <a:spcAft>
                <a:spcPts val="1100"/>
              </a:spcAft>
            </a:pPr>
            <a:r>
              <a:rPr sz="1400">
                <a:solidFill>
                  <a:srgbClr val="D9E7EE"/>
                </a:solidFill>
                <a:latin typeface="Trebuchet MS"/>
              </a:rPr>
              <a:t>·   Typed punctuation markers, including the nesting case</a:t>
            </a:r>
          </a:p>
          <a:p>
            <a:pPr algn="l" marL="256032" indent="-256032">
              <a:lnSpc>
                <a:spcPct val="115000"/>
              </a:lnSpc>
              <a:spcAft>
                <a:spcPts val="1100"/>
              </a:spcAft>
            </a:pPr>
            <a:r>
              <a:rPr sz="1400">
                <a:solidFill>
                  <a:srgbClr val="D9E7EE"/>
                </a:solidFill>
                <a:latin typeface="Trebuchet MS"/>
              </a:rPr>
              <a:t>·   Recovering entity types the test set does not give us</a:t>
            </a:r>
          </a:p>
          <a:p>
            <a:pPr algn="l" marL="256032" indent="-256032">
              <a:lnSpc>
                <a:spcPct val="115000"/>
              </a:lnSpc>
              <a:spcAft>
                <a:spcPts val="1100"/>
              </a:spcAft>
            </a:pPr>
            <a:r>
              <a:rPr sz="1400">
                <a:solidFill>
                  <a:srgbClr val="D9E7EE"/>
                </a:solidFill>
                <a:latin typeface="Trebuchet MS"/>
              </a:rPr>
              <a:t>·   Constraint decoding: soft penalty, not a hard mask</a:t>
            </a:r>
          </a:p>
          <a:p>
            <a:pPr algn="l" marL="256032" indent="-256032">
              <a:lnSpc>
                <a:spcPct val="115000"/>
              </a:lnSpc>
              <a:spcAft>
                <a:spcPts val="1100"/>
              </a:spcAft>
            </a:pPr>
            <a:r>
              <a:rPr sz="1400">
                <a:solidFill>
                  <a:srgbClr val="D9E7EE"/>
                </a:solidFill>
                <a:latin typeface="Trebuchet MS"/>
              </a:rPr>
              <a:t>·   Grouped k-fold, leakage, and out-of-fold prediction</a:t>
            </a:r>
          </a:p>
        </p:txBody>
      </p:sp>
      <p:sp>
        <p:nvSpPr>
          <p:cNvPr id="7" name="TextBox 6"/>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8" name="TextBox 7"/>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8 · SUBTASK 2</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The task setup, and what is not asked</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Given a sentence and </a:t>
            </a:r>
            <a:r>
              <a:rPr b="1" sz="1600">
                <a:solidFill>
                  <a:srgbClr val="6B6B6B"/>
                </a:solidFill>
                <a:latin typeface="Trebuchet MS"/>
              </a:rPr>
              <a:t>two marked mentions</a:t>
            </a:r>
            <a:r>
              <a:rPr sz="1600" b="0">
                <a:solidFill>
                  <a:srgbClr val="6B6B6B"/>
                </a:solidFill>
                <a:latin typeface="Trebuchet MS"/>
              </a:rPr>
              <a:t> (a subject and an object), output which of 40 relations holds.</a:t>
            </a:r>
          </a:p>
        </p:txBody>
      </p:sp>
      <p:sp>
        <p:nvSpPr>
          <p:cNvPr id="6" name="Rounded Rectangle 5"/>
          <p:cNvSpPr/>
          <p:nvPr/>
        </p:nvSpPr>
        <p:spPr>
          <a:xfrm>
            <a:off x="777240" y="2009648"/>
            <a:ext cx="5163159" cy="155448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Not asked: find the entities</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They are given to us</a:t>
            </a:r>
          </a:p>
        </p:txBody>
      </p:sp>
      <p:sp>
        <p:nvSpPr>
          <p:cNvPr id="7" name="Rounded Rectangle 6"/>
          <p:cNvSpPr/>
          <p:nvPr/>
        </p:nvSpPr>
        <p:spPr>
          <a:xfrm>
            <a:off x="6251295" y="2009648"/>
            <a:ext cx="5163159" cy="155448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Not asked: does a relation exist?</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The test set contains only </a:t>
            </a:r>
            <a:r>
              <a:rPr b="1" sz="1500">
                <a:solidFill>
                  <a:srgbClr val="1A1A1A"/>
                </a:solidFill>
                <a:latin typeface="Trebuchet MS"/>
              </a:rPr>
              <a:t>positive</a:t>
            </a:r>
            <a:r>
              <a:rPr sz="1500" b="0">
                <a:solidFill>
                  <a:srgbClr val="1A1A1A"/>
                </a:solidFill>
                <a:latin typeface="Trebuchet MS"/>
              </a:rPr>
              <a:t> pairs, so the model must always choose some relation</a:t>
            </a:r>
          </a:p>
        </p:txBody>
      </p:sp>
      <p:sp>
        <p:nvSpPr>
          <p:cNvPr id="8" name="Rounded Rectangle 7"/>
          <p:cNvSpPr/>
          <p:nvPr/>
        </p:nvSpPr>
        <p:spPr>
          <a:xfrm>
            <a:off x="777240" y="3765296"/>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THIS IS CALLED FORCED CHOICE, AND IT HAS A CONSEQUENCE</a:t>
            </a:r>
          </a:p>
          <a:p>
            <a:pPr>
              <a:lnSpc>
                <a:spcPct val="124000"/>
              </a:lnSpc>
            </a:pPr>
            <a:r>
              <a:rPr sz="1500" b="0">
                <a:solidFill>
                  <a:srgbClr val="1A1A1A"/>
                </a:solidFill>
                <a:latin typeface="Trebuchet MS"/>
              </a:rPr>
              <a:t>Because every instance gets exactly one prediction and has exactly one gold label, precision, recall, and F1 all collapse to the same number. Part IV derives it. It is an identity, not a reporting shortcut.</a:t>
            </a:r>
          </a:p>
        </p:txBody>
      </p:sp>
      <p:sp>
        <p:nvSpPr>
          <p:cNvPr id="9" name="Rectangle 8"/>
          <p:cNvSpPr/>
          <p:nvPr/>
        </p:nvSpPr>
        <p:spPr>
          <a:xfrm>
            <a:off x="777240" y="3765296"/>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11" name="TextBox 10"/>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8 · ENTITY MARKERS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How does the model know which two entities?</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The sentence is just a string of tokens. Fed to BERT unchanged, nothing indicates which two mentions we are asking about. The standard modern solution is </a:t>
            </a:r>
            <a:r>
              <a:rPr b="1" sz="1600">
                <a:solidFill>
                  <a:srgbClr val="6B6B6B"/>
                </a:solidFill>
                <a:latin typeface="Trebuchet MS"/>
              </a:rPr>
              <a:t>entity markers</a:t>
            </a:r>
            <a:r>
              <a:rPr sz="1600" b="0">
                <a:solidFill>
                  <a:srgbClr val="6B6B6B"/>
                </a:solidFill>
                <a:latin typeface="Trebuchet MS"/>
              </a:rPr>
              <a:t>: insert special text around each mention.</a:t>
            </a:r>
          </a:p>
        </p:txBody>
      </p:sp>
      <p:sp>
        <p:nvSpPr>
          <p:cNvPr id="6" name="TextBox 5"/>
          <p:cNvSpPr txBox="1"/>
          <p:nvPr/>
        </p:nvSpPr>
        <p:spPr>
          <a:xfrm>
            <a:off x="777240" y="251764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We use </a:t>
            </a:r>
            <a:r>
              <a:rPr b="1" sz="1600">
                <a:solidFill>
                  <a:srgbClr val="6B6B6B"/>
                </a:solidFill>
                <a:latin typeface="Trebuchet MS"/>
              </a:rPr>
              <a:t>typed punctuation markers</a:t>
            </a:r>
            <a:r>
              <a:rPr sz="1600" b="0">
                <a:solidFill>
                  <a:srgbClr val="6B6B6B"/>
                </a:solidFill>
                <a:latin typeface="Trebuchet MS"/>
              </a:rPr>
              <a:t> (Zhou and Chen, 2022):</a:t>
            </a:r>
          </a:p>
        </p:txBody>
      </p:sp>
      <p:sp>
        <p:nvSpPr>
          <p:cNvPr id="7" name="TextBox 6"/>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8" name="TextBox 7"/>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44</a:t>
            </a:r>
          </a:p>
        </p:txBody>
      </p:sp>
      <p:sp>
        <p:nvSpPr>
          <p:cNvPr id="9" name="Rounded Rectangle 8"/>
          <p:cNvSpPr/>
          <p:nvPr/>
        </p:nvSpPr>
        <p:spPr>
          <a:xfrm>
            <a:off x="777240" y="3017520"/>
            <a:ext cx="5120640" cy="914400"/>
          </a:xfrm>
          <a:prstGeom prst="roundRect">
            <a:avLst>
              <a:gd name="adj" fmla="val 4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0" name="TextBox 9"/>
          <p:cNvSpPr txBox="1"/>
          <p:nvPr/>
        </p:nvSpPr>
        <p:spPr>
          <a:xfrm>
            <a:off x="960120" y="3127248"/>
            <a:ext cx="4754880" cy="292608"/>
          </a:xfrm>
          <a:prstGeom prst="rect">
            <a:avLst/>
          </a:prstGeom>
          <a:noFill/>
        </p:spPr>
        <p:txBody>
          <a:bodyPr wrap="square" lIns="0" rIns="0" tIns="0" bIns="0">
            <a:spAutoFit/>
          </a:bodyPr>
          <a:lstStyle/>
          <a:p>
            <a:pPr algn="ctr">
              <a:lnSpc>
                <a:spcPct val="115000"/>
              </a:lnSpc>
            </a:pPr>
            <a:r>
              <a:rPr sz="1900" b="1">
                <a:solidFill>
                  <a:srgbClr val="1F5673"/>
                </a:solidFill>
                <a:latin typeface="Trebuchet MS"/>
              </a:rPr>
              <a:t>@  *  type  *   mention   @</a:t>
            </a:r>
          </a:p>
        </p:txBody>
      </p:sp>
      <p:sp>
        <p:nvSpPr>
          <p:cNvPr id="11" name="TextBox 10"/>
          <p:cNvSpPr txBox="1"/>
          <p:nvPr/>
        </p:nvSpPr>
        <p:spPr>
          <a:xfrm>
            <a:off x="960120" y="3529584"/>
            <a:ext cx="4754880" cy="292608"/>
          </a:xfrm>
          <a:prstGeom prst="rect">
            <a:avLst/>
          </a:prstGeom>
          <a:noFill/>
        </p:spPr>
        <p:txBody>
          <a:bodyPr wrap="square" lIns="0" rIns="0" tIns="0" bIns="0">
            <a:spAutoFit/>
          </a:bodyPr>
          <a:lstStyle/>
          <a:p>
            <a:pPr algn="ctr">
              <a:lnSpc>
                <a:spcPct val="115000"/>
              </a:lnSpc>
            </a:pPr>
            <a:r>
              <a:rPr sz="1300" b="0">
                <a:solidFill>
                  <a:srgbClr val="6B6B6B"/>
                </a:solidFill>
                <a:latin typeface="Trebuchet MS"/>
              </a:rPr>
              <a:t>subject</a:t>
            </a:r>
          </a:p>
        </p:txBody>
      </p:sp>
      <p:sp>
        <p:nvSpPr>
          <p:cNvPr id="12" name="Rounded Rectangle 11"/>
          <p:cNvSpPr/>
          <p:nvPr/>
        </p:nvSpPr>
        <p:spPr>
          <a:xfrm>
            <a:off x="6291072" y="3017520"/>
            <a:ext cx="5120640" cy="914400"/>
          </a:xfrm>
          <a:prstGeom prst="roundRect">
            <a:avLst>
              <a:gd name="adj" fmla="val 4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3" name="TextBox 12"/>
          <p:cNvSpPr txBox="1"/>
          <p:nvPr/>
        </p:nvSpPr>
        <p:spPr>
          <a:xfrm>
            <a:off x="6473952" y="3127248"/>
            <a:ext cx="4754880" cy="292608"/>
          </a:xfrm>
          <a:prstGeom prst="rect">
            <a:avLst/>
          </a:prstGeom>
          <a:noFill/>
        </p:spPr>
        <p:txBody>
          <a:bodyPr wrap="square" lIns="0" rIns="0" tIns="0" bIns="0">
            <a:spAutoFit/>
          </a:bodyPr>
          <a:lstStyle/>
          <a:p>
            <a:pPr algn="ctr">
              <a:lnSpc>
                <a:spcPct val="115000"/>
              </a:lnSpc>
            </a:pPr>
            <a:r>
              <a:rPr sz="1900" b="1">
                <a:solidFill>
                  <a:srgbClr val="9E4A2B"/>
                </a:solidFill>
                <a:latin typeface="Trebuchet MS"/>
              </a:rPr>
              <a:t>#  ^  type  ^   mention   #</a:t>
            </a:r>
          </a:p>
        </p:txBody>
      </p:sp>
      <p:sp>
        <p:nvSpPr>
          <p:cNvPr id="14" name="TextBox 13"/>
          <p:cNvSpPr txBox="1"/>
          <p:nvPr/>
        </p:nvSpPr>
        <p:spPr>
          <a:xfrm>
            <a:off x="6473952" y="3529584"/>
            <a:ext cx="4754880" cy="292608"/>
          </a:xfrm>
          <a:prstGeom prst="rect">
            <a:avLst/>
          </a:prstGeom>
          <a:noFill/>
        </p:spPr>
        <p:txBody>
          <a:bodyPr wrap="square" lIns="0" rIns="0" tIns="0" bIns="0">
            <a:spAutoFit/>
          </a:bodyPr>
          <a:lstStyle/>
          <a:p>
            <a:pPr algn="ctr">
              <a:lnSpc>
                <a:spcPct val="115000"/>
              </a:lnSpc>
            </a:pPr>
            <a:r>
              <a:rPr sz="1300" b="0">
                <a:solidFill>
                  <a:srgbClr val="6B6B6B"/>
                </a:solidFill>
                <a:latin typeface="Trebuchet MS"/>
              </a:rPr>
              <a:t>object</a:t>
            </a:r>
          </a:p>
        </p:txBody>
      </p:sp>
      <p:sp>
        <p:nvSpPr>
          <p:cNvPr id="15" name="TextBox 14"/>
          <p:cNvSpPr txBox="1"/>
          <p:nvPr/>
        </p:nvSpPr>
        <p:spPr>
          <a:xfrm>
            <a:off x="777240" y="4224528"/>
            <a:ext cx="10607040" cy="292608"/>
          </a:xfrm>
          <a:prstGeom prst="rect">
            <a:avLst/>
          </a:prstGeom>
          <a:noFill/>
        </p:spPr>
        <p:txBody>
          <a:bodyPr wrap="square" lIns="0" rIns="0" tIns="0" bIns="0">
            <a:spAutoFit/>
          </a:bodyPr>
          <a:lstStyle/>
          <a:p>
            <a:pPr algn="l">
              <a:lnSpc>
                <a:spcPct val="115000"/>
              </a:lnSpc>
            </a:pPr>
            <a:r>
              <a:rPr sz="1350" b="0">
                <a:solidFill>
                  <a:srgbClr val="6B6B6B"/>
                </a:solidFill>
                <a:latin typeface="Trebuchet MS"/>
              </a:rPr>
              <a:t>The marked sentence, for located_in(Birzeit University, Birzeit). Arabic reads right to left, so read the row from the right:</a:t>
            </a:r>
          </a:p>
        </p:txBody>
      </p:sp>
      <p:sp>
        <p:nvSpPr>
          <p:cNvPr id="16" name="TextBox 15"/>
          <p:cNvSpPr txBox="1"/>
          <p:nvPr/>
        </p:nvSpPr>
        <p:spPr>
          <a:xfrm>
            <a:off x="10362895" y="4617720"/>
            <a:ext cx="1051560" cy="457200"/>
          </a:xfrm>
          <a:prstGeom prst="rect">
            <a:avLst/>
          </a:prstGeom>
          <a:noFill/>
        </p:spPr>
        <p:txBody>
          <a:bodyPr wrap="square" lIns="0" rIns="0" tIns="0" bIns="0">
            <a:spAutoFit/>
          </a:bodyPr>
          <a:lstStyle/>
          <a:p>
            <a:pPr algn="ctr">
              <a:lnSpc>
                <a:spcPct val="115000"/>
              </a:lnSpc>
            </a:pPr>
            <a:r>
              <a:rPr sz="1900" b="0">
                <a:solidFill>
                  <a:srgbClr val="1A1A1A"/>
                </a:solidFill>
                <a:latin typeface="Arial"/>
              </a:rPr>
              <a:t>عملت في</a:t>
            </a:r>
          </a:p>
        </p:txBody>
      </p:sp>
      <p:sp>
        <p:nvSpPr>
          <p:cNvPr id="17" name="Rounded Rectangle 16"/>
          <p:cNvSpPr/>
          <p:nvPr/>
        </p:nvSpPr>
        <p:spPr>
          <a:xfrm>
            <a:off x="8908999" y="4562856"/>
            <a:ext cx="1325880" cy="566928"/>
          </a:xfrm>
          <a:prstGeom prst="roundRect">
            <a:avLst>
              <a:gd name="adj" fmla="val 8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8" name="TextBox 17"/>
          <p:cNvSpPr txBox="1"/>
          <p:nvPr/>
        </p:nvSpPr>
        <p:spPr>
          <a:xfrm>
            <a:off x="8908999" y="4617720"/>
            <a:ext cx="1325880" cy="457200"/>
          </a:xfrm>
          <a:prstGeom prst="rect">
            <a:avLst/>
          </a:prstGeom>
          <a:noFill/>
        </p:spPr>
        <p:txBody>
          <a:bodyPr wrap="square" lIns="0" rIns="0" tIns="0" bIns="0">
            <a:spAutoFit/>
          </a:bodyPr>
          <a:lstStyle/>
          <a:p>
            <a:pPr algn="ctr">
              <a:lnSpc>
                <a:spcPct val="115000"/>
              </a:lnSpc>
            </a:pPr>
            <a:r>
              <a:rPr sz="1900" b="1">
                <a:solidFill>
                  <a:srgbClr val="1F5673"/>
                </a:solidFill>
                <a:latin typeface="Trebuchet MS"/>
              </a:rPr>
              <a:t>@ * org *</a:t>
            </a:r>
          </a:p>
        </p:txBody>
      </p:sp>
      <p:sp>
        <p:nvSpPr>
          <p:cNvPr id="19" name="TextBox 18"/>
          <p:cNvSpPr txBox="1"/>
          <p:nvPr/>
        </p:nvSpPr>
        <p:spPr>
          <a:xfrm>
            <a:off x="7089343" y="4617720"/>
            <a:ext cx="1691640" cy="457200"/>
          </a:xfrm>
          <a:prstGeom prst="rect">
            <a:avLst/>
          </a:prstGeom>
          <a:noFill/>
        </p:spPr>
        <p:txBody>
          <a:bodyPr wrap="square" lIns="0" rIns="0" tIns="0" bIns="0">
            <a:spAutoFit/>
          </a:bodyPr>
          <a:lstStyle/>
          <a:p>
            <a:pPr algn="ctr">
              <a:lnSpc>
                <a:spcPct val="115000"/>
              </a:lnSpc>
            </a:pPr>
            <a:r>
              <a:rPr sz="1900" b="0">
                <a:solidFill>
                  <a:srgbClr val="1A1A1A"/>
                </a:solidFill>
                <a:latin typeface="Arial"/>
              </a:rPr>
              <a:t>جامعة بيرزيت</a:t>
            </a:r>
          </a:p>
        </p:txBody>
      </p:sp>
      <p:sp>
        <p:nvSpPr>
          <p:cNvPr id="20" name="Rounded Rectangle 19"/>
          <p:cNvSpPr/>
          <p:nvPr/>
        </p:nvSpPr>
        <p:spPr>
          <a:xfrm>
            <a:off x="6549847" y="4562856"/>
            <a:ext cx="411480" cy="566928"/>
          </a:xfrm>
          <a:prstGeom prst="roundRect">
            <a:avLst>
              <a:gd name="adj" fmla="val 8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21" name="TextBox 20"/>
          <p:cNvSpPr txBox="1"/>
          <p:nvPr/>
        </p:nvSpPr>
        <p:spPr>
          <a:xfrm>
            <a:off x="6549847" y="4617720"/>
            <a:ext cx="411480" cy="457200"/>
          </a:xfrm>
          <a:prstGeom prst="rect">
            <a:avLst/>
          </a:prstGeom>
          <a:noFill/>
        </p:spPr>
        <p:txBody>
          <a:bodyPr wrap="square" lIns="0" rIns="0" tIns="0" bIns="0">
            <a:spAutoFit/>
          </a:bodyPr>
          <a:lstStyle/>
          <a:p>
            <a:pPr algn="ctr">
              <a:lnSpc>
                <a:spcPct val="115000"/>
              </a:lnSpc>
            </a:pPr>
            <a:r>
              <a:rPr sz="1900" b="1">
                <a:solidFill>
                  <a:srgbClr val="1F5673"/>
                </a:solidFill>
                <a:latin typeface="Trebuchet MS"/>
              </a:rPr>
              <a:t>@</a:t>
            </a:r>
          </a:p>
        </p:txBody>
      </p:sp>
      <p:sp>
        <p:nvSpPr>
          <p:cNvPr id="22" name="TextBox 21"/>
          <p:cNvSpPr txBox="1"/>
          <p:nvPr/>
        </p:nvSpPr>
        <p:spPr>
          <a:xfrm>
            <a:off x="5233111" y="4617720"/>
            <a:ext cx="1188720" cy="457200"/>
          </a:xfrm>
          <a:prstGeom prst="rect">
            <a:avLst/>
          </a:prstGeom>
          <a:noFill/>
        </p:spPr>
        <p:txBody>
          <a:bodyPr wrap="square" lIns="0" rIns="0" tIns="0" bIns="0">
            <a:spAutoFit/>
          </a:bodyPr>
          <a:lstStyle/>
          <a:p>
            <a:pPr algn="ctr">
              <a:lnSpc>
                <a:spcPct val="115000"/>
              </a:lnSpc>
            </a:pPr>
            <a:r>
              <a:rPr sz="1900" b="0">
                <a:solidFill>
                  <a:srgbClr val="1A1A1A"/>
                </a:solidFill>
                <a:latin typeface="Arial"/>
              </a:rPr>
              <a:t>في مدينة</a:t>
            </a:r>
          </a:p>
        </p:txBody>
      </p:sp>
      <p:sp>
        <p:nvSpPr>
          <p:cNvPr id="23" name="Rounded Rectangle 22"/>
          <p:cNvSpPr/>
          <p:nvPr/>
        </p:nvSpPr>
        <p:spPr>
          <a:xfrm>
            <a:off x="3779215" y="4562856"/>
            <a:ext cx="1325880" cy="566928"/>
          </a:xfrm>
          <a:prstGeom prst="roundRect">
            <a:avLst>
              <a:gd name="adj" fmla="val 8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24" name="TextBox 23"/>
          <p:cNvSpPr txBox="1"/>
          <p:nvPr/>
        </p:nvSpPr>
        <p:spPr>
          <a:xfrm>
            <a:off x="3779215" y="4617720"/>
            <a:ext cx="1325880" cy="457200"/>
          </a:xfrm>
          <a:prstGeom prst="rect">
            <a:avLst/>
          </a:prstGeom>
          <a:noFill/>
        </p:spPr>
        <p:txBody>
          <a:bodyPr wrap="square" lIns="0" rIns="0" tIns="0" bIns="0">
            <a:spAutoFit/>
          </a:bodyPr>
          <a:lstStyle/>
          <a:p>
            <a:pPr algn="ctr">
              <a:lnSpc>
                <a:spcPct val="115000"/>
              </a:lnSpc>
            </a:pPr>
            <a:r>
              <a:rPr sz="1900" b="1">
                <a:solidFill>
                  <a:srgbClr val="9E4A2B"/>
                </a:solidFill>
                <a:latin typeface="Trebuchet MS"/>
              </a:rPr>
              <a:t># ^ gpe ^</a:t>
            </a:r>
          </a:p>
        </p:txBody>
      </p:sp>
      <p:sp>
        <p:nvSpPr>
          <p:cNvPr id="25" name="TextBox 24"/>
          <p:cNvSpPr txBox="1"/>
          <p:nvPr/>
        </p:nvSpPr>
        <p:spPr>
          <a:xfrm>
            <a:off x="2599639" y="4617720"/>
            <a:ext cx="1051560" cy="457200"/>
          </a:xfrm>
          <a:prstGeom prst="rect">
            <a:avLst/>
          </a:prstGeom>
          <a:noFill/>
        </p:spPr>
        <p:txBody>
          <a:bodyPr wrap="square" lIns="0" rIns="0" tIns="0" bIns="0">
            <a:spAutoFit/>
          </a:bodyPr>
          <a:lstStyle/>
          <a:p>
            <a:pPr algn="ctr">
              <a:lnSpc>
                <a:spcPct val="115000"/>
              </a:lnSpc>
            </a:pPr>
            <a:r>
              <a:rPr sz="1900" b="0">
                <a:solidFill>
                  <a:srgbClr val="1A1A1A"/>
                </a:solidFill>
                <a:latin typeface="Arial"/>
              </a:rPr>
              <a:t>بيرزيت</a:t>
            </a:r>
          </a:p>
        </p:txBody>
      </p:sp>
      <p:sp>
        <p:nvSpPr>
          <p:cNvPr id="26" name="Rounded Rectangle 25"/>
          <p:cNvSpPr/>
          <p:nvPr/>
        </p:nvSpPr>
        <p:spPr>
          <a:xfrm>
            <a:off x="2060143" y="4562856"/>
            <a:ext cx="411480" cy="566928"/>
          </a:xfrm>
          <a:prstGeom prst="roundRect">
            <a:avLst>
              <a:gd name="adj" fmla="val 8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27" name="TextBox 26"/>
          <p:cNvSpPr txBox="1"/>
          <p:nvPr/>
        </p:nvSpPr>
        <p:spPr>
          <a:xfrm>
            <a:off x="2060143" y="4617720"/>
            <a:ext cx="411480" cy="457200"/>
          </a:xfrm>
          <a:prstGeom prst="rect">
            <a:avLst/>
          </a:prstGeom>
          <a:noFill/>
        </p:spPr>
        <p:txBody>
          <a:bodyPr wrap="square" lIns="0" rIns="0" tIns="0" bIns="0">
            <a:spAutoFit/>
          </a:bodyPr>
          <a:lstStyle/>
          <a:p>
            <a:pPr algn="ctr">
              <a:lnSpc>
                <a:spcPct val="115000"/>
              </a:lnSpc>
            </a:pPr>
            <a:r>
              <a:rPr sz="1900" b="1">
                <a:solidFill>
                  <a:srgbClr val="9E4A2B"/>
                </a:solidFill>
                <a:latin typeface="Trebuchet MS"/>
              </a:rPr>
              <a:t>#</a:t>
            </a:r>
          </a:p>
        </p:txBody>
      </p:sp>
      <p:sp>
        <p:nvSpPr>
          <p:cNvPr id="28" name="TextBox 27"/>
          <p:cNvSpPr txBox="1"/>
          <p:nvPr/>
        </p:nvSpPr>
        <p:spPr>
          <a:xfrm>
            <a:off x="777240" y="5230368"/>
            <a:ext cx="10607040" cy="292608"/>
          </a:xfrm>
          <a:prstGeom prst="rect">
            <a:avLst/>
          </a:prstGeom>
          <a:noFill/>
        </p:spPr>
        <p:txBody>
          <a:bodyPr wrap="square" lIns="0" rIns="0" tIns="0" bIns="0">
            <a:spAutoFit/>
          </a:bodyPr>
          <a:lstStyle/>
          <a:p>
            <a:pPr algn="r">
              <a:lnSpc>
                <a:spcPct val="115000"/>
              </a:lnSpc>
            </a:pPr>
            <a:r>
              <a:rPr sz="1350" b="0">
                <a:solidFill>
                  <a:srgbClr val="6B6B6B"/>
                </a:solidFill>
                <a:latin typeface="Trebuchet MS"/>
              </a:rPr>
              <a:t>The teal pair wraps the </a:t>
            </a:r>
            <a:r>
              <a:rPr b="1" sz="1350">
                <a:solidFill>
                  <a:srgbClr val="6B6B6B"/>
                </a:solidFill>
                <a:latin typeface="Trebuchet MS"/>
              </a:rPr>
              <a:t>subject</a:t>
            </a:r>
            <a:r>
              <a:rPr sz="1350" b="0">
                <a:solidFill>
                  <a:srgbClr val="6B6B6B"/>
                </a:solidFill>
                <a:latin typeface="Trebuchet MS"/>
              </a:rPr>
              <a:t>; the rust pair wraps the </a:t>
            </a:r>
            <a:r>
              <a:rPr b="1" sz="1350">
                <a:solidFill>
                  <a:srgbClr val="6B6B6B"/>
                </a:solidFill>
                <a:latin typeface="Trebuchet MS"/>
              </a:rPr>
              <a:t>object</a:t>
            </a:r>
            <a:r>
              <a:rPr sz="1350" b="0">
                <a:solidFill>
                  <a:srgbClr val="6B6B6B"/>
                </a:solidFill>
                <a:latin typeface="Trebuchet MS"/>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8 · WHY PUNCTUATION MARKERS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Three design details, each with a reason</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The markers carry the entity types</a:t>
            </a:r>
            <a:r>
              <a:rPr sz="1700" b="0">
                <a:solidFill>
                  <a:srgbClr val="1A1A1A"/>
                </a:solidFill>
                <a:latin typeface="Trebuchet MS"/>
              </a:rPr>
              <a:t> (</a:t>
            </a:r>
            <a:r>
              <a:rPr sz="1530" b="0">
                <a:solidFill>
                  <a:srgbClr val="1F5673"/>
                </a:solidFill>
                <a:latin typeface="Consolas"/>
              </a:rPr>
              <a:t>org</a:t>
            </a:r>
            <a:r>
              <a:rPr sz="1700" b="0">
                <a:solidFill>
                  <a:srgbClr val="1A1A1A"/>
                </a:solidFill>
                <a:latin typeface="Trebuchet MS"/>
              </a:rPr>
              <a:t>, </a:t>
            </a:r>
            <a:r>
              <a:rPr sz="1530" b="0">
                <a:solidFill>
                  <a:srgbClr val="1F5673"/>
                </a:solidFill>
                <a:latin typeface="Consolas"/>
              </a:rPr>
              <a:t>gpe</a:t>
            </a:r>
            <a:r>
              <a:rPr sz="1700" b="0">
                <a:solidFill>
                  <a:srgbClr val="1A1A1A"/>
                </a:solidFill>
                <a:latin typeface="Trebuchet MS"/>
              </a:rPr>
              <a:t>), not just positions. Type information is a strong signal: a PERS–ORG pair cannot be </a:t>
            </a:r>
            <a:r>
              <a:rPr sz="1530" b="0">
                <a:solidFill>
                  <a:srgbClr val="1F5673"/>
                </a:solidFill>
                <a:latin typeface="Consolas"/>
              </a:rPr>
              <a:t>has_border_with</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They are punctuation, not new vocabulary tokens.</a:t>
            </a:r>
            <a:r>
              <a:rPr sz="1700" b="0">
                <a:solidFill>
                  <a:srgbClr val="1A1A1A"/>
                </a:solidFill>
                <a:latin typeface="Trebuchet MS"/>
              </a:rPr>
              <a:t> Adding real tokens like </a:t>
            </a:r>
            <a:r>
              <a:rPr sz="1530" b="0">
                <a:solidFill>
                  <a:srgbClr val="1F5673"/>
                </a:solidFill>
                <a:latin typeface="Consolas"/>
              </a:rPr>
              <a:t>[E1]</a:t>
            </a:r>
            <a:r>
              <a:rPr sz="1700" b="0">
                <a:solidFill>
                  <a:srgbClr val="1A1A1A"/>
                </a:solidFill>
                <a:latin typeface="Trebuchet MS"/>
              </a:rPr>
              <a:t> to the tokenizer means they start with </a:t>
            </a:r>
            <a:r>
              <a:rPr i="1" b="0" sz="1700">
                <a:solidFill>
                  <a:srgbClr val="1A1A1A"/>
                </a:solidFill>
                <a:latin typeface="Trebuchet MS"/>
              </a:rPr>
              <a:t>random</a:t>
            </a:r>
            <a:r>
              <a:rPr sz="1700" b="0">
                <a:solidFill>
                  <a:srgbClr val="1A1A1A"/>
                </a:solidFill>
                <a:latin typeface="Trebuchet MS"/>
              </a:rPr>
              <a:t> embeddings and need enough data to learn them. At 17k examples, reusing characters BERT already understands is more sample-efficient</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They are inline text</a:t>
            </a:r>
            <a:r>
              <a:rPr sz="1700" b="0">
                <a:solidFill>
                  <a:srgbClr val="1A1A1A"/>
                </a:solidFill>
                <a:latin typeface="Trebuchet MS"/>
              </a:rPr>
              <a:t>, so self-attention handles them natively. No architectural change is needed at all</a:t>
            </a:r>
          </a:p>
        </p:txBody>
      </p:sp>
      <p:sp>
        <p:nvSpPr>
          <p:cNvPr id="6" name="Rounded Rectangle 5"/>
          <p:cNvSpPr/>
          <p:nvPr/>
        </p:nvSpPr>
        <p:spPr>
          <a:xfrm>
            <a:off x="777240" y="3887469"/>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THE SAMPLE-EFFICIENCY ARGUMENT GENERALIZES</a:t>
            </a:r>
          </a:p>
          <a:p>
            <a:pPr>
              <a:lnSpc>
                <a:spcPct val="124000"/>
              </a:lnSpc>
            </a:pPr>
            <a:r>
              <a:rPr sz="1500" b="0">
                <a:solidFill>
                  <a:srgbClr val="1A1A1A"/>
                </a:solidFill>
                <a:latin typeface="Trebuchet MS"/>
              </a:rPr>
              <a:t>Any time you are tempted to add new parameters to a pretrained model, ask whether you can express the same information in vocabulary the model already knows. New parameters need data; reused ones arrive pretrained.</a:t>
            </a:r>
          </a:p>
        </p:txBody>
      </p:sp>
      <p:sp>
        <p:nvSpPr>
          <p:cNvPr id="7" name="Rectangle 6"/>
          <p:cNvSpPr/>
          <p:nvPr/>
        </p:nvSpPr>
        <p:spPr>
          <a:xfrm>
            <a:off x="777240" y="3887469"/>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8 · THE CLASSIFICATION HEAD</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Reading the answer out of the marked sentence</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After encoding, take the hidden states at the two </a:t>
            </a:r>
            <a:r>
              <a:rPr b="1" sz="1600">
                <a:solidFill>
                  <a:srgbClr val="6B6B6B"/>
                </a:solidFill>
                <a:latin typeface="Trebuchet MS"/>
              </a:rPr>
              <a:t>start markers</a:t>
            </a:r>
            <a:r>
              <a:rPr sz="1600" b="0">
                <a:solidFill>
                  <a:srgbClr val="6B6B6B"/>
                </a:solidFill>
                <a:latin typeface="Trebuchet MS"/>
              </a:rPr>
              <a:t> (</a:t>
            </a:r>
            <a:r>
              <a:rPr sz="1440" b="0">
                <a:solidFill>
                  <a:srgbClr val="1F5673"/>
                </a:solidFill>
                <a:latin typeface="Consolas"/>
              </a:rPr>
              <a:t>@</a:t>
            </a:r>
            <a:r>
              <a:rPr sz="1600" b="0">
                <a:solidFill>
                  <a:srgbClr val="6B6B6B"/>
                </a:solidFill>
                <a:latin typeface="Trebuchet MS"/>
              </a:rPr>
              <a:t> and </a:t>
            </a:r>
            <a:r>
              <a:rPr sz="1440" b="0">
                <a:solidFill>
                  <a:srgbClr val="1F5673"/>
                </a:solidFill>
                <a:latin typeface="Consolas"/>
              </a:rPr>
              <a:t>#</a:t>
            </a:r>
            <a:r>
              <a:rPr sz="1600" b="0">
                <a:solidFill>
                  <a:srgbClr val="6B6B6B"/>
                </a:solidFill>
                <a:latin typeface="Trebuchet MS"/>
              </a:rPr>
              <a:t>), concatenate them into one 2H vector, and pass that through a small feed-forward classifier.</a:t>
            </a:r>
          </a:p>
        </p:txBody>
      </p:sp>
      <p:sp>
        <p:nvSpPr>
          <p:cNvPr id="6" name="Rounded Rectangle 5"/>
          <p:cNvSpPr/>
          <p:nvPr/>
        </p:nvSpPr>
        <p:spPr>
          <a:xfrm>
            <a:off x="777240" y="2263648"/>
            <a:ext cx="10637215" cy="633984"/>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none" lIns="237744" tIns="155448"/>
          <a:lstStyle/>
          <a:p>
            <a:pPr algn="l">
              <a:lnSpc>
                <a:spcPct val="132000"/>
              </a:lnSpc>
              <a:spcAft>
                <a:spcPts val="0"/>
              </a:spcAft>
            </a:pPr>
            <a:r>
              <a:rPr sz="1600" b="0">
                <a:solidFill>
                  <a:srgbClr val="1A1A1A"/>
                </a:solidFill>
                <a:latin typeface="Consolas"/>
              </a:rPr>
              <a:t>Linear(2H -&gt; H)  -&gt;  ReLU  -&gt;  Dropout  -&gt;  Linear(H -&gt; 41)</a:t>
            </a:r>
          </a:p>
        </p:txBody>
      </p:sp>
      <p:sp>
        <p:nvSpPr>
          <p:cNvPr id="7" name="Rounded Rectangle 6"/>
          <p:cNvSpPr/>
          <p:nvPr/>
        </p:nvSpPr>
        <p:spPr>
          <a:xfrm>
            <a:off x="777240" y="3062224"/>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WHY THE START MARKERS RATHER THAN THE MENTION TOKENS?</a:t>
            </a:r>
          </a:p>
          <a:p>
            <a:pPr>
              <a:lnSpc>
                <a:spcPct val="124000"/>
              </a:lnSpc>
            </a:pPr>
            <a:r>
              <a:rPr sz="1500" b="0">
                <a:solidFill>
                  <a:srgbClr val="1A1A1A"/>
                </a:solidFill>
                <a:latin typeface="Trebuchet MS"/>
              </a:rPr>
              <a:t>After self-attention, the marker position has aggregated information about the mention it wraps </a:t>
            </a:r>
            <a:r>
              <a:rPr b="1" sz="1500">
                <a:solidFill>
                  <a:srgbClr val="1A1A1A"/>
                </a:solidFill>
                <a:latin typeface="Trebuchet MS"/>
              </a:rPr>
              <a:t>and</a:t>
            </a:r>
            <a:r>
              <a:rPr sz="1500" b="0">
                <a:solidFill>
                  <a:srgbClr val="1A1A1A"/>
                </a:solidFill>
                <a:latin typeface="Trebuchet MS"/>
              </a:rPr>
              <a:t> its context. It acts as a summary slot. This is the standard finding from the marker literature, and it saves us from pooling over variable-length mentions.</a:t>
            </a:r>
          </a:p>
        </p:txBody>
      </p:sp>
      <p:sp>
        <p:nvSpPr>
          <p:cNvPr id="8" name="Rectangle 7"/>
          <p:cNvSpPr/>
          <p:nvPr/>
        </p:nvSpPr>
        <p:spPr>
          <a:xfrm>
            <a:off x="777240" y="3062224"/>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8 · WHAT THE CLEAN DESCRIPTION LEAVES OUT</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Two messy real-world details</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5163159" cy="288036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Ambiguous occurrences  (5.9%)</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If the mention string appears three times in the sentence, which occurrence do we mark?</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We choose the disjoint subject–object pair with the </a:t>
            </a:r>
            <a:r>
              <a:rPr b="1" sz="1450">
                <a:solidFill>
                  <a:srgbClr val="1A1A1A"/>
                </a:solidFill>
                <a:latin typeface="Trebuchet MS"/>
              </a:rPr>
              <a:t>smallest distance between them</a:t>
            </a:r>
            <a:r>
              <a:rPr sz="1450" b="0">
                <a:solidFill>
                  <a:srgbClr val="1A1A1A"/>
                </a:solidFill>
                <a:latin typeface="Trebuchet MS"/>
              </a:rPr>
              <a:t>, breaking ties leftmost</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The intuition: a stated relation usually involves nearby mentions</a:t>
            </a:r>
          </a:p>
        </p:txBody>
      </p:sp>
      <p:sp>
        <p:nvSpPr>
          <p:cNvPr id="6" name="Rounded Rectangle 5"/>
          <p:cNvSpPr/>
          <p:nvPr/>
        </p:nvSpPr>
        <p:spPr>
          <a:xfrm>
            <a:off x="6251295" y="1572768"/>
            <a:ext cx="5163159" cy="2880360"/>
          </a:xfrm>
          <a:prstGeom prst="roundRect">
            <a:avLst>
              <a:gd name="adj" fmla="val 3000"/>
            </a:avLst>
          </a:prstGeom>
          <a:solidFill>
            <a:srgbClr val="FBE9C8"/>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Containment  (about 20%)</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Frequently the object is </a:t>
            </a:r>
            <a:r>
              <a:rPr i="1" b="0" sz="1450">
                <a:solidFill>
                  <a:srgbClr val="1A1A1A"/>
                </a:solidFill>
                <a:latin typeface="Trebuchet MS"/>
              </a:rPr>
              <a:t>inside</a:t>
            </a:r>
            <a:r>
              <a:rPr sz="1450" b="0">
                <a:solidFill>
                  <a:srgbClr val="1A1A1A"/>
                </a:solidFill>
                <a:latin typeface="Trebuchet MS"/>
              </a:rPr>
              <a:t> the subject, as in located_in(Birzeit University, Birzeit)</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Naive marking would corrupt the text, so we </a:t>
            </a:r>
            <a:r>
              <a:rPr b="1" sz="1450">
                <a:solidFill>
                  <a:srgbClr val="1A1A1A"/>
                </a:solidFill>
                <a:latin typeface="Trebuchet MS"/>
              </a:rPr>
              <a:t>nest</a:t>
            </a:r>
            <a:r>
              <a:rPr sz="1450" b="0">
                <a:solidFill>
                  <a:srgbClr val="1A1A1A"/>
                </a:solidFill>
                <a:latin typeface="Trebuchet MS"/>
              </a:rPr>
              <a:t> the markers</a:t>
            </a:r>
          </a:p>
          <a:p>
            <a:pPr marL="182880" indent="-182880">
              <a:lnSpc>
                <a:spcPct val="120000"/>
              </a:lnSpc>
              <a:spcAft>
                <a:spcPts val="700"/>
              </a:spcAft>
            </a:pPr>
            <a:r>
              <a:rPr sz="1400">
                <a:solidFill>
                  <a:srgbClr val="9E4A2B"/>
                </a:solidFill>
                <a:latin typeface="Trebuchet MS"/>
              </a:rPr>
              <a:t>·  </a:t>
            </a:r>
            <a:r>
              <a:rPr sz="1450" b="0">
                <a:solidFill>
                  <a:srgbClr val="1A1A1A"/>
                </a:solidFill>
                <a:latin typeface="Trebuchet MS"/>
              </a:rPr>
              <a:t>Both mentions stay readable, and both marker pairs stay well-formed</a:t>
            </a:r>
          </a:p>
        </p:txBody>
      </p:sp>
      <p:sp>
        <p:nvSpPr>
          <p:cNvPr id="7" name="TextBox 6"/>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8" name="TextBox 7"/>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47</a:t>
            </a:r>
          </a:p>
        </p:txBody>
      </p:sp>
      <p:sp>
        <p:nvSpPr>
          <p:cNvPr id="9" name="TextBox 8"/>
          <p:cNvSpPr txBox="1"/>
          <p:nvPr/>
        </p:nvSpPr>
        <p:spPr>
          <a:xfrm>
            <a:off x="777240" y="4736592"/>
            <a:ext cx="10607040" cy="292608"/>
          </a:xfrm>
          <a:prstGeom prst="rect">
            <a:avLst/>
          </a:prstGeom>
          <a:noFill/>
        </p:spPr>
        <p:txBody>
          <a:bodyPr wrap="square" lIns="0" rIns="0" tIns="0" bIns="0">
            <a:spAutoFit/>
          </a:bodyPr>
          <a:lstStyle/>
          <a:p>
            <a:pPr algn="r">
              <a:lnSpc>
                <a:spcPct val="115000"/>
              </a:lnSpc>
            </a:pPr>
            <a:r>
              <a:rPr sz="1350" b="0">
                <a:solidFill>
                  <a:srgbClr val="6B6B6B"/>
                </a:solidFill>
                <a:latin typeface="Trebuchet MS"/>
              </a:rPr>
              <a:t>Nested marking, read from the right. The object's pair opens and closes entirely inside the subject's:</a:t>
            </a:r>
          </a:p>
        </p:txBody>
      </p:sp>
      <p:sp>
        <p:nvSpPr>
          <p:cNvPr id="10" name="Rounded Rectangle 9"/>
          <p:cNvSpPr/>
          <p:nvPr/>
        </p:nvSpPr>
        <p:spPr>
          <a:xfrm>
            <a:off x="7269480" y="5047488"/>
            <a:ext cx="1325880" cy="566928"/>
          </a:xfrm>
          <a:prstGeom prst="roundRect">
            <a:avLst>
              <a:gd name="adj" fmla="val 8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1" name="TextBox 10"/>
          <p:cNvSpPr txBox="1"/>
          <p:nvPr/>
        </p:nvSpPr>
        <p:spPr>
          <a:xfrm>
            <a:off x="7269480" y="5102352"/>
            <a:ext cx="1325880" cy="457200"/>
          </a:xfrm>
          <a:prstGeom prst="rect">
            <a:avLst/>
          </a:prstGeom>
          <a:noFill/>
        </p:spPr>
        <p:txBody>
          <a:bodyPr wrap="square" lIns="0" rIns="0" tIns="0" bIns="0">
            <a:spAutoFit/>
          </a:bodyPr>
          <a:lstStyle/>
          <a:p>
            <a:pPr algn="ctr">
              <a:lnSpc>
                <a:spcPct val="115000"/>
              </a:lnSpc>
            </a:pPr>
            <a:r>
              <a:rPr sz="1900" b="1">
                <a:solidFill>
                  <a:srgbClr val="1F5673"/>
                </a:solidFill>
                <a:latin typeface="Trebuchet MS"/>
              </a:rPr>
              <a:t>@ * org *</a:t>
            </a:r>
          </a:p>
        </p:txBody>
      </p:sp>
      <p:sp>
        <p:nvSpPr>
          <p:cNvPr id="12" name="TextBox 11"/>
          <p:cNvSpPr txBox="1"/>
          <p:nvPr/>
        </p:nvSpPr>
        <p:spPr>
          <a:xfrm>
            <a:off x="6089904" y="5102352"/>
            <a:ext cx="1051560" cy="457200"/>
          </a:xfrm>
          <a:prstGeom prst="rect">
            <a:avLst/>
          </a:prstGeom>
          <a:noFill/>
        </p:spPr>
        <p:txBody>
          <a:bodyPr wrap="square" lIns="0" rIns="0" tIns="0" bIns="0">
            <a:spAutoFit/>
          </a:bodyPr>
          <a:lstStyle/>
          <a:p>
            <a:pPr algn="ctr">
              <a:lnSpc>
                <a:spcPct val="115000"/>
              </a:lnSpc>
            </a:pPr>
            <a:r>
              <a:rPr sz="1900" b="0">
                <a:solidFill>
                  <a:srgbClr val="1A1A1A"/>
                </a:solidFill>
                <a:latin typeface="Arial"/>
              </a:rPr>
              <a:t>جامعة</a:t>
            </a:r>
          </a:p>
        </p:txBody>
      </p:sp>
      <p:sp>
        <p:nvSpPr>
          <p:cNvPr id="13" name="Rounded Rectangle 12"/>
          <p:cNvSpPr/>
          <p:nvPr/>
        </p:nvSpPr>
        <p:spPr>
          <a:xfrm>
            <a:off x="4636008" y="5047488"/>
            <a:ext cx="1325880" cy="566928"/>
          </a:xfrm>
          <a:prstGeom prst="roundRect">
            <a:avLst>
              <a:gd name="adj" fmla="val 8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4" name="TextBox 13"/>
          <p:cNvSpPr txBox="1"/>
          <p:nvPr/>
        </p:nvSpPr>
        <p:spPr>
          <a:xfrm>
            <a:off x="4636008" y="5102352"/>
            <a:ext cx="1325880" cy="457200"/>
          </a:xfrm>
          <a:prstGeom prst="rect">
            <a:avLst/>
          </a:prstGeom>
          <a:noFill/>
        </p:spPr>
        <p:txBody>
          <a:bodyPr wrap="square" lIns="0" rIns="0" tIns="0" bIns="0">
            <a:spAutoFit/>
          </a:bodyPr>
          <a:lstStyle/>
          <a:p>
            <a:pPr algn="ctr">
              <a:lnSpc>
                <a:spcPct val="115000"/>
              </a:lnSpc>
            </a:pPr>
            <a:r>
              <a:rPr sz="1900" b="1">
                <a:solidFill>
                  <a:srgbClr val="9E4A2B"/>
                </a:solidFill>
                <a:latin typeface="Trebuchet MS"/>
              </a:rPr>
              <a:t># ^ gpe ^</a:t>
            </a:r>
          </a:p>
        </p:txBody>
      </p:sp>
      <p:sp>
        <p:nvSpPr>
          <p:cNvPr id="15" name="TextBox 14"/>
          <p:cNvSpPr txBox="1"/>
          <p:nvPr/>
        </p:nvSpPr>
        <p:spPr>
          <a:xfrm>
            <a:off x="3456432" y="5102352"/>
            <a:ext cx="1051560" cy="457200"/>
          </a:xfrm>
          <a:prstGeom prst="rect">
            <a:avLst/>
          </a:prstGeom>
          <a:noFill/>
        </p:spPr>
        <p:txBody>
          <a:bodyPr wrap="square" lIns="0" rIns="0" tIns="0" bIns="0">
            <a:spAutoFit/>
          </a:bodyPr>
          <a:lstStyle/>
          <a:p>
            <a:pPr algn="ctr">
              <a:lnSpc>
                <a:spcPct val="115000"/>
              </a:lnSpc>
            </a:pPr>
            <a:r>
              <a:rPr sz="1900" b="0">
                <a:solidFill>
                  <a:srgbClr val="1A1A1A"/>
                </a:solidFill>
                <a:latin typeface="Arial"/>
              </a:rPr>
              <a:t>بيرزيت</a:t>
            </a:r>
          </a:p>
        </p:txBody>
      </p:sp>
      <p:sp>
        <p:nvSpPr>
          <p:cNvPr id="16" name="Rounded Rectangle 15"/>
          <p:cNvSpPr/>
          <p:nvPr/>
        </p:nvSpPr>
        <p:spPr>
          <a:xfrm>
            <a:off x="2916936" y="5047488"/>
            <a:ext cx="411480" cy="566928"/>
          </a:xfrm>
          <a:prstGeom prst="roundRect">
            <a:avLst>
              <a:gd name="adj" fmla="val 8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7" name="TextBox 16"/>
          <p:cNvSpPr txBox="1"/>
          <p:nvPr/>
        </p:nvSpPr>
        <p:spPr>
          <a:xfrm>
            <a:off x="2916936" y="5102352"/>
            <a:ext cx="411480" cy="457200"/>
          </a:xfrm>
          <a:prstGeom prst="rect">
            <a:avLst/>
          </a:prstGeom>
          <a:noFill/>
        </p:spPr>
        <p:txBody>
          <a:bodyPr wrap="square" lIns="0" rIns="0" tIns="0" bIns="0">
            <a:spAutoFit/>
          </a:bodyPr>
          <a:lstStyle/>
          <a:p>
            <a:pPr algn="ctr">
              <a:lnSpc>
                <a:spcPct val="115000"/>
              </a:lnSpc>
            </a:pPr>
            <a:r>
              <a:rPr sz="1900" b="1">
                <a:solidFill>
                  <a:srgbClr val="9E4A2B"/>
                </a:solidFill>
                <a:latin typeface="Trebuchet MS"/>
              </a:rPr>
              <a:t>#</a:t>
            </a:r>
          </a:p>
        </p:txBody>
      </p:sp>
      <p:sp>
        <p:nvSpPr>
          <p:cNvPr id="18" name="Rounded Rectangle 17"/>
          <p:cNvSpPr/>
          <p:nvPr/>
        </p:nvSpPr>
        <p:spPr>
          <a:xfrm>
            <a:off x="2377440" y="5047488"/>
            <a:ext cx="411480" cy="566928"/>
          </a:xfrm>
          <a:prstGeom prst="roundRect">
            <a:avLst>
              <a:gd name="adj" fmla="val 8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9" name="TextBox 18"/>
          <p:cNvSpPr txBox="1"/>
          <p:nvPr/>
        </p:nvSpPr>
        <p:spPr>
          <a:xfrm>
            <a:off x="2377440" y="5102352"/>
            <a:ext cx="411480" cy="457200"/>
          </a:xfrm>
          <a:prstGeom prst="rect">
            <a:avLst/>
          </a:prstGeom>
          <a:noFill/>
        </p:spPr>
        <p:txBody>
          <a:bodyPr wrap="square" lIns="0" rIns="0" tIns="0" bIns="0">
            <a:spAutoFit/>
          </a:bodyPr>
          <a:lstStyle/>
          <a:p>
            <a:pPr algn="ctr">
              <a:lnSpc>
                <a:spcPct val="115000"/>
              </a:lnSpc>
            </a:pPr>
            <a:r>
              <a:rPr sz="1900" b="1">
                <a:solidFill>
                  <a:srgbClr val="1F5673"/>
                </a:solidFill>
                <a:latin typeface="Trebuchet MS"/>
              </a:rPr>
              <a: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8 · LABEL SPACES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no_relation: train on it, never predict it</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Training data includes </a:t>
            </a:r>
            <a:r>
              <a:rPr b="1" sz="1600">
                <a:solidFill>
                  <a:srgbClr val="6B6B6B"/>
                </a:solidFill>
                <a:latin typeface="Trebuchet MS"/>
              </a:rPr>
              <a:t>negative pairs</a:t>
            </a:r>
            <a:r>
              <a:rPr sz="1600" b="0">
                <a:solidFill>
                  <a:srgbClr val="6B6B6B"/>
                </a:solidFill>
                <a:latin typeface="Trebuchet MS"/>
              </a:rPr>
              <a:t> (mention pairs with no relation), labeled </a:t>
            </a:r>
            <a:r>
              <a:rPr sz="1440" b="0">
                <a:solidFill>
                  <a:srgbClr val="1F5673"/>
                </a:solidFill>
                <a:latin typeface="Consolas"/>
              </a:rPr>
              <a:t>no_relation</a:t>
            </a:r>
            <a:r>
              <a:rPr sz="1600" b="0">
                <a:solidFill>
                  <a:srgbClr val="6B6B6B"/>
                </a:solidFill>
                <a:latin typeface="Trebuchet MS"/>
              </a:rPr>
              <a:t>. That gives 41 classes: 40 real relations plus one. But the test set is forced-choice positive, so emitting </a:t>
            </a:r>
            <a:r>
              <a:rPr sz="1440" b="0">
                <a:solidFill>
                  <a:srgbClr val="1F5673"/>
                </a:solidFill>
                <a:latin typeface="Consolas"/>
              </a:rPr>
              <a:t>no_relation</a:t>
            </a:r>
            <a:r>
              <a:rPr sz="1600" b="0">
                <a:solidFill>
                  <a:srgbClr val="6B6B6B"/>
                </a:solidFill>
                <a:latin typeface="Trebuchet MS"/>
              </a:rPr>
              <a:t> is always wrong.</a:t>
            </a:r>
          </a:p>
        </p:txBody>
      </p:sp>
      <p:sp>
        <p:nvSpPr>
          <p:cNvPr id="6" name="Rounded Rectangle 5"/>
          <p:cNvSpPr/>
          <p:nvPr/>
        </p:nvSpPr>
        <p:spPr>
          <a:xfrm>
            <a:off x="777240" y="2517648"/>
            <a:ext cx="5163159" cy="160020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Option 1</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Drop negatives from training, train a 40-way classifier</a:t>
            </a:r>
          </a:p>
        </p:txBody>
      </p:sp>
      <p:sp>
        <p:nvSpPr>
          <p:cNvPr id="7" name="Rounded Rectangle 6"/>
          <p:cNvSpPr/>
          <p:nvPr/>
        </p:nvSpPr>
        <p:spPr>
          <a:xfrm>
            <a:off x="6251295" y="2517648"/>
            <a:ext cx="5163159" cy="1600200"/>
          </a:xfrm>
          <a:prstGeom prst="roundRect">
            <a:avLst>
              <a:gd name="adj" fmla="val 3000"/>
            </a:avLst>
          </a:prstGeom>
          <a:solidFill>
            <a:srgbClr val="FBE9C8"/>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Option 2  — our choice</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Train on all 41 classes, then set the </a:t>
            </a:r>
            <a:r>
              <a:rPr sz="1350" b="0">
                <a:solidFill>
                  <a:srgbClr val="1F5673"/>
                </a:solidFill>
                <a:latin typeface="Consolas"/>
              </a:rPr>
              <a:t>no_relation</a:t>
            </a:r>
            <a:r>
              <a:rPr sz="1500" b="0">
                <a:solidFill>
                  <a:srgbClr val="1A1A1A"/>
                </a:solidFill>
                <a:latin typeface="Trebuchet MS"/>
              </a:rPr>
              <a:t> logit to −∞ before the argmax so it can never win</a:t>
            </a:r>
          </a:p>
        </p:txBody>
      </p:sp>
      <p:sp>
        <p:nvSpPr>
          <p:cNvPr id="8" name="TextBox 7"/>
          <p:cNvSpPr txBox="1"/>
          <p:nvPr/>
        </p:nvSpPr>
        <p:spPr>
          <a:xfrm>
            <a:off x="777240" y="4319016"/>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Why keep negatives we will never predict? Because they are </a:t>
            </a:r>
            <a:r>
              <a:rPr b="1" sz="1600">
                <a:solidFill>
                  <a:srgbClr val="6B6B6B"/>
                </a:solidFill>
                <a:latin typeface="Trebuchet MS"/>
              </a:rPr>
              <a:t>informative</a:t>
            </a:r>
            <a:r>
              <a:rPr sz="1600" b="0">
                <a:solidFill>
                  <a:srgbClr val="6B6B6B"/>
                </a:solidFill>
                <a:latin typeface="Trebuchet MS"/>
              </a:rPr>
              <a:t>: they teach the model what an unrelated pair looks like, sharpening the boundary for real relations. Published results indicate downsampling negatives costs about </a:t>
            </a:r>
            <a:r>
              <a:rPr b="1" sz="1600">
                <a:solidFill>
                  <a:srgbClr val="6B6B6B"/>
                </a:solidFill>
                <a:latin typeface="Trebuchet MS"/>
              </a:rPr>
              <a:t>10 F1</a:t>
            </a:r>
            <a:r>
              <a:rPr sz="1600" b="0">
                <a:solidFill>
                  <a:srgbClr val="6B6B6B"/>
                </a:solidFill>
                <a:latin typeface="Trebuchet MS"/>
              </a:rPr>
              <a:t>.</a:t>
            </a: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777240" y="1737360"/>
            <a:ext cx="2377440" cy="3175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234440"/>
            <a:ext cx="10637215" cy="365760"/>
          </a:xfrm>
          <a:prstGeom prst="rect">
            <a:avLst/>
          </a:prstGeom>
          <a:noFill/>
        </p:spPr>
        <p:txBody>
          <a:bodyPr wrap="square" lIns="0" rIns="0" tIns="0" bIns="0">
            <a:spAutoFit/>
          </a:bodyPr>
          <a:lstStyle/>
          <a:p>
            <a:r>
              <a:rPr sz="1300" b="1">
                <a:solidFill>
                  <a:srgbClr val="9E4A2B"/>
                </a:solidFill>
                <a:latin typeface="Trebuchet MS"/>
              </a:rPr>
              <a:t>WORTH INTERNALIZING</a:t>
            </a:r>
          </a:p>
        </p:txBody>
      </p:sp>
      <p:sp>
        <p:nvSpPr>
          <p:cNvPr id="4" name="TextBox 3"/>
          <p:cNvSpPr txBox="1"/>
          <p:nvPr/>
        </p:nvSpPr>
        <p:spPr>
          <a:xfrm>
            <a:off x="777240" y="2148840"/>
            <a:ext cx="9905695" cy="2743200"/>
          </a:xfrm>
          <a:prstGeom prst="rect">
            <a:avLst/>
          </a:prstGeom>
          <a:noFill/>
        </p:spPr>
        <p:txBody>
          <a:bodyPr wrap="square" lIns="0" rIns="0" tIns="0" bIns="0">
            <a:spAutoFit/>
          </a:bodyPr>
          <a:lstStyle/>
          <a:p>
            <a:pPr>
              <a:lnSpc>
                <a:spcPct val="122000"/>
              </a:lnSpc>
            </a:pPr>
            <a:r>
              <a:rPr sz="3000" b="0">
                <a:solidFill>
                  <a:srgbClr val="1F5673"/>
                </a:solidFill>
                <a:latin typeface="Trebuchet MS"/>
              </a:rPr>
              <a:t>Training-time and inference-time label spaces do not have to match.</a:t>
            </a:r>
          </a:p>
        </p:txBody>
      </p:sp>
      <p:sp>
        <p:nvSpPr>
          <p:cNvPr id="5" name="TextBox 4"/>
          <p:cNvSpPr txBox="1"/>
          <p:nvPr/>
        </p:nvSpPr>
        <p:spPr>
          <a:xfrm>
            <a:off x="777240" y="5120640"/>
            <a:ext cx="9905695" cy="731520"/>
          </a:xfrm>
          <a:prstGeom prst="rect">
            <a:avLst/>
          </a:prstGeom>
          <a:noFill/>
        </p:spPr>
        <p:txBody>
          <a:bodyPr wrap="square" lIns="0" rIns="0" tIns="0" bIns="0">
            <a:spAutoFit/>
          </a:bodyPr>
          <a:lstStyle/>
          <a:p>
            <a:pPr>
              <a:lnSpc>
                <a:spcPct val="120000"/>
              </a:lnSpc>
            </a:pPr>
            <a:r>
              <a:rPr sz="1400" b="0">
                <a:solidFill>
                  <a:srgbClr val="6B6B6B"/>
                </a:solidFill>
                <a:latin typeface="Trebuchet MS"/>
              </a:rPr>
              <a:t>Train on everything informative; constrain the output to what is valid. The same move reappears one section later as constraint decoding.</a:t>
            </a:r>
          </a:p>
        </p:txBody>
      </p:sp>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8 · A THREE-STAGE FALLBACK (`RE_TYPING.PY`)</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Recovering entity types at test time</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Our markers need entity types, but the blind test provides mentions </a:t>
            </a:r>
            <a:r>
              <a:rPr b="1" sz="1600">
                <a:solidFill>
                  <a:srgbClr val="6B6B6B"/>
                </a:solidFill>
                <a:latin typeface="Trebuchet MS"/>
              </a:rPr>
              <a:t>without</a:t>
            </a:r>
            <a:r>
              <a:rPr sz="1600" b="0">
                <a:solidFill>
                  <a:srgbClr val="6B6B6B"/>
                </a:solidFill>
                <a:latin typeface="Trebuchet MS"/>
              </a:rPr>
              <a:t> types.</a:t>
            </a:r>
          </a:p>
        </p:txBody>
      </p:sp>
      <p:sp>
        <p:nvSpPr>
          <p:cNvPr id="6" name="TextBox 5"/>
          <p:cNvSpPr txBox="1"/>
          <p:nvPr/>
        </p:nvSpPr>
        <p:spPr>
          <a:xfrm>
            <a:off x="777240" y="2009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1. Sentence join.</a:t>
            </a:r>
            <a:r>
              <a:rPr sz="1700" b="0">
                <a:solidFill>
                  <a:srgbClr val="1A1A1A"/>
                </a:solidFill>
                <a:latin typeface="Trebuchet MS"/>
              </a:rPr>
              <a:t> Each RE record carries a sentence id. Join against Wojood's gold sentences, match the mention string to gold entities in </a:t>
            </a:r>
            <a:r>
              <a:rPr i="1" b="0" sz="1700">
                <a:solidFill>
                  <a:srgbClr val="1A1A1A"/>
                </a:solidFill>
                <a:latin typeface="Trebuchet MS"/>
              </a:rPr>
              <a:t>that</a:t>
            </a:r>
            <a:r>
              <a:rPr sz="1700" b="0">
                <a:solidFill>
                  <a:srgbClr val="1A1A1A"/>
                </a:solidFill>
                <a:latin typeface="Trebuchet MS"/>
              </a:rPr>
              <a:t> sentence, take the majority type on ties</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2. Lexicon fallback.</a:t>
            </a:r>
            <a:r>
              <a:rPr sz="1700" b="0">
                <a:solidFill>
                  <a:srgbClr val="1A1A1A"/>
                </a:solidFill>
                <a:latin typeface="Trebuchet MS"/>
              </a:rPr>
              <a:t> If the join fails, look the mention string up in a corpus-wide string-to-type dictionary built from all Wojood splits</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3. UNK.</a:t>
            </a:r>
            <a:r>
              <a:rPr sz="1700" b="0">
                <a:solidFill>
                  <a:srgbClr val="1A1A1A"/>
                </a:solidFill>
                <a:latin typeface="Trebuchet MS"/>
              </a:rPr>
              <a:t> If both fail, mark the type unknown. That side gets an untyped marker and its constraints are switched off</a:t>
            </a:r>
          </a:p>
        </p:txBody>
      </p:sp>
      <p:sp>
        <p:nvSpPr>
          <p:cNvPr id="7" name="Rounded Rectangle 6"/>
          <p:cNvSpPr/>
          <p:nvPr/>
        </p:nvSpPr>
        <p:spPr>
          <a:xfrm>
            <a:off x="777240" y="4060951"/>
            <a:ext cx="2467279" cy="141732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2600" b="1">
                <a:solidFill>
                  <a:srgbClr val="1F5673"/>
                </a:solidFill>
                <a:latin typeface="Trebuchet MS"/>
              </a:rPr>
              <a:t>99.4%</a:t>
            </a:r>
          </a:p>
          <a:p>
            <a:pPr algn="ctr">
              <a:lnSpc>
                <a:spcPct val="115000"/>
              </a:lnSpc>
              <a:spcBef>
                <a:spcPts val="500"/>
              </a:spcBef>
            </a:pPr>
            <a:r>
              <a:rPr sz="1250" b="0">
                <a:solidFill>
                  <a:srgbClr val="6B6B6B"/>
                </a:solidFill>
                <a:latin typeface="Trebuchet MS"/>
              </a:rPr>
              <a:t>of 4,386 records had a source sentence located</a:t>
            </a:r>
          </a:p>
        </p:txBody>
      </p:sp>
      <p:sp>
        <p:nvSpPr>
          <p:cNvPr id="8" name="Rounded Rectangle 7"/>
          <p:cNvSpPr/>
          <p:nvPr/>
        </p:nvSpPr>
        <p:spPr>
          <a:xfrm>
            <a:off x="3500551" y="4060951"/>
            <a:ext cx="2467279" cy="141732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2600" b="1">
                <a:solidFill>
                  <a:srgbClr val="1F5673"/>
                </a:solidFill>
                <a:latin typeface="Trebuchet MS"/>
              </a:rPr>
              <a:t>97.8%</a:t>
            </a:r>
          </a:p>
          <a:p>
            <a:pPr algn="ctr">
              <a:lnSpc>
                <a:spcPct val="115000"/>
              </a:lnSpc>
              <a:spcBef>
                <a:spcPts val="500"/>
              </a:spcBef>
            </a:pPr>
            <a:r>
              <a:rPr sz="1250" b="0">
                <a:solidFill>
                  <a:srgbClr val="6B6B6B"/>
                </a:solidFill>
                <a:latin typeface="Trebuchet MS"/>
              </a:rPr>
              <a:t>of </a:t>
            </a:r>
            <a:r>
              <a:rPr b="1" sz="1250">
                <a:solidFill>
                  <a:srgbClr val="6B6B6B"/>
                </a:solidFill>
                <a:latin typeface="Trebuchet MS"/>
              </a:rPr>
              <a:t>subjects</a:t>
            </a:r>
            <a:r>
              <a:rPr sz="1250" b="0">
                <a:solidFill>
                  <a:srgbClr val="6B6B6B"/>
                </a:solidFill>
                <a:latin typeface="Trebuchet MS"/>
              </a:rPr>
              <a:t> typed after the lexicon (4,290)</a:t>
            </a:r>
          </a:p>
        </p:txBody>
      </p:sp>
      <p:sp>
        <p:nvSpPr>
          <p:cNvPr id="9" name="Rounded Rectangle 8"/>
          <p:cNvSpPr/>
          <p:nvPr/>
        </p:nvSpPr>
        <p:spPr>
          <a:xfrm>
            <a:off x="6223863" y="4060951"/>
            <a:ext cx="2467279" cy="141732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2600" b="1">
                <a:solidFill>
                  <a:srgbClr val="1F5673"/>
                </a:solidFill>
                <a:latin typeface="Trebuchet MS"/>
              </a:rPr>
              <a:t>97.9%</a:t>
            </a:r>
          </a:p>
          <a:p>
            <a:pPr algn="ctr">
              <a:lnSpc>
                <a:spcPct val="115000"/>
              </a:lnSpc>
              <a:spcBef>
                <a:spcPts val="500"/>
              </a:spcBef>
            </a:pPr>
            <a:r>
              <a:rPr sz="1250" b="0">
                <a:solidFill>
                  <a:srgbClr val="6B6B6B"/>
                </a:solidFill>
                <a:latin typeface="Trebuchet MS"/>
              </a:rPr>
              <a:t>of </a:t>
            </a:r>
            <a:r>
              <a:rPr b="1" sz="1250">
                <a:solidFill>
                  <a:srgbClr val="6B6B6B"/>
                </a:solidFill>
                <a:latin typeface="Trebuchet MS"/>
              </a:rPr>
              <a:t>objects</a:t>
            </a:r>
            <a:r>
              <a:rPr sz="1250" b="0">
                <a:solidFill>
                  <a:srgbClr val="6B6B6B"/>
                </a:solidFill>
                <a:latin typeface="Trebuchet MS"/>
              </a:rPr>
              <a:t> typed after the lexicon (4,295)</a:t>
            </a:r>
          </a:p>
        </p:txBody>
      </p:sp>
      <p:sp>
        <p:nvSpPr>
          <p:cNvPr id="10" name="Rounded Rectangle 9"/>
          <p:cNvSpPr/>
          <p:nvPr/>
        </p:nvSpPr>
        <p:spPr>
          <a:xfrm>
            <a:off x="8947175" y="4060951"/>
            <a:ext cx="2467279" cy="141732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2600" b="1">
                <a:solidFill>
                  <a:srgbClr val="1F5673"/>
                </a:solidFill>
                <a:latin typeface="Trebuchet MS"/>
              </a:rPr>
              <a:t>96 / 91</a:t>
            </a:r>
          </a:p>
          <a:p>
            <a:pPr algn="ctr">
              <a:lnSpc>
                <a:spcPct val="115000"/>
              </a:lnSpc>
              <a:spcBef>
                <a:spcPts val="500"/>
              </a:spcBef>
            </a:pPr>
            <a:r>
              <a:rPr sz="1250" b="0">
                <a:solidFill>
                  <a:srgbClr val="6B6B6B"/>
                </a:solidFill>
                <a:latin typeface="Trebuchet MS"/>
              </a:rPr>
              <a:t>subject / object sides left </a:t>
            </a:r>
            <a:r>
              <a:rPr b="1" sz="1250">
                <a:solidFill>
                  <a:srgbClr val="6B6B6B"/>
                </a:solidFill>
                <a:latin typeface="Trebuchet MS"/>
              </a:rPr>
              <a:t>UNK</a:t>
            </a:r>
          </a:p>
        </p:txBody>
      </p:sp>
      <p:sp>
        <p:nvSpPr>
          <p:cNvPr id="11" name="TextBox 10"/>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12" name="TextBox 11"/>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8 · A PROTOCOL QUESTION WORTH FOLLOWING</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Is using gold Wojood entities here cheating?</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No, and the reasoning is worth following carefully, because this is exactly the kind of question a reviewer will ask.</a:t>
            </a:r>
          </a:p>
        </p:txBody>
      </p:sp>
      <p:sp>
        <p:nvSpPr>
          <p:cNvPr id="6" name="TextBox 5"/>
          <p:cNvSpPr txBox="1"/>
          <p:nvPr/>
        </p:nvSpPr>
        <p:spPr>
          <a:xfrm>
            <a:off x="777240" y="2263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The banned thing is </a:t>
            </a:r>
            <a:r>
              <a:rPr b="1" sz="1700">
                <a:solidFill>
                  <a:srgbClr val="1A1A1A"/>
                </a:solidFill>
                <a:latin typeface="Trebuchet MS"/>
              </a:rPr>
              <a:t>training on Konooz</a:t>
            </a:r>
            <a:r>
              <a:rPr sz="1700" b="0">
                <a:solidFill>
                  <a:srgbClr val="1A1A1A"/>
                </a:solidFill>
                <a:latin typeface="Trebuchet MS"/>
              </a:rPr>
              <a:t>, or using </a:t>
            </a:r>
            <a:r>
              <a:rPr b="1" sz="1700">
                <a:solidFill>
                  <a:srgbClr val="1A1A1A"/>
                </a:solidFill>
                <a:latin typeface="Trebuchet MS"/>
              </a:rPr>
              <a:t>Konooz labels</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Wojood is our </a:t>
            </a:r>
            <a:r>
              <a:rPr i="1" b="0" sz="1700">
                <a:solidFill>
                  <a:srgbClr val="1A1A1A"/>
                </a:solidFill>
                <a:latin typeface="Trebuchet MS"/>
              </a:rPr>
              <a:t>training</a:t>
            </a:r>
            <a:r>
              <a:rPr sz="1700" b="0">
                <a:solidFill>
                  <a:srgbClr val="1A1A1A"/>
                </a:solidFill>
                <a:latin typeface="Trebuchet MS"/>
              </a:rPr>
              <a:t> corpus, given to us with gold annotations</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RE is a </a:t>
            </a:r>
            <a:r>
              <a:rPr b="1" sz="1700">
                <a:solidFill>
                  <a:srgbClr val="1A1A1A"/>
                </a:solidFill>
                <a:latin typeface="Trebuchet MS"/>
              </a:rPr>
              <a:t>separate subtask</a:t>
            </a:r>
            <a:r>
              <a:rPr sz="1700" b="0">
                <a:solidFill>
                  <a:srgbClr val="1A1A1A"/>
                </a:solidFill>
                <a:latin typeface="Trebuchet MS"/>
              </a:rPr>
              <a:t> from NER: we are not predicting entities here</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We are looking up type metadata for entity pairs </a:t>
            </a:r>
            <a:r>
              <a:rPr b="1" sz="1700">
                <a:solidFill>
                  <a:srgbClr val="1A1A1A"/>
                </a:solidFill>
                <a:latin typeface="Trebuchet MS"/>
              </a:rPr>
              <a:t>the task itself handed us</a:t>
            </a:r>
          </a:p>
        </p:txBody>
      </p:sp>
      <p:sp>
        <p:nvSpPr>
          <p:cNvPr id="7" name="Rounded Rectangle 6"/>
          <p:cNvSpPr/>
          <p:nvPr/>
        </p:nvSpPr>
        <p:spPr>
          <a:xfrm>
            <a:off x="777240" y="3902456"/>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THE GENERAL RULE FOR ARGUABLE PROTOCOL QUESTIONS</a:t>
            </a:r>
          </a:p>
          <a:p>
            <a:pPr>
              <a:lnSpc>
                <a:spcPct val="124000"/>
              </a:lnSpc>
            </a:pPr>
            <a:r>
              <a:rPr sz="1500" b="0">
                <a:solidFill>
                  <a:srgbClr val="1A1A1A"/>
                </a:solidFill>
                <a:latin typeface="Trebuchet MS"/>
              </a:rPr>
              <a:t>When a protocol question is genuinely arguable, the right move is to state exactly what you did and let the reader judge, rather than to phrase it vaguely and let them assume. We document this in the paper for that reason.</a:t>
            </a:r>
          </a:p>
        </p:txBody>
      </p:sp>
      <p:sp>
        <p:nvSpPr>
          <p:cNvPr id="8" name="Rectangle 7"/>
          <p:cNvSpPr/>
          <p:nvPr/>
        </p:nvSpPr>
        <p:spPr>
          <a:xfrm>
            <a:off x="777240" y="3902456"/>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9 · CONSTRAINT DECODING</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Relations have type signatures</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440" b="0">
                <a:solidFill>
                  <a:srgbClr val="1F5673"/>
                </a:solidFill>
                <a:latin typeface="Consolas"/>
              </a:rPr>
              <a:t>GPE.has_population</a:t>
            </a:r>
            <a:r>
              <a:rPr sz="1600" b="0">
                <a:solidFill>
                  <a:srgbClr val="6B6B6B"/>
                </a:solidFill>
                <a:latin typeface="Trebuchet MS"/>
              </a:rPr>
              <a:t> connects a place to a number; it cannot connect two people. </a:t>
            </a:r>
            <a:r>
              <a:rPr sz="1440" b="0">
                <a:solidFill>
                  <a:srgbClr val="1F5673"/>
                </a:solidFill>
                <a:latin typeface="Consolas"/>
              </a:rPr>
              <a:t>Family.has_parent</a:t>
            </a:r>
            <a:r>
              <a:rPr sz="1600" b="0">
                <a:solidFill>
                  <a:srgbClr val="6B6B6B"/>
                </a:solidFill>
                <a:latin typeface="Trebuchet MS"/>
              </a:rPr>
              <a:t> connects two people; it cannot connect an organization to a date.</a:t>
            </a:r>
          </a:p>
        </p:txBody>
      </p:sp>
      <p:sp>
        <p:nvSpPr>
          <p:cNvPr id="6" name="TextBox 5"/>
          <p:cNvSpPr txBox="1"/>
          <p:nvPr/>
        </p:nvSpPr>
        <p:spPr>
          <a:xfrm>
            <a:off x="777240" y="2263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In ontology terms, each relation has a </a:t>
            </a:r>
            <a:r>
              <a:rPr b="1" sz="1700">
                <a:solidFill>
                  <a:srgbClr val="1A1A1A"/>
                </a:solidFill>
                <a:latin typeface="Trebuchet MS"/>
              </a:rPr>
              <a:t>domain</a:t>
            </a:r>
            <a:r>
              <a:rPr sz="1700" b="0">
                <a:solidFill>
                  <a:srgbClr val="1A1A1A"/>
                </a:solidFill>
                <a:latin typeface="Trebuchet MS"/>
              </a:rPr>
              <a:t> (allowed subject types) and a </a:t>
            </a:r>
            <a:r>
              <a:rPr b="1" sz="1700">
                <a:solidFill>
                  <a:srgbClr val="1A1A1A"/>
                </a:solidFill>
                <a:latin typeface="Trebuchet MS"/>
              </a:rPr>
              <a:t>range</a:t>
            </a:r>
            <a:r>
              <a:rPr sz="1700" b="0">
                <a:solidFill>
                  <a:srgbClr val="1A1A1A"/>
                </a:solidFill>
                <a:latin typeface="Trebuchet MS"/>
              </a:rPr>
              <a:t> (allowed object types)</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A neural classifier does not know this. It might assign high probability to </a:t>
            </a:r>
            <a:r>
              <a:rPr sz="1530" b="0">
                <a:solidFill>
                  <a:srgbClr val="1F5673"/>
                </a:solidFill>
                <a:latin typeface="Consolas"/>
              </a:rPr>
              <a:t>has_population(PERS, PERS)</a:t>
            </a:r>
            <a:r>
              <a:rPr sz="1700" b="0">
                <a:solidFill>
                  <a:srgbClr val="1A1A1A"/>
                </a:solidFill>
                <a:latin typeface="Trebuchet MS"/>
              </a:rPr>
              <a:t> because the sentence looks vaguely demographic</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Since we already recovered entity types, we can rule such predictions out</a:t>
            </a:r>
          </a:p>
        </p:txBody>
      </p:sp>
      <p:sp>
        <p:nvSpPr>
          <p:cNvPr id="7" name="Rounded Rectangle 6"/>
          <p:cNvSpPr/>
          <p:nvPr/>
        </p:nvSpPr>
        <p:spPr>
          <a:xfrm>
            <a:off x="777240" y="4051554"/>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BUILDING THE TABLE (`RE_CONSTRAINTS.PY`) — THE UNION OF TWO SOURCES</a:t>
            </a:r>
          </a:p>
          <a:p>
            <a:pPr>
              <a:lnSpc>
                <a:spcPct val="124000"/>
              </a:lnSpc>
            </a:pPr>
            <a:r>
              <a:rPr b="1" sz="1500">
                <a:solidFill>
                  <a:srgbClr val="1A1A1A"/>
                </a:solidFill>
                <a:latin typeface="Trebuchet MS"/>
              </a:rPr>
              <a:t>1. The specification:</a:t>
            </a:r>
            <a:r>
              <a:rPr sz="1500" b="0">
                <a:solidFill>
                  <a:srgbClr val="1A1A1A"/>
                </a:solidFill>
                <a:latin typeface="Trebuchet MS"/>
              </a:rPr>
              <a:t> the task's published domain/range per relation, hand-transcribed; allowed pairs are the cartesian product of domain and range. </a:t>
            </a:r>
            <a:r>
              <a:rPr b="1" sz="1500">
                <a:solidFill>
                  <a:srgbClr val="1A1A1A"/>
                </a:solidFill>
                <a:latin typeface="Trebuchet MS"/>
              </a:rPr>
              <a:t>2. Observation:</a:t>
            </a:r>
            <a:r>
              <a:rPr sz="1500" b="0">
                <a:solidFill>
                  <a:srgbClr val="1A1A1A"/>
                </a:solidFill>
                <a:latin typeface="Trebuchet MS"/>
              </a:rPr>
              <a:t> every (subject type, object type) pair that actually appears with that relation in training data.</a:t>
            </a:r>
          </a:p>
        </p:txBody>
      </p:sp>
      <p:sp>
        <p:nvSpPr>
          <p:cNvPr id="8" name="Rectangle 7"/>
          <p:cNvSpPr/>
          <p:nvPr/>
        </p:nvSpPr>
        <p:spPr>
          <a:xfrm>
            <a:off x="777240" y="4051554"/>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777240" y="1737360"/>
            <a:ext cx="2377440" cy="3175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234440"/>
            <a:ext cx="10637215" cy="365760"/>
          </a:xfrm>
          <a:prstGeom prst="rect">
            <a:avLst/>
          </a:prstGeom>
          <a:noFill/>
        </p:spPr>
        <p:txBody>
          <a:bodyPr wrap="square" lIns="0" rIns="0" tIns="0" bIns="0">
            <a:spAutoFit/>
          </a:bodyPr>
          <a:lstStyle/>
          <a:p>
            <a:r>
              <a:rPr sz="1300" b="1">
                <a:solidFill>
                  <a:srgbClr val="9E4A2B"/>
                </a:solidFill>
                <a:latin typeface="Trebuchet MS"/>
              </a:rPr>
              <a:t>THE DIRECTION OF THE UNION MATTERS MORE THAN THE UNION</a:t>
            </a:r>
          </a:p>
        </p:txBody>
      </p:sp>
      <p:sp>
        <p:nvSpPr>
          <p:cNvPr id="4" name="TextBox 3"/>
          <p:cNvSpPr txBox="1"/>
          <p:nvPr/>
        </p:nvSpPr>
        <p:spPr>
          <a:xfrm>
            <a:off x="777240" y="2148840"/>
            <a:ext cx="9905695" cy="2743200"/>
          </a:xfrm>
          <a:prstGeom prst="rect">
            <a:avLst/>
          </a:prstGeom>
          <a:noFill/>
        </p:spPr>
        <p:txBody>
          <a:bodyPr wrap="square" lIns="0" rIns="0" tIns="0" bIns="0">
            <a:spAutoFit/>
          </a:bodyPr>
          <a:lstStyle/>
          <a:p>
            <a:pPr>
              <a:lnSpc>
                <a:spcPct val="122000"/>
              </a:lnSpc>
            </a:pPr>
            <a:r>
              <a:rPr sz="3000" b="0">
                <a:solidFill>
                  <a:srgbClr val="1F5673"/>
                </a:solidFill>
                <a:latin typeface="Trebuchet MS"/>
              </a:rPr>
              <a:t>Observation extends the specification. It never narrows it.</a:t>
            </a:r>
          </a:p>
        </p:txBody>
      </p:sp>
      <p:sp>
        <p:nvSpPr>
          <p:cNvPr id="5" name="TextBox 4"/>
          <p:cNvSpPr txBox="1"/>
          <p:nvPr/>
        </p:nvSpPr>
        <p:spPr>
          <a:xfrm>
            <a:off x="777240" y="5120640"/>
            <a:ext cx="9905695" cy="731520"/>
          </a:xfrm>
          <a:prstGeom prst="rect">
            <a:avLst/>
          </a:prstGeom>
          <a:noFill/>
        </p:spPr>
        <p:txBody>
          <a:bodyPr wrap="square" lIns="0" rIns="0" tIns="0" bIns="0">
            <a:spAutoFit/>
          </a:bodyPr>
          <a:lstStyle/>
          <a:p>
            <a:pPr>
              <a:lnSpc>
                <a:spcPct val="120000"/>
              </a:lnSpc>
            </a:pPr>
            <a:r>
              <a:rPr sz="1400" b="0">
                <a:solidFill>
                  <a:srgbClr val="6B6B6B"/>
                </a:solidFill>
                <a:latin typeface="Trebuchet MS"/>
              </a:rPr>
              <a:t>Real annotations sometimes violate the published spec. If we trusted only the spec we would penalize predictions the gold data itself contains. When your prior and your data disagree, and the data is what you are scored against, trust the data.</a:t>
            </a:r>
          </a:p>
        </p:txBody>
      </p:sp>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9 · HOW THE CONSTRAINT IS APPLIED</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Soft penalty, not a hard mask</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5163159" cy="228600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Hard mask</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Set inadmissible logits to </a:t>
            </a:r>
            <a:r>
              <a:rPr b="1" sz="1500">
                <a:solidFill>
                  <a:srgbClr val="1A1A1A"/>
                </a:solidFill>
                <a:latin typeface="Trebuchet MS"/>
              </a:rPr>
              <a:t>−∞</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They become impossible</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Every table error is </a:t>
            </a:r>
            <a:r>
              <a:rPr b="1" sz="1500">
                <a:solidFill>
                  <a:srgbClr val="1A1A1A"/>
                </a:solidFill>
                <a:latin typeface="Trebuchet MS"/>
              </a:rPr>
              <a:t>unrecoverable</a:t>
            </a:r>
          </a:p>
        </p:txBody>
      </p:sp>
      <p:sp>
        <p:nvSpPr>
          <p:cNvPr id="6" name="Rounded Rectangle 5"/>
          <p:cNvSpPr/>
          <p:nvPr/>
        </p:nvSpPr>
        <p:spPr>
          <a:xfrm>
            <a:off x="6251295" y="1572768"/>
            <a:ext cx="5163159" cy="2286000"/>
          </a:xfrm>
          <a:prstGeom prst="roundRect">
            <a:avLst>
              <a:gd name="adj" fmla="val 3000"/>
            </a:avLst>
          </a:prstGeom>
          <a:solidFill>
            <a:srgbClr val="FBE9C8"/>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Soft penalty  — our choice</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Subtract a constant (</a:t>
            </a:r>
            <a:r>
              <a:rPr b="1" sz="1500">
                <a:solidFill>
                  <a:srgbClr val="1A1A1A"/>
                </a:solidFill>
                <a:latin typeface="Trebuchet MS"/>
              </a:rPr>
              <a:t>3.0 logits</a:t>
            </a:r>
            <a:r>
              <a:rPr sz="1500" b="0">
                <a:solidFill>
                  <a:srgbClr val="1A1A1A"/>
                </a:solidFill>
                <a:latin typeface="Trebuchet MS"/>
              </a:rPr>
              <a:t>) from inadmissible entries</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They become unlikely, but a sufficiently confident model can still override</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Says “this looks wrong, be sure”</a:t>
            </a:r>
          </a:p>
        </p:txBody>
      </p:sp>
      <p:sp>
        <p:nvSpPr>
          <p:cNvPr id="7" name="TextBox 6"/>
          <p:cNvSpPr txBox="1"/>
          <p:nvPr/>
        </p:nvSpPr>
        <p:spPr>
          <a:xfrm>
            <a:off x="777240" y="4059935"/>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Our table </a:t>
            </a:r>
            <a:r>
              <a:rPr b="1" sz="1700">
                <a:solidFill>
                  <a:srgbClr val="1A1A1A"/>
                </a:solidFill>
                <a:latin typeface="Trebuchet MS"/>
              </a:rPr>
              <a:t>is</a:t>
            </a:r>
            <a:r>
              <a:rPr sz="1700" b="0">
                <a:solidFill>
                  <a:srgbClr val="1A1A1A"/>
                </a:solidFill>
                <a:latin typeface="Trebuchet MS"/>
              </a:rPr>
              <a:t> imperfect: gold annotations violate the spec, recovered types can be wrong, rare-but-valid combinations may be missing from training</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If either entity type is </a:t>
            </a:r>
            <a:r>
              <a:rPr b="1" sz="1700">
                <a:solidFill>
                  <a:srgbClr val="1A1A1A"/>
                </a:solidFill>
                <a:latin typeface="Trebuchet MS"/>
              </a:rPr>
              <a:t>UNK</a:t>
            </a:r>
            <a:r>
              <a:rPr sz="1700" b="0">
                <a:solidFill>
                  <a:srgbClr val="1A1A1A"/>
                </a:solidFill>
                <a:latin typeface="Trebuchet MS"/>
              </a:rPr>
              <a:t>, we apply no penalty at all. Unknown types should not produce confident constraints</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Penalty swept over {0, 1, 2, 3, 4} on </a:t>
            </a:r>
            <a:r>
              <a:rPr b="1" sz="1700">
                <a:solidFill>
                  <a:srgbClr val="1A1A1A"/>
                </a:solidFill>
                <a:latin typeface="Trebuchet MS"/>
              </a:rPr>
              <a:t>development</a:t>
            </a:r>
            <a:r>
              <a:rPr sz="1700" b="0">
                <a:solidFill>
                  <a:srgbClr val="1A1A1A"/>
                </a:solidFill>
                <a:latin typeface="Trebuchet MS"/>
              </a:rPr>
              <a:t> data, never on test, and re-validated later on a much larger pooled sample</a:t>
            </a:r>
          </a:p>
        </p:txBody>
      </p:sp>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9 · WHEN TWO FIXES DO NOT STACK</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The result, and an interesting interaction</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572768"/>
          <a:ext cx="10637214" cy="1828800"/>
        </p:xfrm>
        <a:graphic>
          <a:graphicData uri="http://schemas.openxmlformats.org/drawingml/2006/table">
            <a:tbl>
              <a:tblPr firstRow="0" bandRow="0">
                <a:tableStyleId>{5C22544A-7EE6-4342-B048-85BDC9FD1C3A}</a:tableStyleId>
              </a:tblPr>
              <a:tblGrid>
                <a:gridCol w="5868808"/>
                <a:gridCol w="2384203"/>
                <a:gridCol w="2384203"/>
              </a:tblGrid>
              <a:tr h="365760">
                <a:tc>
                  <a:txBody>
                    <a:bodyPr wrap="square"/>
                    <a:lstStyle/>
                    <a:p>
                      <a:pPr>
                        <a:lnSpc>
                          <a:spcPct val="110000"/>
                        </a:lnSpc>
                      </a:pPr>
                      <a:r>
                        <a:rPr sz="1500" b="1">
                          <a:solidFill>
                            <a:srgbClr val="FFFFFF"/>
                          </a:solidFill>
                          <a:latin typeface="Trebuchet MS"/>
                        </a:rPr>
                        <a:t>Setting</a:t>
                      </a:r>
                    </a:p>
                  </a:txBody>
                  <a:tcPr marL="118872" marR="91440" marT="27432" marB="27432" anchor="ctr">
                    <a:solidFill>
                      <a:srgbClr val="1F5673"/>
                    </a:solidFill>
                  </a:tcPr>
                </a:tc>
                <a:tc>
                  <a:txBody>
                    <a:bodyPr wrap="square"/>
                    <a:lstStyle/>
                    <a:p>
                      <a:pPr algn="ctr">
                        <a:lnSpc>
                          <a:spcPct val="110000"/>
                        </a:lnSpc>
                      </a:pPr>
                      <a:r>
                        <a:rPr sz="1500" b="1">
                          <a:solidFill>
                            <a:srgbClr val="FFFFFF"/>
                          </a:solidFill>
                          <a:latin typeface="Trebuchet MS"/>
                        </a:rPr>
                        <a:t>micro-F1</a:t>
                      </a:r>
                    </a:p>
                  </a:txBody>
                  <a:tcPr marL="118872" marR="91440" marT="27432" marB="27432" anchor="ctr">
                    <a:solidFill>
                      <a:srgbClr val="1F5673"/>
                    </a:solidFill>
                  </a:tcPr>
                </a:tc>
                <a:tc>
                  <a:txBody>
                    <a:bodyPr wrap="square"/>
                    <a:lstStyle/>
                    <a:p>
                      <a:pPr algn="ctr">
                        <a:lnSpc>
                          <a:spcPct val="110000"/>
                        </a:lnSpc>
                      </a:pPr>
                      <a:r>
                        <a:rPr sz="1500" b="1">
                          <a:solidFill>
                            <a:srgbClr val="FFFFFF"/>
                          </a:solidFill>
                          <a:latin typeface="Trebuchet MS"/>
                        </a:rPr>
                        <a:t>macro-F1</a:t>
                      </a:r>
                    </a:p>
                  </a:txBody>
                  <a:tcPr marL="118872" marR="91440" marT="27432" marB="27432" anchor="ctr">
                    <a:solidFill>
                      <a:srgbClr val="1F5673"/>
                    </a:solidFill>
                  </a:tcPr>
                </a:tc>
              </a:tr>
              <a:tr h="365760">
                <a:tc>
                  <a:txBody>
                    <a:bodyPr wrap="square"/>
                    <a:lstStyle/>
                    <a:p>
                      <a:pPr>
                        <a:lnSpc>
                          <a:spcPct val="110000"/>
                        </a:lnSpc>
                      </a:pPr>
                      <a:r>
                        <a:rPr sz="1500" b="0">
                          <a:solidFill>
                            <a:srgbClr val="1A1A1A"/>
                          </a:solidFill>
                          <a:latin typeface="Trebuchet MS"/>
                        </a:rPr>
                        <a:t>Single model, no constraints</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0.9344</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0.649</a:t>
                      </a:r>
                    </a:p>
                  </a:txBody>
                  <a:tcPr marL="118872" marR="91440" marT="27432" marB="27432" anchor="ctr">
                    <a:solidFill>
                      <a:srgbClr val="FDFCF9"/>
                    </a:solidFill>
                  </a:tcPr>
                </a:tc>
              </a:tr>
              <a:tr h="365760">
                <a:tc>
                  <a:txBody>
                    <a:bodyPr wrap="square"/>
                    <a:lstStyle/>
                    <a:p>
                      <a:pPr>
                        <a:lnSpc>
                          <a:spcPct val="110000"/>
                        </a:lnSpc>
                      </a:pPr>
                      <a:r>
                        <a:rPr sz="1500" b="0">
                          <a:solidFill>
                            <a:srgbClr val="1A1A1A"/>
                          </a:solidFill>
                          <a:latin typeface="Trebuchet MS"/>
                        </a:rPr>
                        <a:t>Single model + penalty 3.0</a:t>
                      </a:r>
                    </a:p>
                  </a:txBody>
                  <a:tcPr marL="118872" marR="91440" marT="27432" marB="27432" anchor="ctr">
                    <a:solidFill>
                      <a:srgbClr val="F4F1EA"/>
                    </a:solidFill>
                  </a:tcPr>
                </a:tc>
                <a:tc>
                  <a:txBody>
                    <a:bodyPr wrap="square"/>
                    <a:lstStyle/>
                    <a:p>
                      <a:pPr algn="ctr">
                        <a:lnSpc>
                          <a:spcPct val="110000"/>
                        </a:lnSpc>
                      </a:pPr>
                      <a:r>
                        <a:rPr b="1" sz="1500">
                          <a:solidFill>
                            <a:srgbClr val="1A1A1A"/>
                          </a:solidFill>
                          <a:latin typeface="Trebuchet MS"/>
                        </a:rPr>
                        <a:t>0.9470</a:t>
                      </a:r>
                    </a:p>
                  </a:txBody>
                  <a:tcPr marL="118872" marR="91440" marT="27432" marB="27432" anchor="ctr">
                    <a:solidFill>
                      <a:srgbClr val="F4F1EA"/>
                    </a:solidFill>
                  </a:tcPr>
                </a:tc>
                <a:tc>
                  <a:txBody>
                    <a:bodyPr wrap="square"/>
                    <a:lstStyle/>
                    <a:p>
                      <a:pPr algn="ctr">
                        <a:lnSpc>
                          <a:spcPct val="110000"/>
                        </a:lnSpc>
                      </a:pPr>
                      <a:r>
                        <a:rPr b="1" sz="1500">
                          <a:solidFill>
                            <a:srgbClr val="1A1A1A"/>
                          </a:solidFill>
                          <a:latin typeface="Trebuchet MS"/>
                        </a:rPr>
                        <a:t>0.705</a:t>
                      </a:r>
                    </a:p>
                  </a:txBody>
                  <a:tcPr marL="118872" marR="91440" marT="27432" marB="27432" anchor="ctr">
                    <a:solidFill>
                      <a:srgbClr val="F4F1EA"/>
                    </a:solidFill>
                  </a:tcPr>
                </a:tc>
              </a:tr>
              <a:tr h="365760">
                <a:tc>
                  <a:txBody>
                    <a:bodyPr wrap="square"/>
                    <a:lstStyle/>
                    <a:p>
                      <a:pPr>
                        <a:lnSpc>
                          <a:spcPct val="110000"/>
                        </a:lnSpc>
                      </a:pPr>
                      <a:r>
                        <a:rPr sz="1500" b="0">
                          <a:solidFill>
                            <a:srgbClr val="1A1A1A"/>
                          </a:solidFill>
                          <a:latin typeface="Trebuchet MS"/>
                        </a:rPr>
                        <a:t>5-fold ensemble, no constraints</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0.9592</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0.638</a:t>
                      </a:r>
                    </a:p>
                  </a:txBody>
                  <a:tcPr marL="118872" marR="91440" marT="27432" marB="27432" anchor="ctr">
                    <a:solidFill>
                      <a:srgbClr val="FDFCF9"/>
                    </a:solidFill>
                  </a:tcPr>
                </a:tc>
              </a:tr>
              <a:tr h="365760">
                <a:tc>
                  <a:txBody>
                    <a:bodyPr wrap="square"/>
                    <a:lstStyle/>
                    <a:p>
                      <a:pPr>
                        <a:lnSpc>
                          <a:spcPct val="110000"/>
                        </a:lnSpc>
                      </a:pPr>
                      <a:r>
                        <a:rPr sz="1500" b="0">
                          <a:solidFill>
                            <a:srgbClr val="1A1A1A"/>
                          </a:solidFill>
                          <a:latin typeface="Trebuchet MS"/>
                        </a:rPr>
                        <a:t>5-fold ensemble + penalty 3.0</a:t>
                      </a:r>
                    </a:p>
                  </a:txBody>
                  <a:tcPr marL="118872" marR="91440" marT="27432" marB="27432" anchor="ctr">
                    <a:solidFill>
                      <a:srgbClr val="F4F1EA"/>
                    </a:solidFill>
                  </a:tcPr>
                </a:tc>
                <a:tc>
                  <a:txBody>
                    <a:bodyPr wrap="square"/>
                    <a:lstStyle/>
                    <a:p>
                      <a:pPr algn="ctr">
                        <a:lnSpc>
                          <a:spcPct val="110000"/>
                        </a:lnSpc>
                      </a:pPr>
                      <a:r>
                        <a:rPr sz="1500" b="0">
                          <a:solidFill>
                            <a:srgbClr val="1A1A1A"/>
                          </a:solidFill>
                          <a:latin typeface="Trebuchet MS"/>
                        </a:rPr>
                        <a:t>0.95995</a:t>
                      </a:r>
                    </a:p>
                  </a:txBody>
                  <a:tcPr marL="118872" marR="91440" marT="27432" marB="27432" anchor="ctr">
                    <a:solidFill>
                      <a:srgbClr val="F4F1EA"/>
                    </a:solidFill>
                  </a:tcPr>
                </a:tc>
                <a:tc>
                  <a:txBody>
                    <a:bodyPr wrap="square"/>
                    <a:lstStyle/>
                    <a:p>
                      <a:pPr algn="ctr">
                        <a:lnSpc>
                          <a:spcPct val="110000"/>
                        </a:lnSpc>
                      </a:pPr>
                      <a:r>
                        <a:rPr sz="1500" b="0">
                          <a:solidFill>
                            <a:srgbClr val="1A1A1A"/>
                          </a:solidFill>
                          <a:latin typeface="Trebuchet MS"/>
                        </a:rPr>
                        <a:t>0.648</a:t>
                      </a:r>
                    </a:p>
                  </a:txBody>
                  <a:tcPr marL="118872" marR="91440" marT="27432" marB="27432" anchor="ctr">
                    <a:solidFill>
                      <a:srgbClr val="F4F1EA"/>
                    </a:solidFill>
                  </a:tcPr>
                </a:tc>
              </a:tr>
            </a:tbl>
          </a:graphicData>
        </a:graphic>
      </p:graphicFrame>
      <p:sp>
        <p:nvSpPr>
          <p:cNvPr id="6" name="TextBox 5"/>
          <p:cNvSpPr txBox="1"/>
          <p:nvPr/>
        </p:nvSpPr>
        <p:spPr>
          <a:xfrm>
            <a:off x="777240" y="3602736"/>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Constraints are worth </a:t>
            </a:r>
            <a:r>
              <a:rPr b="1" sz="1600">
                <a:solidFill>
                  <a:srgbClr val="6B6B6B"/>
                </a:solidFill>
                <a:latin typeface="Trebuchet MS"/>
              </a:rPr>
              <a:t>+1.26 F1 to a single model but only +0.08 to the ensemble</a:t>
            </a:r>
            <a:r>
              <a:rPr sz="1600" b="0">
                <a:solidFill>
                  <a:srgbClr val="6B6B6B"/>
                </a:solidFill>
                <a:latin typeface="Trebuchet MS"/>
              </a:rPr>
              <a:t>. Why the collapse? Because the two techniques fix the </a:t>
            </a:r>
            <a:r>
              <a:rPr i="1" b="0" sz="1600">
                <a:solidFill>
                  <a:srgbClr val="6B6B6B"/>
                </a:solidFill>
                <a:latin typeface="Trebuchet MS"/>
              </a:rPr>
              <a:t>same errors</a:t>
            </a:r>
            <a:r>
              <a:rPr sz="1600" b="0">
                <a:solidFill>
                  <a:srgbClr val="6B6B6B"/>
                </a:solidFill>
                <a:latin typeface="Trebuchet MS"/>
              </a:rPr>
              <a:t>: a type-violating prediction is usually one model's fluke, and averaging five models already outvotes it.</a:t>
            </a:r>
          </a:p>
        </p:txBody>
      </p:sp>
      <p:sp>
        <p:nvSpPr>
          <p:cNvPr id="7" name="Rounded Rectangle 6"/>
          <p:cNvSpPr/>
          <p:nvPr/>
        </p:nvSpPr>
        <p:spPr>
          <a:xfrm>
            <a:off x="777240" y="4547616"/>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BUT LOOK AT MACRO-F1</a:t>
            </a:r>
          </a:p>
          <a:p>
            <a:pPr>
              <a:lnSpc>
                <a:spcPct val="124000"/>
              </a:lnSpc>
            </a:pPr>
            <a:r>
              <a:rPr sz="1500" b="0">
                <a:solidFill>
                  <a:srgbClr val="1A1A1A"/>
                </a:solidFill>
                <a:latin typeface="Trebuchet MS"/>
              </a:rPr>
              <a:t>Constraints add +1.0 there </a:t>
            </a:r>
            <a:r>
              <a:rPr b="1" sz="1500">
                <a:solidFill>
                  <a:srgbClr val="1A1A1A"/>
                </a:solidFill>
                <a:latin typeface="Trebuchet MS"/>
              </a:rPr>
              <a:t>even on the ensemble</a:t>
            </a:r>
            <a:r>
              <a:rPr sz="1500" b="0">
                <a:solidFill>
                  <a:srgbClr val="1A1A1A"/>
                </a:solidFill>
                <a:latin typeface="Trebuchet MS"/>
              </a:rPr>
              <a:t>. Macro-F1 weights every relation equally, so it is dominated by rare relations, where the ensemble has little training signal and the type system still does real work.</a:t>
            </a:r>
          </a:p>
        </p:txBody>
      </p:sp>
      <p:sp>
        <p:nvSpPr>
          <p:cNvPr id="8" name="Rectangle 7"/>
          <p:cNvSpPr/>
          <p:nvPr/>
        </p:nvSpPr>
        <p:spPr>
          <a:xfrm>
            <a:off x="777240" y="4547616"/>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9 · WHAT TO TAKE AWAY</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Two lessons from that table</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5163159" cy="274320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1. Same failure mode, no stacking</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Techniques that address the same failure mode </a:t>
            </a:r>
            <a:r>
              <a:rPr b="1" sz="1500">
                <a:solidFill>
                  <a:srgbClr val="1A1A1A"/>
                </a:solidFill>
                <a:latin typeface="Trebuchet MS"/>
              </a:rPr>
              <a:t>do not add up</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Always measure improvements </a:t>
            </a:r>
            <a:r>
              <a:rPr b="1" sz="1500">
                <a:solidFill>
                  <a:srgbClr val="1A1A1A"/>
                </a:solidFill>
                <a:latin typeface="Trebuchet MS"/>
              </a:rPr>
              <a:t>in combination</a:t>
            </a:r>
            <a:r>
              <a:rPr sz="1500" b="0">
                <a:solidFill>
                  <a:srgbClr val="1A1A1A"/>
                </a:solidFill>
                <a:latin typeface="Trebuchet MS"/>
              </a:rPr>
              <a:t>, not individually</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Otherwise you ship complexity that buys 0.08 F1 and believe it bought 1.26</a:t>
            </a:r>
          </a:p>
        </p:txBody>
      </p:sp>
      <p:sp>
        <p:nvSpPr>
          <p:cNvPr id="6" name="Rounded Rectangle 5"/>
          <p:cNvSpPr/>
          <p:nvPr/>
        </p:nvSpPr>
        <p:spPr>
          <a:xfrm>
            <a:off x="6251295" y="1572768"/>
            <a:ext cx="5163159" cy="274320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2. The headline metric can hide the work</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An intervention can look worthless on micro-F1 while doing real work </a:t>
            </a:r>
            <a:r>
              <a:rPr b="1" sz="1500">
                <a:solidFill>
                  <a:srgbClr val="1A1A1A"/>
                </a:solidFill>
                <a:latin typeface="Trebuchet MS"/>
              </a:rPr>
              <a:t>in the tail</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Report both micro and macro</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Part IV explains exactly what the two averages measure</a:t>
            </a:r>
          </a:p>
        </p:txBody>
      </p:sp>
      <p:sp>
        <p:nvSpPr>
          <p:cNvPr id="7" name="TextBox 6"/>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8" name="TextBox 7"/>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10 · GETTING MORE FROM THE SAME DATA</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k-fold cross-validation</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Rather than one train/dev split, </a:t>
            </a:r>
            <a:r>
              <a:rPr b="1" sz="1600">
                <a:solidFill>
                  <a:srgbClr val="6B6B6B"/>
                </a:solidFill>
                <a:latin typeface="Trebuchet MS"/>
              </a:rPr>
              <a:t>k-fold</a:t>
            </a:r>
            <a:r>
              <a:rPr sz="1600" b="0">
                <a:solidFill>
                  <a:srgbClr val="6B6B6B"/>
                </a:solidFill>
                <a:latin typeface="Trebuchet MS"/>
              </a:rPr>
              <a:t> splits data into k parts, trains k models, and gives each a different held-out part.</a:t>
            </a:r>
          </a:p>
        </p:txBody>
      </p:sp>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57</a:t>
            </a:r>
          </a:p>
        </p:txBody>
      </p:sp>
      <p:sp>
        <p:nvSpPr>
          <p:cNvPr id="8" name="TextBox 7"/>
          <p:cNvSpPr txBox="1"/>
          <p:nvPr/>
        </p:nvSpPr>
        <p:spPr>
          <a:xfrm>
            <a:off x="822960" y="2523744"/>
            <a:ext cx="1371600" cy="292608"/>
          </a:xfrm>
          <a:prstGeom prst="rect">
            <a:avLst/>
          </a:prstGeom>
          <a:noFill/>
        </p:spPr>
        <p:txBody>
          <a:bodyPr wrap="square" lIns="0" rIns="0" tIns="0" bIns="0">
            <a:spAutoFit/>
          </a:bodyPr>
          <a:lstStyle/>
          <a:p>
            <a:pPr algn="l">
              <a:lnSpc>
                <a:spcPct val="115000"/>
              </a:lnSpc>
            </a:pPr>
            <a:r>
              <a:rPr sz="1300" b="0">
                <a:solidFill>
                  <a:srgbClr val="6B6B6B"/>
                </a:solidFill>
                <a:latin typeface="Trebuchet MS"/>
              </a:rPr>
              <a:t>fold 1</a:t>
            </a:r>
          </a:p>
        </p:txBody>
      </p:sp>
      <p:sp>
        <p:nvSpPr>
          <p:cNvPr id="9" name="Rounded Rectangle 8"/>
          <p:cNvSpPr/>
          <p:nvPr/>
        </p:nvSpPr>
        <p:spPr>
          <a:xfrm>
            <a:off x="2377440" y="2468880"/>
            <a:ext cx="1417320" cy="384048"/>
          </a:xfrm>
          <a:prstGeom prst="roundRect">
            <a:avLst>
              <a:gd name="adj" fmla="val 6000"/>
            </a:avLst>
          </a:prstGeom>
          <a:solidFill>
            <a:srgbClr val="9E4A2B"/>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0" name="TextBox 9"/>
          <p:cNvSpPr txBox="1"/>
          <p:nvPr/>
        </p:nvSpPr>
        <p:spPr>
          <a:xfrm>
            <a:off x="2377440" y="2532888"/>
            <a:ext cx="1417320" cy="292608"/>
          </a:xfrm>
          <a:prstGeom prst="rect">
            <a:avLst/>
          </a:prstGeom>
          <a:noFill/>
        </p:spPr>
        <p:txBody>
          <a:bodyPr wrap="square" lIns="0" rIns="0" tIns="0" bIns="0">
            <a:spAutoFit/>
          </a:bodyPr>
          <a:lstStyle/>
          <a:p>
            <a:pPr algn="ctr">
              <a:lnSpc>
                <a:spcPct val="115000"/>
              </a:lnSpc>
            </a:pPr>
            <a:r>
              <a:rPr sz="1050" b="1">
                <a:solidFill>
                  <a:srgbClr val="FFFFFF"/>
                </a:solidFill>
                <a:latin typeface="Trebuchet MS"/>
              </a:rPr>
              <a:t>HELD OUT</a:t>
            </a:r>
          </a:p>
        </p:txBody>
      </p:sp>
      <p:sp>
        <p:nvSpPr>
          <p:cNvPr id="11" name="Rounded Rectangle 10"/>
          <p:cNvSpPr/>
          <p:nvPr/>
        </p:nvSpPr>
        <p:spPr>
          <a:xfrm>
            <a:off x="3904487" y="246888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2" name="Rounded Rectangle 11"/>
          <p:cNvSpPr/>
          <p:nvPr/>
        </p:nvSpPr>
        <p:spPr>
          <a:xfrm>
            <a:off x="5431536" y="246888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3" name="Rounded Rectangle 12"/>
          <p:cNvSpPr/>
          <p:nvPr/>
        </p:nvSpPr>
        <p:spPr>
          <a:xfrm>
            <a:off x="6958583" y="246888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4" name="Rounded Rectangle 13"/>
          <p:cNvSpPr/>
          <p:nvPr/>
        </p:nvSpPr>
        <p:spPr>
          <a:xfrm>
            <a:off x="8485632" y="246888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5" name="TextBox 14"/>
          <p:cNvSpPr txBox="1"/>
          <p:nvPr/>
        </p:nvSpPr>
        <p:spPr>
          <a:xfrm>
            <a:off x="822960" y="3026664"/>
            <a:ext cx="1371600" cy="292608"/>
          </a:xfrm>
          <a:prstGeom prst="rect">
            <a:avLst/>
          </a:prstGeom>
          <a:noFill/>
        </p:spPr>
        <p:txBody>
          <a:bodyPr wrap="square" lIns="0" rIns="0" tIns="0" bIns="0">
            <a:spAutoFit/>
          </a:bodyPr>
          <a:lstStyle/>
          <a:p>
            <a:pPr algn="l">
              <a:lnSpc>
                <a:spcPct val="115000"/>
              </a:lnSpc>
            </a:pPr>
            <a:r>
              <a:rPr sz="1300" b="0">
                <a:solidFill>
                  <a:srgbClr val="6B6B6B"/>
                </a:solidFill>
                <a:latin typeface="Trebuchet MS"/>
              </a:rPr>
              <a:t>fold 2</a:t>
            </a:r>
          </a:p>
        </p:txBody>
      </p:sp>
      <p:sp>
        <p:nvSpPr>
          <p:cNvPr id="16" name="Rounded Rectangle 15"/>
          <p:cNvSpPr/>
          <p:nvPr/>
        </p:nvSpPr>
        <p:spPr>
          <a:xfrm>
            <a:off x="2377440" y="297180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7" name="Rounded Rectangle 16"/>
          <p:cNvSpPr/>
          <p:nvPr/>
        </p:nvSpPr>
        <p:spPr>
          <a:xfrm>
            <a:off x="3904487" y="2971800"/>
            <a:ext cx="1417320" cy="384048"/>
          </a:xfrm>
          <a:prstGeom prst="roundRect">
            <a:avLst>
              <a:gd name="adj" fmla="val 6000"/>
            </a:avLst>
          </a:prstGeom>
          <a:solidFill>
            <a:srgbClr val="9E4A2B"/>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18" name="TextBox 17"/>
          <p:cNvSpPr txBox="1"/>
          <p:nvPr/>
        </p:nvSpPr>
        <p:spPr>
          <a:xfrm>
            <a:off x="3904487" y="3035808"/>
            <a:ext cx="1417320" cy="292608"/>
          </a:xfrm>
          <a:prstGeom prst="rect">
            <a:avLst/>
          </a:prstGeom>
          <a:noFill/>
        </p:spPr>
        <p:txBody>
          <a:bodyPr wrap="square" lIns="0" rIns="0" tIns="0" bIns="0">
            <a:spAutoFit/>
          </a:bodyPr>
          <a:lstStyle/>
          <a:p>
            <a:pPr algn="ctr">
              <a:lnSpc>
                <a:spcPct val="115000"/>
              </a:lnSpc>
            </a:pPr>
            <a:r>
              <a:rPr sz="1050" b="1">
                <a:solidFill>
                  <a:srgbClr val="FFFFFF"/>
                </a:solidFill>
                <a:latin typeface="Trebuchet MS"/>
              </a:rPr>
              <a:t>HELD OUT</a:t>
            </a:r>
          </a:p>
        </p:txBody>
      </p:sp>
      <p:sp>
        <p:nvSpPr>
          <p:cNvPr id="19" name="Rounded Rectangle 18"/>
          <p:cNvSpPr/>
          <p:nvPr/>
        </p:nvSpPr>
        <p:spPr>
          <a:xfrm>
            <a:off x="5431536" y="297180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20" name="Rounded Rectangle 19"/>
          <p:cNvSpPr/>
          <p:nvPr/>
        </p:nvSpPr>
        <p:spPr>
          <a:xfrm>
            <a:off x="6958583" y="297180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21" name="Rounded Rectangle 20"/>
          <p:cNvSpPr/>
          <p:nvPr/>
        </p:nvSpPr>
        <p:spPr>
          <a:xfrm>
            <a:off x="8485632" y="297180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22" name="TextBox 21"/>
          <p:cNvSpPr txBox="1"/>
          <p:nvPr/>
        </p:nvSpPr>
        <p:spPr>
          <a:xfrm>
            <a:off x="822960" y="3529584"/>
            <a:ext cx="1371600" cy="292608"/>
          </a:xfrm>
          <a:prstGeom prst="rect">
            <a:avLst/>
          </a:prstGeom>
          <a:noFill/>
        </p:spPr>
        <p:txBody>
          <a:bodyPr wrap="square" lIns="0" rIns="0" tIns="0" bIns="0">
            <a:spAutoFit/>
          </a:bodyPr>
          <a:lstStyle/>
          <a:p>
            <a:pPr algn="l">
              <a:lnSpc>
                <a:spcPct val="115000"/>
              </a:lnSpc>
            </a:pPr>
            <a:r>
              <a:rPr sz="1300" b="0">
                <a:solidFill>
                  <a:srgbClr val="6B6B6B"/>
                </a:solidFill>
                <a:latin typeface="Trebuchet MS"/>
              </a:rPr>
              <a:t>fold 3</a:t>
            </a:r>
          </a:p>
        </p:txBody>
      </p:sp>
      <p:sp>
        <p:nvSpPr>
          <p:cNvPr id="23" name="Rounded Rectangle 22"/>
          <p:cNvSpPr/>
          <p:nvPr/>
        </p:nvSpPr>
        <p:spPr>
          <a:xfrm>
            <a:off x="2377440" y="347472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24" name="Rounded Rectangle 23"/>
          <p:cNvSpPr/>
          <p:nvPr/>
        </p:nvSpPr>
        <p:spPr>
          <a:xfrm>
            <a:off x="3904487" y="347472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25" name="Rounded Rectangle 24"/>
          <p:cNvSpPr/>
          <p:nvPr/>
        </p:nvSpPr>
        <p:spPr>
          <a:xfrm>
            <a:off x="5431536" y="3474720"/>
            <a:ext cx="1417320" cy="384048"/>
          </a:xfrm>
          <a:prstGeom prst="roundRect">
            <a:avLst>
              <a:gd name="adj" fmla="val 6000"/>
            </a:avLst>
          </a:prstGeom>
          <a:solidFill>
            <a:srgbClr val="9E4A2B"/>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26" name="TextBox 25"/>
          <p:cNvSpPr txBox="1"/>
          <p:nvPr/>
        </p:nvSpPr>
        <p:spPr>
          <a:xfrm>
            <a:off x="5431536" y="3538728"/>
            <a:ext cx="1417320" cy="292608"/>
          </a:xfrm>
          <a:prstGeom prst="rect">
            <a:avLst/>
          </a:prstGeom>
          <a:noFill/>
        </p:spPr>
        <p:txBody>
          <a:bodyPr wrap="square" lIns="0" rIns="0" tIns="0" bIns="0">
            <a:spAutoFit/>
          </a:bodyPr>
          <a:lstStyle/>
          <a:p>
            <a:pPr algn="ctr">
              <a:lnSpc>
                <a:spcPct val="115000"/>
              </a:lnSpc>
            </a:pPr>
            <a:r>
              <a:rPr sz="1050" b="1">
                <a:solidFill>
                  <a:srgbClr val="FFFFFF"/>
                </a:solidFill>
                <a:latin typeface="Trebuchet MS"/>
              </a:rPr>
              <a:t>HELD OUT</a:t>
            </a:r>
          </a:p>
        </p:txBody>
      </p:sp>
      <p:sp>
        <p:nvSpPr>
          <p:cNvPr id="27" name="Rounded Rectangle 26"/>
          <p:cNvSpPr/>
          <p:nvPr/>
        </p:nvSpPr>
        <p:spPr>
          <a:xfrm>
            <a:off x="6958583" y="347472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28" name="Rounded Rectangle 27"/>
          <p:cNvSpPr/>
          <p:nvPr/>
        </p:nvSpPr>
        <p:spPr>
          <a:xfrm>
            <a:off x="8485632" y="347472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29" name="TextBox 28"/>
          <p:cNvSpPr txBox="1"/>
          <p:nvPr/>
        </p:nvSpPr>
        <p:spPr>
          <a:xfrm>
            <a:off x="822960" y="4032504"/>
            <a:ext cx="1371600" cy="292608"/>
          </a:xfrm>
          <a:prstGeom prst="rect">
            <a:avLst/>
          </a:prstGeom>
          <a:noFill/>
        </p:spPr>
        <p:txBody>
          <a:bodyPr wrap="square" lIns="0" rIns="0" tIns="0" bIns="0">
            <a:spAutoFit/>
          </a:bodyPr>
          <a:lstStyle/>
          <a:p>
            <a:pPr algn="l">
              <a:lnSpc>
                <a:spcPct val="115000"/>
              </a:lnSpc>
            </a:pPr>
            <a:r>
              <a:rPr sz="1300" b="0">
                <a:solidFill>
                  <a:srgbClr val="6B6B6B"/>
                </a:solidFill>
                <a:latin typeface="Trebuchet MS"/>
              </a:rPr>
              <a:t>fold 4</a:t>
            </a:r>
          </a:p>
        </p:txBody>
      </p:sp>
      <p:sp>
        <p:nvSpPr>
          <p:cNvPr id="30" name="Rounded Rectangle 29"/>
          <p:cNvSpPr/>
          <p:nvPr/>
        </p:nvSpPr>
        <p:spPr>
          <a:xfrm>
            <a:off x="2377440" y="397764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31" name="Rounded Rectangle 30"/>
          <p:cNvSpPr/>
          <p:nvPr/>
        </p:nvSpPr>
        <p:spPr>
          <a:xfrm>
            <a:off x="3904487" y="397764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32" name="Rounded Rectangle 31"/>
          <p:cNvSpPr/>
          <p:nvPr/>
        </p:nvSpPr>
        <p:spPr>
          <a:xfrm>
            <a:off x="5431536" y="397764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33" name="Rounded Rectangle 32"/>
          <p:cNvSpPr/>
          <p:nvPr/>
        </p:nvSpPr>
        <p:spPr>
          <a:xfrm>
            <a:off x="6958583" y="3977640"/>
            <a:ext cx="1417320" cy="384048"/>
          </a:xfrm>
          <a:prstGeom prst="roundRect">
            <a:avLst>
              <a:gd name="adj" fmla="val 6000"/>
            </a:avLst>
          </a:prstGeom>
          <a:solidFill>
            <a:srgbClr val="9E4A2B"/>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34" name="TextBox 33"/>
          <p:cNvSpPr txBox="1"/>
          <p:nvPr/>
        </p:nvSpPr>
        <p:spPr>
          <a:xfrm>
            <a:off x="6958583" y="4041648"/>
            <a:ext cx="1417320" cy="292608"/>
          </a:xfrm>
          <a:prstGeom prst="rect">
            <a:avLst/>
          </a:prstGeom>
          <a:noFill/>
        </p:spPr>
        <p:txBody>
          <a:bodyPr wrap="square" lIns="0" rIns="0" tIns="0" bIns="0">
            <a:spAutoFit/>
          </a:bodyPr>
          <a:lstStyle/>
          <a:p>
            <a:pPr algn="ctr">
              <a:lnSpc>
                <a:spcPct val="115000"/>
              </a:lnSpc>
            </a:pPr>
            <a:r>
              <a:rPr sz="1050" b="1">
                <a:solidFill>
                  <a:srgbClr val="FFFFFF"/>
                </a:solidFill>
                <a:latin typeface="Trebuchet MS"/>
              </a:rPr>
              <a:t>HELD OUT</a:t>
            </a:r>
          </a:p>
        </p:txBody>
      </p:sp>
      <p:sp>
        <p:nvSpPr>
          <p:cNvPr id="35" name="Rounded Rectangle 34"/>
          <p:cNvSpPr/>
          <p:nvPr/>
        </p:nvSpPr>
        <p:spPr>
          <a:xfrm>
            <a:off x="8485632" y="397764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36" name="TextBox 35"/>
          <p:cNvSpPr txBox="1"/>
          <p:nvPr/>
        </p:nvSpPr>
        <p:spPr>
          <a:xfrm>
            <a:off x="822960" y="4535424"/>
            <a:ext cx="1371600" cy="292608"/>
          </a:xfrm>
          <a:prstGeom prst="rect">
            <a:avLst/>
          </a:prstGeom>
          <a:noFill/>
        </p:spPr>
        <p:txBody>
          <a:bodyPr wrap="square" lIns="0" rIns="0" tIns="0" bIns="0">
            <a:spAutoFit/>
          </a:bodyPr>
          <a:lstStyle/>
          <a:p>
            <a:pPr algn="l">
              <a:lnSpc>
                <a:spcPct val="115000"/>
              </a:lnSpc>
            </a:pPr>
            <a:r>
              <a:rPr sz="1300" b="0">
                <a:solidFill>
                  <a:srgbClr val="6B6B6B"/>
                </a:solidFill>
                <a:latin typeface="Trebuchet MS"/>
              </a:rPr>
              <a:t>fold 5</a:t>
            </a:r>
          </a:p>
        </p:txBody>
      </p:sp>
      <p:sp>
        <p:nvSpPr>
          <p:cNvPr id="37" name="Rounded Rectangle 36"/>
          <p:cNvSpPr/>
          <p:nvPr/>
        </p:nvSpPr>
        <p:spPr>
          <a:xfrm>
            <a:off x="2377440" y="448056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38" name="Rounded Rectangle 37"/>
          <p:cNvSpPr/>
          <p:nvPr/>
        </p:nvSpPr>
        <p:spPr>
          <a:xfrm>
            <a:off x="3904487" y="448056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39" name="Rounded Rectangle 38"/>
          <p:cNvSpPr/>
          <p:nvPr/>
        </p:nvSpPr>
        <p:spPr>
          <a:xfrm>
            <a:off x="5431536" y="448056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40" name="Rounded Rectangle 39"/>
          <p:cNvSpPr/>
          <p:nvPr/>
        </p:nvSpPr>
        <p:spPr>
          <a:xfrm>
            <a:off x="6958583" y="4480560"/>
            <a:ext cx="1417320" cy="384048"/>
          </a:xfrm>
          <a:prstGeom prst="roundRect">
            <a:avLst>
              <a:gd name="adj" fmla="val 6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41" name="Rounded Rectangle 40"/>
          <p:cNvSpPr/>
          <p:nvPr/>
        </p:nvSpPr>
        <p:spPr>
          <a:xfrm>
            <a:off x="8485632" y="4480560"/>
            <a:ext cx="1417320" cy="384048"/>
          </a:xfrm>
          <a:prstGeom prst="roundRect">
            <a:avLst>
              <a:gd name="adj" fmla="val 6000"/>
            </a:avLst>
          </a:prstGeom>
          <a:solidFill>
            <a:srgbClr val="9E4A2B"/>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p>
        </p:txBody>
      </p:sp>
      <p:sp>
        <p:nvSpPr>
          <p:cNvPr id="42" name="TextBox 41"/>
          <p:cNvSpPr txBox="1"/>
          <p:nvPr/>
        </p:nvSpPr>
        <p:spPr>
          <a:xfrm>
            <a:off x="8485632" y="4544568"/>
            <a:ext cx="1417320" cy="292608"/>
          </a:xfrm>
          <a:prstGeom prst="rect">
            <a:avLst/>
          </a:prstGeom>
          <a:noFill/>
        </p:spPr>
        <p:txBody>
          <a:bodyPr wrap="square" lIns="0" rIns="0" tIns="0" bIns="0">
            <a:spAutoFit/>
          </a:bodyPr>
          <a:lstStyle/>
          <a:p>
            <a:pPr algn="ctr">
              <a:lnSpc>
                <a:spcPct val="115000"/>
              </a:lnSpc>
            </a:pPr>
            <a:r>
              <a:rPr sz="1050" b="1">
                <a:solidFill>
                  <a:srgbClr val="FFFFFF"/>
                </a:solidFill>
                <a:latin typeface="Trebuchet MS"/>
              </a:rPr>
              <a:t>HELD OUT</a:t>
            </a:r>
          </a:p>
        </p:txBody>
      </p:sp>
      <p:sp>
        <p:nvSpPr>
          <p:cNvPr id="43" name="TextBox 42"/>
          <p:cNvSpPr txBox="1"/>
          <p:nvPr/>
        </p:nvSpPr>
        <p:spPr>
          <a:xfrm>
            <a:off x="822960" y="5074920"/>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500">
                <a:solidFill>
                  <a:srgbClr val="9E4A2B"/>
                </a:solidFill>
                <a:latin typeface="Trebuchet MS"/>
              </a:rPr>
              <a:t>▪  </a:t>
            </a:r>
            <a:r>
              <a:rPr sz="1500" b="0">
                <a:solidFill>
                  <a:srgbClr val="1A1A1A"/>
                </a:solidFill>
                <a:latin typeface="Trebuchet MS"/>
              </a:rPr>
              <a:t>Every record gets predicted exactly once by a model that </a:t>
            </a:r>
            <a:r>
              <a:rPr b="1" sz="1500">
                <a:solidFill>
                  <a:srgbClr val="1A1A1A"/>
                </a:solidFill>
                <a:latin typeface="Trebuchet MS"/>
              </a:rPr>
              <a:t>never saw it</a:t>
            </a:r>
          </a:p>
          <a:p>
            <a:pPr marL="256032" indent="-256032">
              <a:lnSpc>
                <a:spcPct val="122000"/>
              </a:lnSpc>
              <a:spcBef>
                <a:spcPts val="0"/>
              </a:spcBef>
              <a:spcAft>
                <a:spcPts val="900"/>
              </a:spcAft>
            </a:pPr>
            <a:r>
              <a:rPr sz="1500">
                <a:solidFill>
                  <a:srgbClr val="9E4A2B"/>
                </a:solidFill>
                <a:latin typeface="Trebuchet MS"/>
              </a:rPr>
              <a:t>▪  </a:t>
            </a:r>
            <a:r>
              <a:rPr sz="1500" b="0">
                <a:solidFill>
                  <a:srgbClr val="1A1A1A"/>
                </a:solidFill>
                <a:latin typeface="Trebuchet MS"/>
              </a:rPr>
              <a:t>A more reliable estimate (5 measurements, not 1), plus five trained models you can ensemble for free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10 · LEAKAGE</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Grouped splits, because our rows are not independent</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b="1" sz="1600">
                <a:solidFill>
                  <a:srgbClr val="6B6B6B"/>
                </a:solidFill>
                <a:latin typeface="Trebuchet MS"/>
              </a:rPr>
              <a:t>Data leakage</a:t>
            </a:r>
            <a:r>
              <a:rPr sz="1600" b="0">
                <a:solidFill>
                  <a:srgbClr val="6B6B6B"/>
                </a:solidFill>
                <a:latin typeface="Trebuchet MS"/>
              </a:rPr>
              <a:t> is when information from your evaluation set reaches training, inflating your score and misleading you about real performance.</a:t>
            </a:r>
          </a:p>
        </p:txBody>
      </p:sp>
      <p:sp>
        <p:nvSpPr>
          <p:cNvPr id="6" name="TextBox 5"/>
          <p:cNvSpPr txBox="1"/>
          <p:nvPr/>
        </p:nvSpPr>
        <p:spPr>
          <a:xfrm>
            <a:off x="777240" y="2263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Our RE data has a subtle risk: one sentence generates </a:t>
            </a:r>
            <a:r>
              <a:rPr b="1" sz="1700">
                <a:solidFill>
                  <a:srgbClr val="1A1A1A"/>
                </a:solidFill>
                <a:latin typeface="Trebuchet MS"/>
              </a:rPr>
              <a:t>multiple relation records</a:t>
            </a:r>
            <a:r>
              <a:rPr sz="1700" b="0">
                <a:solidFill>
                  <a:srgbClr val="1A1A1A"/>
                </a:solidFill>
                <a:latin typeface="Trebuchet MS"/>
              </a:rPr>
              <a:t> (2.75 on average)</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Split randomly by record and the same sentence appears in both train and dev, with different mention pairs. The model has effectively seen the dev sentence</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The fix is </a:t>
            </a:r>
            <a:r>
              <a:rPr b="1" sz="1700">
                <a:solidFill>
                  <a:srgbClr val="1A1A1A"/>
                </a:solidFill>
                <a:latin typeface="Trebuchet MS"/>
              </a:rPr>
              <a:t>grouped k-fold</a:t>
            </a:r>
            <a:r>
              <a:rPr sz="1700" b="0">
                <a:solidFill>
                  <a:srgbClr val="1A1A1A"/>
                </a:solidFill>
                <a:latin typeface="Trebuchet MS"/>
              </a:rPr>
              <a:t>: group records by </a:t>
            </a:r>
            <a:r>
              <a:rPr sz="1530" b="0">
                <a:solidFill>
                  <a:srgbClr val="1F5673"/>
                </a:solidFill>
                <a:latin typeface="Consolas"/>
              </a:rPr>
              <a:t>sentence_id</a:t>
            </a:r>
            <a:r>
              <a:rPr sz="1700" b="0">
                <a:solidFill>
                  <a:srgbClr val="1A1A1A"/>
                </a:solidFill>
                <a:latin typeface="Trebuchet MS"/>
              </a:rPr>
              <a:t> and assign whole groups to folds (</a:t>
            </a:r>
            <a:r>
              <a:rPr sz="1530" b="0">
                <a:solidFill>
                  <a:srgbClr val="1F5673"/>
                </a:solidFill>
                <a:latin typeface="Consolas"/>
              </a:rPr>
              <a:t>splits.py</a:t>
            </a:r>
            <a:r>
              <a:rPr sz="1700" b="0">
                <a:solidFill>
                  <a:srgbClr val="1A1A1A"/>
                </a:solidFill>
                <a:latin typeface="Trebuchet MS"/>
              </a:rPr>
              <a:t>). A sentence lands entirely in one fold</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We balance fold sizes greedily, since groups vary in size</a:t>
            </a:r>
          </a:p>
        </p:txBody>
      </p:sp>
      <p:sp>
        <p:nvSpPr>
          <p:cNvPr id="7" name="Rounded Rectangle 6"/>
          <p:cNvSpPr/>
          <p:nvPr/>
        </p:nvSpPr>
        <p:spPr>
          <a:xfrm>
            <a:off x="777240" y="4692649"/>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GENERALIZE THIS</a:t>
            </a:r>
          </a:p>
          <a:p>
            <a:pPr>
              <a:lnSpc>
                <a:spcPct val="124000"/>
              </a:lnSpc>
            </a:pPr>
            <a:r>
              <a:rPr sz="1500" b="0">
                <a:solidFill>
                  <a:srgbClr val="1A1A1A"/>
                </a:solidFill>
                <a:latin typeface="Trebuchet MS"/>
              </a:rPr>
              <a:t>Whenever your rows are not independent, split by the </a:t>
            </a:r>
            <a:r>
              <a:rPr b="1" sz="1500">
                <a:solidFill>
                  <a:srgbClr val="1A1A1A"/>
                </a:solidFill>
                <a:latin typeface="Trebuchet MS"/>
              </a:rPr>
              <a:t>unit of independence</a:t>
            </a:r>
            <a:r>
              <a:rPr sz="1500" b="0">
                <a:solidFill>
                  <a:srgbClr val="1A1A1A"/>
                </a:solidFill>
                <a:latin typeface="Trebuchet MS"/>
              </a:rPr>
              <a:t>, not the row. Multiple readings of one patient, multiple frames of one video, multiple records of one sentence: same trap, same fix.</a:t>
            </a:r>
          </a:p>
        </p:txBody>
      </p:sp>
      <p:sp>
        <p:nvSpPr>
          <p:cNvPr id="8" name="Rectangle 7"/>
          <p:cNvSpPr/>
          <p:nvPr/>
        </p:nvSpPr>
        <p:spPr>
          <a:xfrm>
            <a:off x="777240" y="4692649"/>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10 · OOF</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Out-of-fold prediction, and what it bought us</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b="1" sz="1600">
                <a:solidFill>
                  <a:srgbClr val="6B6B6B"/>
                </a:solidFill>
                <a:latin typeface="Trebuchet MS"/>
              </a:rPr>
              <a:t>Out-of-fold</a:t>
            </a:r>
            <a:r>
              <a:rPr sz="1600" b="0">
                <a:solidFill>
                  <a:srgbClr val="6B6B6B"/>
                </a:solidFill>
                <a:latin typeface="Trebuchet MS"/>
              </a:rPr>
              <a:t> predictions are what you get by collecting each fold's held-out predictions and pooling them: a prediction for </a:t>
            </a:r>
            <a:r>
              <a:rPr i="1" b="0" sz="1600">
                <a:solidFill>
                  <a:srgbClr val="6B6B6B"/>
                </a:solidFill>
                <a:latin typeface="Trebuchet MS"/>
              </a:rPr>
              <a:t>every</a:t>
            </a:r>
            <a:r>
              <a:rPr sz="1600" b="0">
                <a:solidFill>
                  <a:srgbClr val="6B6B6B"/>
                </a:solidFill>
                <a:latin typeface="Trebuchet MS"/>
              </a:rPr>
              <a:t> training record, each made by a model that did not train on it.</a:t>
            </a:r>
          </a:p>
        </p:txBody>
      </p:sp>
      <p:sp>
        <p:nvSpPr>
          <p:cNvPr id="6" name="Rounded Rectangle 5"/>
          <p:cNvSpPr/>
          <p:nvPr/>
        </p:nvSpPr>
        <p:spPr>
          <a:xfrm>
            <a:off x="777240" y="2263648"/>
            <a:ext cx="3375050" cy="146304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3200" b="1">
                <a:solidFill>
                  <a:srgbClr val="1F5673"/>
                </a:solidFill>
                <a:latin typeface="Trebuchet MS"/>
              </a:rPr>
              <a:t>2,174</a:t>
            </a:r>
          </a:p>
          <a:p>
            <a:pPr algn="ctr">
              <a:lnSpc>
                <a:spcPct val="115000"/>
              </a:lnSpc>
              <a:spcBef>
                <a:spcPts val="500"/>
              </a:spcBef>
            </a:pPr>
            <a:r>
              <a:rPr sz="1250" b="0">
                <a:solidFill>
                  <a:srgbClr val="6B6B6B"/>
                </a:solidFill>
                <a:latin typeface="Trebuchet MS"/>
              </a:rPr>
              <a:t>records in the original dev split we tuned the penalty on</a:t>
            </a:r>
          </a:p>
        </p:txBody>
      </p:sp>
      <p:sp>
        <p:nvSpPr>
          <p:cNvPr id="7" name="Rounded Rectangle 6"/>
          <p:cNvSpPr/>
          <p:nvPr/>
        </p:nvSpPr>
        <p:spPr>
          <a:xfrm>
            <a:off x="4408322" y="2263648"/>
            <a:ext cx="3375050" cy="146304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3200" b="1">
                <a:solidFill>
                  <a:srgbClr val="1F5673"/>
                </a:solidFill>
                <a:latin typeface="Trebuchet MS"/>
              </a:rPr>
              <a:t>17,381</a:t>
            </a:r>
          </a:p>
          <a:p>
            <a:pPr algn="ctr">
              <a:lnSpc>
                <a:spcPct val="115000"/>
              </a:lnSpc>
              <a:spcBef>
                <a:spcPts val="500"/>
              </a:spcBef>
            </a:pPr>
            <a:r>
              <a:rPr sz="1250" b="0">
                <a:solidFill>
                  <a:srgbClr val="6B6B6B"/>
                </a:solidFill>
                <a:latin typeface="Trebuchet MS"/>
              </a:rPr>
              <a:t>records in the OOF pool we re-ran the sweep on</a:t>
            </a:r>
          </a:p>
        </p:txBody>
      </p:sp>
      <p:sp>
        <p:nvSpPr>
          <p:cNvPr id="8" name="Rounded Rectangle 7"/>
          <p:cNvSpPr/>
          <p:nvPr/>
        </p:nvSpPr>
        <p:spPr>
          <a:xfrm>
            <a:off x="8039404" y="2263648"/>
            <a:ext cx="3375050" cy="146304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3200" b="1">
                <a:solidFill>
                  <a:srgbClr val="1F5673"/>
                </a:solidFill>
                <a:latin typeface="Trebuchet MS"/>
              </a:rPr>
              <a:t>8×</a:t>
            </a:r>
          </a:p>
          <a:p>
            <a:pPr algn="ctr">
              <a:lnSpc>
                <a:spcPct val="115000"/>
              </a:lnSpc>
              <a:spcBef>
                <a:spcPts val="500"/>
              </a:spcBef>
            </a:pPr>
            <a:r>
              <a:rPr sz="1250" b="0">
                <a:solidFill>
                  <a:srgbClr val="6B6B6B"/>
                </a:solidFill>
                <a:latin typeface="Trebuchet MS"/>
              </a:rPr>
              <a:t>the evidence, at </a:t>
            </a:r>
            <a:r>
              <a:rPr b="1" sz="1250">
                <a:solidFill>
                  <a:srgbClr val="6B6B6B"/>
                </a:solidFill>
                <a:latin typeface="Trebuchet MS"/>
              </a:rPr>
              <a:t>no extra training cost</a:t>
            </a:r>
          </a:p>
        </p:txBody>
      </p:sp>
      <p:sp>
        <p:nvSpPr>
          <p:cNvPr id="9" name="TextBox 8"/>
          <p:cNvSpPr txBox="1"/>
          <p:nvPr/>
        </p:nvSpPr>
        <p:spPr>
          <a:xfrm>
            <a:off x="777240" y="3946144"/>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Penalty 3.0 held up under the larger sweep</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The OOF estimate (</a:t>
            </a:r>
            <a:r>
              <a:rPr b="1" sz="1700">
                <a:solidFill>
                  <a:srgbClr val="1A1A1A"/>
                </a:solidFill>
                <a:latin typeface="Trebuchet MS"/>
              </a:rPr>
              <a:t>0.95995</a:t>
            </a:r>
            <a:r>
              <a:rPr sz="1700" b="0">
                <a:solidFill>
                  <a:srgbClr val="1A1A1A"/>
                </a:solidFill>
                <a:latin typeface="Trebuchet MS"/>
              </a:rPr>
              <a:t>) predicted our blind test score (</a:t>
            </a:r>
            <a:r>
              <a:rPr b="1" sz="1700">
                <a:solidFill>
                  <a:srgbClr val="1A1A1A"/>
                </a:solidFill>
                <a:latin typeface="Trebuchet MS"/>
              </a:rPr>
              <a:t>0.9571</a:t>
            </a:r>
            <a:r>
              <a:rPr sz="1700" b="0">
                <a:solidFill>
                  <a:srgbClr val="1A1A1A"/>
                </a:solidFill>
                <a:latin typeface="Trebuchet MS"/>
              </a:rPr>
              <a:t>) to within 0.3 points</a:t>
            </a:r>
          </a:p>
        </p:txBody>
      </p:sp>
      <p:sp>
        <p:nvSpPr>
          <p:cNvPr id="10" name="Rounded Rectangle 9"/>
          <p:cNvSpPr/>
          <p:nvPr/>
        </p:nvSpPr>
        <p:spPr>
          <a:xfrm>
            <a:off x="777240" y="4829556"/>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WHY THAT LAST NUMBER MATTERS MORE THAN IT LOOKS</a:t>
            </a:r>
          </a:p>
          <a:p>
            <a:pPr>
              <a:lnSpc>
                <a:spcPct val="124000"/>
              </a:lnSpc>
            </a:pPr>
            <a:r>
              <a:rPr sz="1500" b="0">
                <a:solidFill>
                  <a:srgbClr val="1A1A1A"/>
                </a:solidFill>
                <a:latin typeface="Trebuchet MS"/>
              </a:rPr>
              <a:t>A leakage-free estimate that transfers to unseen data is a validation of the entire protocol, not just of one hyperparameter. It is the evidence that our development numbers meant something.</a:t>
            </a:r>
          </a:p>
        </p:txBody>
      </p:sp>
      <p:sp>
        <p:nvSpPr>
          <p:cNvPr id="11" name="Rectangle 10"/>
          <p:cNvSpPr/>
          <p:nvPr/>
        </p:nvSpPr>
        <p:spPr>
          <a:xfrm>
            <a:off x="777240" y="4829556"/>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13" name="TextBox 12"/>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10 · ASSEMBLING THE FINAL RE PREDICTION</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Ensembling by logit averaging, and saving the expensive part</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For test predictions we average the five folds' </a:t>
            </a:r>
            <a:r>
              <a:rPr b="1" sz="1700">
                <a:solidFill>
                  <a:srgbClr val="1A1A1A"/>
                </a:solidFill>
                <a:latin typeface="Trebuchet MS"/>
              </a:rPr>
              <a:t>raw logits</a:t>
            </a:r>
            <a:r>
              <a:rPr sz="1700" b="0">
                <a:solidFill>
                  <a:srgbClr val="1A1A1A"/>
                </a:solidFill>
                <a:latin typeface="Trebuchet MS"/>
              </a:rPr>
              <a:t> (pre-softmax scores), then apply the constraint penalty and the </a:t>
            </a:r>
            <a:r>
              <a:rPr sz="1530" b="0">
                <a:solidFill>
                  <a:srgbClr val="1F5673"/>
                </a:solidFill>
                <a:latin typeface="Consolas"/>
              </a:rPr>
              <a:t>no_relation</a:t>
            </a:r>
            <a:r>
              <a:rPr sz="1700" b="0">
                <a:solidFill>
                  <a:srgbClr val="1A1A1A"/>
                </a:solidFill>
                <a:latin typeface="Trebuchet MS"/>
              </a:rPr>
              <a:t> mask</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Averaging logits rather than probabilities keeps confidence information that softmax would compress</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Order matters:</a:t>
            </a:r>
            <a:r>
              <a:rPr sz="1700" b="0">
                <a:solidFill>
                  <a:srgbClr val="1A1A1A"/>
                </a:solidFill>
                <a:latin typeface="Trebuchet MS"/>
              </a:rPr>
              <a:t> average first, </a:t>
            </a:r>
            <a:r>
              <a:rPr i="1" b="0" sz="1700">
                <a:solidFill>
                  <a:srgbClr val="1A1A1A"/>
                </a:solidFill>
                <a:latin typeface="Trebuchet MS"/>
              </a:rPr>
              <a:t>then</a:t>
            </a:r>
            <a:r>
              <a:rPr sz="1700" b="0">
                <a:solidFill>
                  <a:srgbClr val="1A1A1A"/>
                </a:solidFill>
                <a:latin typeface="Trebuchet MS"/>
              </a:rPr>
              <a:t> constrain, so the penalty applies once to a consensus rather than five times to individuals</a:t>
            </a:r>
          </a:p>
        </p:txBody>
      </p:sp>
      <p:sp>
        <p:nvSpPr>
          <p:cNvPr id="6" name="Rounded Rectangle 5"/>
          <p:cNvSpPr/>
          <p:nvPr/>
        </p:nvSpPr>
        <p:spPr>
          <a:xfrm>
            <a:off x="777240" y="3624072"/>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ONE OF THE HIGHEST-VALUE HABITS IN EXPERIMENTAL ML</a:t>
            </a:r>
          </a:p>
          <a:p>
            <a:pPr>
              <a:lnSpc>
                <a:spcPct val="124000"/>
              </a:lnSpc>
            </a:pPr>
            <a:r>
              <a:rPr sz="1500" b="0">
                <a:solidFill>
                  <a:srgbClr val="1A1A1A"/>
                </a:solidFill>
                <a:latin typeface="Trebuchet MS"/>
              </a:rPr>
              <a:t>We export the averaged logits to a file. Re-deciding the penalty later becomes a two-second CPU operation instead of a 68-minute GPU rerun. Save the expensive intermediate, always.</a:t>
            </a:r>
          </a:p>
        </p:txBody>
      </p:sp>
      <p:sp>
        <p:nvSpPr>
          <p:cNvPr id="7" name="Rectangle 6"/>
          <p:cNvSpPr/>
          <p:nvPr/>
        </p:nvSpPr>
        <p:spPr>
          <a:xfrm>
            <a:off x="777240" y="3624072"/>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III · Subtask 2
Relation extraction</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F5673"/>
        </a:solidFill>
        <a:effectLst/>
      </p:bgPr>
    </p:bg>
    <p:spTree>
      <p:nvGrpSpPr>
        <p:cNvPr id="1" name=""/>
        <p:cNvGrpSpPr/>
        <p:nvPr/>
      </p:nvGrpSpPr>
      <p:grpSpPr/>
      <p:sp>
        <p:nvSpPr>
          <p:cNvPr id="2" name="TextBox 1"/>
          <p:cNvSpPr txBox="1"/>
          <p:nvPr/>
        </p:nvSpPr>
        <p:spPr>
          <a:xfrm>
            <a:off x="1005840" y="1371600"/>
            <a:ext cx="5120640" cy="1097280"/>
          </a:xfrm>
          <a:prstGeom prst="rect">
            <a:avLst/>
          </a:prstGeom>
          <a:noFill/>
        </p:spPr>
        <p:txBody>
          <a:bodyPr wrap="square" lIns="0" rIns="0" tIns="0" bIns="0">
            <a:spAutoFit/>
          </a:bodyPr>
          <a:lstStyle/>
          <a:p>
            <a:r>
              <a:rPr sz="1500" b="1">
                <a:solidFill>
                  <a:srgbClr val="E8A57C"/>
                </a:solidFill>
                <a:latin typeface="Trebuchet MS"/>
              </a:rPr>
              <a:t>PART IV</a:t>
            </a:r>
          </a:p>
        </p:txBody>
      </p:sp>
      <p:sp>
        <p:nvSpPr>
          <p:cNvPr id="3" name="TextBox 2"/>
          <p:cNvSpPr txBox="1"/>
          <p:nvPr/>
        </p:nvSpPr>
        <p:spPr>
          <a:xfrm>
            <a:off x="1005840" y="1828800"/>
            <a:ext cx="5120640" cy="2011680"/>
          </a:xfrm>
          <a:prstGeom prst="rect">
            <a:avLst/>
          </a:prstGeom>
          <a:noFill/>
        </p:spPr>
        <p:txBody>
          <a:bodyPr wrap="square" lIns="0" rIns="0" tIns="0" bIns="0">
            <a:spAutoFit/>
          </a:bodyPr>
          <a:lstStyle/>
          <a:p>
            <a:pPr>
              <a:lnSpc>
                <a:spcPct val="110000"/>
              </a:lnSpc>
            </a:pPr>
            <a:r>
              <a:rPr sz="3400" b="1">
                <a:solidFill>
                  <a:srgbClr val="FFFFFF"/>
                </a:solidFill>
                <a:latin typeface="Trebuchet MS"/>
              </a:rPr>
              <a:t>Evaluation</a:t>
            </a:r>
            <a:br/>
            <a:r>
              <a:rPr sz="3400" b="1">
                <a:solidFill>
                  <a:srgbClr val="FFFFFF"/>
                </a:solidFill>
                <a:latin typeface="Trebuchet MS"/>
              </a:rPr>
              <a:t>and domain shift</a:t>
            </a:r>
          </a:p>
        </p:txBody>
      </p:sp>
      <p:sp>
        <p:nvSpPr>
          <p:cNvPr id="4" name="TextBox 3"/>
          <p:cNvSpPr txBox="1"/>
          <p:nvPr/>
        </p:nvSpPr>
        <p:spPr>
          <a:xfrm>
            <a:off x="1005840" y="3886200"/>
            <a:ext cx="4937760" cy="1463040"/>
          </a:xfrm>
          <a:prstGeom prst="rect">
            <a:avLst/>
          </a:prstGeom>
          <a:noFill/>
        </p:spPr>
        <p:txBody>
          <a:bodyPr wrap="square" lIns="0" rIns="0" tIns="0" bIns="0">
            <a:spAutoFit/>
          </a:bodyPr>
          <a:lstStyle/>
          <a:p>
            <a:pPr>
              <a:lnSpc>
                <a:spcPct val="125000"/>
              </a:lnSpc>
            </a:pPr>
            <a:r>
              <a:rPr sz="1500">
                <a:solidFill>
                  <a:srgbClr val="CBDDE6"/>
                </a:solidFill>
                <a:latin typeface="Trebuchet MS"/>
              </a:rPr>
              <a:t>Sections 11 and 12. What the numbers actually measure, and the 18-point drop that the subtask exists to provoke.</a:t>
            </a:r>
          </a:p>
        </p:txBody>
      </p:sp>
      <p:sp>
        <p:nvSpPr>
          <p:cNvPr id="5" name="Rectangle 4"/>
          <p:cNvSpPr/>
          <p:nvPr/>
        </p:nvSpPr>
        <p:spPr>
          <a:xfrm>
            <a:off x="6858000" y="1600200"/>
            <a:ext cx="9144" cy="1270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0" y="1463040"/>
            <a:ext cx="4297680" cy="3931920"/>
          </a:xfrm>
          <a:prstGeom prst="roundRect">
            <a:avLst>
              <a:gd name="adj" fmla="val 3000"/>
            </a:avLst>
          </a:prstGeom>
          <a:solidFill>
            <a:srgbClr val="1A49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4048" rIns="329184" tIns="347472"/>
          <a:lstStyle/>
          <a:p>
            <a:pPr algn="l" marL="256032" indent="-256032">
              <a:lnSpc>
                <a:spcPct val="115000"/>
              </a:lnSpc>
              <a:spcAft>
                <a:spcPts val="1100"/>
              </a:spcAft>
            </a:pPr>
            <a:r>
              <a:rPr sz="1400">
                <a:solidFill>
                  <a:srgbClr val="D9E7EE"/>
                </a:solidFill>
                <a:latin typeface="Trebuchet MS"/>
              </a:rPr>
              <a:t>·   Precision, recall, F1, and exact match</a:t>
            </a:r>
          </a:p>
          <a:p>
            <a:pPr algn="l" marL="256032" indent="-256032">
              <a:lnSpc>
                <a:spcPct val="115000"/>
              </a:lnSpc>
              <a:spcAft>
                <a:spcPts val="1100"/>
              </a:spcAft>
            </a:pPr>
            <a:r>
              <a:rPr sz="1400">
                <a:solidFill>
                  <a:srgbClr val="D9E7EE"/>
                </a:solidFill>
                <a:latin typeface="Trebuchet MS"/>
              </a:rPr>
              <a:t>·   Micro versus macro, and why you report both</a:t>
            </a:r>
          </a:p>
          <a:p>
            <a:pPr algn="l" marL="256032" indent="-256032">
              <a:lnSpc>
                <a:spcPct val="115000"/>
              </a:lnSpc>
              <a:spcAft>
                <a:spcPts val="1100"/>
              </a:spcAft>
            </a:pPr>
            <a:r>
              <a:rPr sz="1400">
                <a:solidFill>
                  <a:srgbClr val="D9E7EE"/>
                </a:solidFill>
                <a:latin typeface="Trebuchet MS"/>
              </a:rPr>
              <a:t>·   Why micro-F1 = P = R for our RE task</a:t>
            </a:r>
          </a:p>
          <a:p>
            <a:pPr algn="l" marL="256032" indent="-256032">
              <a:lnSpc>
                <a:spcPct val="115000"/>
              </a:lnSpc>
              <a:spcAft>
                <a:spcPts val="1100"/>
              </a:spcAft>
            </a:pPr>
            <a:r>
              <a:rPr sz="1400">
                <a:solidFill>
                  <a:srgbClr val="D9E7EE"/>
                </a:solidFill>
                <a:latin typeface="Trebuchet MS"/>
              </a:rPr>
              <a:t>·   Domain shift: measuring the tax</a:t>
            </a:r>
          </a:p>
          <a:p>
            <a:pPr algn="l" marL="256032" indent="-256032">
              <a:lnSpc>
                <a:spcPct val="115000"/>
              </a:lnSpc>
              <a:spcAft>
                <a:spcPts val="1100"/>
              </a:spcAft>
            </a:pPr>
            <a:r>
              <a:rPr sz="1400">
                <a:solidFill>
                  <a:srgbClr val="D9E7EE"/>
                </a:solidFill>
                <a:latin typeface="Trebuchet MS"/>
              </a:rPr>
              <a:t>·   The shape of the failure, and what would fix it</a:t>
            </a:r>
          </a:p>
        </p:txBody>
      </p:sp>
      <p:sp>
        <p:nvSpPr>
          <p:cNvPr id="7" name="TextBox 6"/>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IV · Evaluation
and domain shift</a:t>
            </a:r>
          </a:p>
        </p:txBody>
      </p:sp>
      <p:sp>
        <p:nvSpPr>
          <p:cNvPr id="8" name="TextBox 7"/>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11 · THE BASICS, STATED PRECISELY</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Precision, recall, F1</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3338474" cy="132588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True positive</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Predicted, and correct</a:t>
            </a:r>
          </a:p>
        </p:txBody>
      </p:sp>
      <p:sp>
        <p:nvSpPr>
          <p:cNvPr id="6" name="Rounded Rectangle 5"/>
          <p:cNvSpPr/>
          <p:nvPr/>
        </p:nvSpPr>
        <p:spPr>
          <a:xfrm>
            <a:off x="4426610" y="1572768"/>
            <a:ext cx="3338474" cy="132588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False positive</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Predicted, but wrong</a:t>
            </a:r>
          </a:p>
        </p:txBody>
      </p:sp>
      <p:sp>
        <p:nvSpPr>
          <p:cNvPr id="7" name="Rounded Rectangle 6"/>
          <p:cNvSpPr/>
          <p:nvPr/>
        </p:nvSpPr>
        <p:spPr>
          <a:xfrm>
            <a:off x="8075980" y="1572768"/>
            <a:ext cx="3338474" cy="132588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False negative</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Should have been predicted, but was missed</a:t>
            </a:r>
          </a:p>
        </p:txBody>
      </p:sp>
      <p:sp>
        <p:nvSpPr>
          <p:cNvPr id="8" name="Rounded Rectangle 7"/>
          <p:cNvSpPr/>
          <p:nvPr/>
        </p:nvSpPr>
        <p:spPr>
          <a:xfrm>
            <a:off x="777240" y="3099816"/>
            <a:ext cx="10637215" cy="752348"/>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146304"/>
          <a:lstStyle/>
          <a:p>
            <a:pPr algn="ctr">
              <a:lnSpc>
                <a:spcPct val="145000"/>
              </a:lnSpc>
              <a:spcAft>
                <a:spcPts val="0"/>
              </a:spcAft>
            </a:pPr>
            <a:r>
              <a:rPr sz="2000">
                <a:solidFill>
                  <a:srgbClr val="1F5673"/>
                </a:solidFill>
                <a:latin typeface="Cambria"/>
              </a:rPr>
              <a:t>P = TP / (TP + FP)        R = TP / (TP + FN)        F₁ = 2PR / (P + R)</a:t>
            </a:r>
          </a:p>
        </p:txBody>
      </p:sp>
      <p:sp>
        <p:nvSpPr>
          <p:cNvPr id="9" name="TextBox 8"/>
          <p:cNvSpPr txBox="1"/>
          <p:nvPr/>
        </p:nvSpPr>
        <p:spPr>
          <a:xfrm>
            <a:off x="777240" y="4035044"/>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Precision</a:t>
            </a:r>
            <a:r>
              <a:rPr sz="1700" b="0">
                <a:solidFill>
                  <a:srgbClr val="1A1A1A"/>
                </a:solidFill>
                <a:latin typeface="Trebuchet MS"/>
              </a:rPr>
              <a:t> answers “when I make a claim, how often am I right?”</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Recall</a:t>
            </a:r>
            <a:r>
              <a:rPr sz="1700" b="0">
                <a:solidFill>
                  <a:srgbClr val="1A1A1A"/>
                </a:solidFill>
                <a:latin typeface="Trebuchet MS"/>
              </a:rPr>
              <a:t> answers “of everything I should have found, how much did I find?”</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F1</a:t>
            </a:r>
            <a:r>
              <a:rPr sz="1700" b="0">
                <a:solidFill>
                  <a:srgbClr val="1A1A1A"/>
                </a:solidFill>
                <a:latin typeface="Trebuchet MS"/>
              </a:rPr>
              <a:t> is their harmonic mean, which (unlike an arithmetic mean) stays low if either is low. You cannot game F1 by maximizing one and ignoring the other</a:t>
            </a:r>
          </a:p>
        </p:txBody>
      </p:sp>
      <p:sp>
        <p:nvSpPr>
          <p:cNvPr id="10" name="TextBox 9"/>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IV · Evaluation
and domain shift</a:t>
            </a:r>
          </a:p>
        </p:txBody>
      </p:sp>
      <p:sp>
        <p:nvSpPr>
          <p:cNvPr id="11" name="TextBox 10"/>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11 · EXACT MATCH</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What counts as correct for NER</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A predicted span is a true positive only if </a:t>
            </a:r>
            <a:r>
              <a:rPr b="1" sz="1600">
                <a:solidFill>
                  <a:srgbClr val="6B6B6B"/>
                </a:solidFill>
                <a:latin typeface="Trebuchet MS"/>
              </a:rPr>
              <a:t>both its boundaries and its type are exactly right</a:t>
            </a:r>
            <a:r>
              <a:rPr sz="1600" b="0">
                <a:solidFill>
                  <a:srgbClr val="6B6B6B"/>
                </a:solidFill>
                <a:latin typeface="Trebuchet MS"/>
              </a:rPr>
              <a:t>.</a:t>
            </a:r>
          </a:p>
        </p:txBody>
      </p:sp>
      <p:graphicFrame>
        <p:nvGraphicFramePr>
          <p:cNvPr id="6" name="Table 5"/>
          <p:cNvGraphicFramePr>
            <a:graphicFrameLocks noGrp="1"/>
          </p:cNvGraphicFramePr>
          <p:nvPr/>
        </p:nvGraphicFramePr>
        <p:xfrm>
          <a:off x="777240" y="2009648"/>
          <a:ext cx="10637213" cy="1901952"/>
        </p:xfrm>
        <a:graphic>
          <a:graphicData uri="http://schemas.openxmlformats.org/drawingml/2006/table">
            <a:tbl>
              <a:tblPr firstRow="0" bandRow="0">
                <a:tableStyleId>{5C22544A-7EE6-4342-B048-85BDC9FD1C3A}</a:tableStyleId>
              </a:tblPr>
              <a:tblGrid>
                <a:gridCol w="2312438"/>
                <a:gridCol w="1202467"/>
                <a:gridCol w="2312438"/>
                <a:gridCol w="1202467"/>
                <a:gridCol w="3607403"/>
              </a:tblGrid>
              <a:tr h="475488">
                <a:tc>
                  <a:txBody>
                    <a:bodyPr wrap="square"/>
                    <a:lstStyle/>
                    <a:p>
                      <a:pPr algn="ctr">
                        <a:lnSpc>
                          <a:spcPct val="110000"/>
                        </a:lnSpc>
                      </a:pPr>
                      <a:r>
                        <a:rPr sz="1400" b="1">
                          <a:solidFill>
                            <a:srgbClr val="FFFFFF"/>
                          </a:solidFill>
                          <a:latin typeface="Trebuchet MS"/>
                        </a:rPr>
                        <a:t>Gold span</a:t>
                      </a:r>
                    </a:p>
                  </a:txBody>
                  <a:tcPr marL="118872" marR="91440" marT="27432" marB="27432" anchor="ctr">
                    <a:solidFill>
                      <a:srgbClr val="1F5673"/>
                    </a:solidFill>
                  </a:tcPr>
                </a:tc>
                <a:tc>
                  <a:txBody>
                    <a:bodyPr wrap="square"/>
                    <a:lstStyle/>
                    <a:p>
                      <a:pPr algn="ctr">
                        <a:lnSpc>
                          <a:spcPct val="110000"/>
                        </a:lnSpc>
                      </a:pPr>
                      <a:r>
                        <a:rPr sz="1400" b="1">
                          <a:solidFill>
                            <a:srgbClr val="FFFFFF"/>
                          </a:solidFill>
                          <a:latin typeface="Trebuchet MS"/>
                        </a:rPr>
                        <a:t>type</a:t>
                      </a:r>
                    </a:p>
                  </a:txBody>
                  <a:tcPr marL="118872" marR="91440" marT="27432" marB="27432" anchor="ctr">
                    <a:solidFill>
                      <a:srgbClr val="1F5673"/>
                    </a:solidFill>
                  </a:tcPr>
                </a:tc>
                <a:tc>
                  <a:txBody>
                    <a:bodyPr wrap="square"/>
                    <a:lstStyle/>
                    <a:p>
                      <a:pPr algn="ctr">
                        <a:lnSpc>
                          <a:spcPct val="110000"/>
                        </a:lnSpc>
                      </a:pPr>
                      <a:r>
                        <a:rPr sz="1400" b="1">
                          <a:solidFill>
                            <a:srgbClr val="FFFFFF"/>
                          </a:solidFill>
                          <a:latin typeface="Trebuchet MS"/>
                        </a:rPr>
                        <a:t>Predicted span</a:t>
                      </a:r>
                    </a:p>
                  </a:txBody>
                  <a:tcPr marL="118872" marR="91440" marT="27432" marB="27432" anchor="ctr">
                    <a:solidFill>
                      <a:srgbClr val="1F5673"/>
                    </a:solidFill>
                  </a:tcPr>
                </a:tc>
                <a:tc>
                  <a:txBody>
                    <a:bodyPr wrap="square"/>
                    <a:lstStyle/>
                    <a:p>
                      <a:pPr algn="ctr">
                        <a:lnSpc>
                          <a:spcPct val="110000"/>
                        </a:lnSpc>
                      </a:pPr>
                      <a:r>
                        <a:rPr sz="1400" b="1">
                          <a:solidFill>
                            <a:srgbClr val="FFFFFF"/>
                          </a:solidFill>
                          <a:latin typeface="Trebuchet MS"/>
                        </a:rPr>
                        <a:t>type</a:t>
                      </a:r>
                    </a:p>
                  </a:txBody>
                  <a:tcPr marL="118872" marR="91440" marT="27432" marB="27432" anchor="ctr">
                    <a:solidFill>
                      <a:srgbClr val="1F5673"/>
                    </a:solidFill>
                  </a:tcPr>
                </a:tc>
                <a:tc>
                  <a:txBody>
                    <a:bodyPr wrap="square"/>
                    <a:lstStyle/>
                    <a:p>
                      <a:pPr>
                        <a:lnSpc>
                          <a:spcPct val="110000"/>
                        </a:lnSpc>
                      </a:pPr>
                      <a:r>
                        <a:rPr sz="1400" b="1">
                          <a:solidFill>
                            <a:srgbClr val="FFFFFF"/>
                          </a:solidFill>
                          <a:latin typeface="Trebuchet MS"/>
                        </a:rPr>
                        <a:t>Verdict</a:t>
                      </a:r>
                    </a:p>
                  </a:txBody>
                  <a:tcPr marL="118872" marR="91440" marT="27432" marB="27432" anchor="ctr">
                    <a:solidFill>
                      <a:srgbClr val="1F5673"/>
                    </a:solidFill>
                  </a:tcPr>
                </a:tc>
              </a:tr>
              <a:tr h="475488">
                <a:tc>
                  <a:txBody>
                    <a:bodyPr wrap="square"/>
                    <a:lstStyle/>
                    <a:p>
                      <a:pPr algn="ctr" rtl="1">
                        <a:lnSpc>
                          <a:spcPct val="110000"/>
                        </a:lnSpc>
                      </a:pPr>
                      <a:r>
                        <a:rPr sz="1600">
                          <a:solidFill>
                            <a:srgbClr val="1A1A1A"/>
                          </a:solidFill>
                          <a:latin typeface="Arial"/>
                        </a:rPr>
                        <a:t>جامعة بيرزيت</a:t>
                      </a:r>
                    </a:p>
                  </a:txBody>
                  <a:tcPr marL="118872" marR="91440" marT="27432" marB="27432" anchor="ctr">
                    <a:solidFill>
                      <a:srgbClr val="FDFCF9"/>
                    </a:solidFill>
                  </a:tcPr>
                </a:tc>
                <a:tc>
                  <a:txBody>
                    <a:bodyPr wrap="square"/>
                    <a:lstStyle/>
                    <a:p>
                      <a:pPr algn="ctr">
                        <a:lnSpc>
                          <a:spcPct val="110000"/>
                        </a:lnSpc>
                      </a:pPr>
                      <a:r>
                        <a:rPr sz="1400" b="0">
                          <a:solidFill>
                            <a:srgbClr val="1A1A1A"/>
                          </a:solidFill>
                          <a:latin typeface="Trebuchet MS"/>
                        </a:rPr>
                        <a:t>ORG</a:t>
                      </a:r>
                    </a:p>
                  </a:txBody>
                  <a:tcPr marL="118872" marR="91440" marT="27432" marB="27432" anchor="ctr">
                    <a:solidFill>
                      <a:srgbClr val="FDFCF9"/>
                    </a:solidFill>
                  </a:tcPr>
                </a:tc>
                <a:tc>
                  <a:txBody>
                    <a:bodyPr wrap="square"/>
                    <a:lstStyle/>
                    <a:p>
                      <a:pPr algn="ctr" rtl="1">
                        <a:lnSpc>
                          <a:spcPct val="110000"/>
                        </a:lnSpc>
                      </a:pPr>
                      <a:r>
                        <a:rPr sz="1600">
                          <a:solidFill>
                            <a:srgbClr val="1A1A1A"/>
                          </a:solidFill>
                          <a:latin typeface="Arial"/>
                        </a:rPr>
                        <a:t>جامعة بيرزيت</a:t>
                      </a:r>
                    </a:p>
                  </a:txBody>
                  <a:tcPr marL="118872" marR="91440" marT="27432" marB="27432" anchor="ctr">
                    <a:solidFill>
                      <a:srgbClr val="FDFCF9"/>
                    </a:solidFill>
                  </a:tcPr>
                </a:tc>
                <a:tc>
                  <a:txBody>
                    <a:bodyPr wrap="square"/>
                    <a:lstStyle/>
                    <a:p>
                      <a:pPr algn="ctr">
                        <a:lnSpc>
                          <a:spcPct val="110000"/>
                        </a:lnSpc>
                      </a:pPr>
                      <a:r>
                        <a:rPr sz="1400" b="0">
                          <a:solidFill>
                            <a:srgbClr val="1A1A1A"/>
                          </a:solidFill>
                          <a:latin typeface="Trebuchet MS"/>
                        </a:rPr>
                        <a:t>ORG</a:t>
                      </a:r>
                    </a:p>
                  </a:txBody>
                  <a:tcPr marL="118872" marR="91440" marT="27432" marB="27432" anchor="ctr">
                    <a:solidFill>
                      <a:srgbClr val="FDFCF9"/>
                    </a:solidFill>
                  </a:tcPr>
                </a:tc>
                <a:tc>
                  <a:txBody>
                    <a:bodyPr wrap="square"/>
                    <a:lstStyle/>
                    <a:p>
                      <a:pPr>
                        <a:lnSpc>
                          <a:spcPct val="110000"/>
                        </a:lnSpc>
                      </a:pPr>
                      <a:r>
                        <a:rPr b="1" sz="1400">
                          <a:solidFill>
                            <a:srgbClr val="1A1A1A"/>
                          </a:solidFill>
                          <a:latin typeface="Trebuchet MS"/>
                        </a:rPr>
                        <a:t>True positive</a:t>
                      </a:r>
                    </a:p>
                  </a:txBody>
                  <a:tcPr marL="118872" marR="91440" marT="27432" marB="27432" anchor="ctr">
                    <a:solidFill>
                      <a:srgbClr val="FDFCF9"/>
                    </a:solidFill>
                  </a:tcPr>
                </a:tc>
              </a:tr>
              <a:tr h="475488">
                <a:tc>
                  <a:txBody>
                    <a:bodyPr wrap="square"/>
                    <a:lstStyle/>
                    <a:p>
                      <a:pPr algn="ctr" rtl="1">
                        <a:lnSpc>
                          <a:spcPct val="110000"/>
                        </a:lnSpc>
                      </a:pPr>
                      <a:r>
                        <a:rPr sz="1600">
                          <a:solidFill>
                            <a:srgbClr val="1A1A1A"/>
                          </a:solidFill>
                          <a:latin typeface="Arial"/>
                        </a:rPr>
                        <a:t>جامعة بيرزيت</a:t>
                      </a:r>
                    </a:p>
                  </a:txBody>
                  <a:tcPr marL="118872" marR="91440" marT="27432" marB="27432" anchor="ctr">
                    <a:solidFill>
                      <a:srgbClr val="F4F1EA"/>
                    </a:solidFill>
                  </a:tcPr>
                </a:tc>
                <a:tc>
                  <a:txBody>
                    <a:bodyPr wrap="square"/>
                    <a:lstStyle/>
                    <a:p>
                      <a:pPr algn="ctr">
                        <a:lnSpc>
                          <a:spcPct val="110000"/>
                        </a:lnSpc>
                      </a:pPr>
                      <a:r>
                        <a:rPr sz="1400" b="0">
                          <a:solidFill>
                            <a:srgbClr val="1A1A1A"/>
                          </a:solidFill>
                          <a:latin typeface="Trebuchet MS"/>
                        </a:rPr>
                        <a:t>ORG</a:t>
                      </a:r>
                    </a:p>
                  </a:txBody>
                  <a:tcPr marL="118872" marR="91440" marT="27432" marB="27432" anchor="ctr">
                    <a:solidFill>
                      <a:srgbClr val="F4F1EA"/>
                    </a:solidFill>
                  </a:tcPr>
                </a:tc>
                <a:tc>
                  <a:txBody>
                    <a:bodyPr wrap="square"/>
                    <a:lstStyle/>
                    <a:p>
                      <a:pPr algn="ctr" rtl="1">
                        <a:lnSpc>
                          <a:spcPct val="110000"/>
                        </a:lnSpc>
                      </a:pPr>
                      <a:r>
                        <a:rPr sz="1600">
                          <a:solidFill>
                            <a:srgbClr val="1A1A1A"/>
                          </a:solidFill>
                          <a:latin typeface="Arial"/>
                        </a:rPr>
                        <a:t>جامعة بيرزيت</a:t>
                      </a:r>
                    </a:p>
                  </a:txBody>
                  <a:tcPr marL="118872" marR="91440" marT="27432" marB="27432" anchor="ctr">
                    <a:solidFill>
                      <a:srgbClr val="F4F1EA"/>
                    </a:solidFill>
                  </a:tcPr>
                </a:tc>
                <a:tc>
                  <a:txBody>
                    <a:bodyPr wrap="square"/>
                    <a:lstStyle/>
                    <a:p>
                      <a:pPr algn="ctr">
                        <a:lnSpc>
                          <a:spcPct val="110000"/>
                        </a:lnSpc>
                      </a:pPr>
                      <a:r>
                        <a:rPr sz="1400" b="0">
                          <a:solidFill>
                            <a:srgbClr val="1A1A1A"/>
                          </a:solidFill>
                          <a:latin typeface="Trebuchet MS"/>
                        </a:rPr>
                        <a:t>GPE</a:t>
                      </a:r>
                    </a:p>
                  </a:txBody>
                  <a:tcPr marL="118872" marR="91440" marT="27432" marB="27432" anchor="ctr">
                    <a:solidFill>
                      <a:srgbClr val="F4F1EA"/>
                    </a:solidFill>
                  </a:tcPr>
                </a:tc>
                <a:tc>
                  <a:txBody>
                    <a:bodyPr wrap="square"/>
                    <a:lstStyle/>
                    <a:p>
                      <a:pPr>
                        <a:lnSpc>
                          <a:spcPct val="110000"/>
                        </a:lnSpc>
                      </a:pPr>
                      <a:r>
                        <a:rPr sz="1400" b="0">
                          <a:solidFill>
                            <a:srgbClr val="1A1A1A"/>
                          </a:solidFill>
                          <a:latin typeface="Trebuchet MS"/>
                        </a:rPr>
                        <a:t>Wrong: the type is off</a:t>
                      </a:r>
                    </a:p>
                  </a:txBody>
                  <a:tcPr marL="118872" marR="91440" marT="27432" marB="27432" anchor="ctr">
                    <a:solidFill>
                      <a:srgbClr val="F4F1EA"/>
                    </a:solidFill>
                  </a:tcPr>
                </a:tc>
              </a:tr>
              <a:tr h="475488">
                <a:tc>
                  <a:txBody>
                    <a:bodyPr wrap="square"/>
                    <a:lstStyle/>
                    <a:p>
                      <a:pPr algn="ctr" rtl="1">
                        <a:lnSpc>
                          <a:spcPct val="110000"/>
                        </a:lnSpc>
                      </a:pPr>
                      <a:r>
                        <a:rPr sz="1600">
                          <a:solidFill>
                            <a:srgbClr val="1A1A1A"/>
                          </a:solidFill>
                          <a:latin typeface="Arial"/>
                        </a:rPr>
                        <a:t>جامعة بيرزيت</a:t>
                      </a:r>
                    </a:p>
                  </a:txBody>
                  <a:tcPr marL="118872" marR="91440" marT="27432" marB="27432" anchor="ctr">
                    <a:solidFill>
                      <a:srgbClr val="FDFCF9"/>
                    </a:solidFill>
                  </a:tcPr>
                </a:tc>
                <a:tc>
                  <a:txBody>
                    <a:bodyPr wrap="square"/>
                    <a:lstStyle/>
                    <a:p>
                      <a:pPr algn="ctr">
                        <a:lnSpc>
                          <a:spcPct val="110000"/>
                        </a:lnSpc>
                      </a:pPr>
                      <a:r>
                        <a:rPr sz="1400" b="0">
                          <a:solidFill>
                            <a:srgbClr val="1A1A1A"/>
                          </a:solidFill>
                          <a:latin typeface="Trebuchet MS"/>
                        </a:rPr>
                        <a:t>ORG</a:t>
                      </a:r>
                    </a:p>
                  </a:txBody>
                  <a:tcPr marL="118872" marR="91440" marT="27432" marB="27432" anchor="ctr">
                    <a:solidFill>
                      <a:srgbClr val="FDFCF9"/>
                    </a:solidFill>
                  </a:tcPr>
                </a:tc>
                <a:tc>
                  <a:txBody>
                    <a:bodyPr wrap="square"/>
                    <a:lstStyle/>
                    <a:p>
                      <a:pPr algn="ctr" rtl="1">
                        <a:lnSpc>
                          <a:spcPct val="110000"/>
                        </a:lnSpc>
                      </a:pPr>
                      <a:r>
                        <a:rPr sz="1600">
                          <a:solidFill>
                            <a:srgbClr val="1A1A1A"/>
                          </a:solidFill>
                          <a:latin typeface="Arial"/>
                        </a:rPr>
                        <a:t>بيرزيت</a:t>
                      </a:r>
                    </a:p>
                  </a:txBody>
                  <a:tcPr marL="118872" marR="91440" marT="27432" marB="27432" anchor="ctr">
                    <a:solidFill>
                      <a:srgbClr val="FDFCF9"/>
                    </a:solidFill>
                  </a:tcPr>
                </a:tc>
                <a:tc>
                  <a:txBody>
                    <a:bodyPr wrap="square"/>
                    <a:lstStyle/>
                    <a:p>
                      <a:pPr algn="ctr">
                        <a:lnSpc>
                          <a:spcPct val="110000"/>
                        </a:lnSpc>
                      </a:pPr>
                      <a:r>
                        <a:rPr sz="1400" b="0">
                          <a:solidFill>
                            <a:srgbClr val="1A1A1A"/>
                          </a:solidFill>
                          <a:latin typeface="Trebuchet MS"/>
                        </a:rPr>
                        <a:t>ORG</a:t>
                      </a:r>
                    </a:p>
                  </a:txBody>
                  <a:tcPr marL="118872" marR="91440" marT="27432" marB="27432" anchor="ctr">
                    <a:solidFill>
                      <a:srgbClr val="FDFCF9"/>
                    </a:solidFill>
                  </a:tcPr>
                </a:tc>
                <a:tc>
                  <a:txBody>
                    <a:bodyPr wrap="square"/>
                    <a:lstStyle/>
                    <a:p>
                      <a:pPr>
                        <a:lnSpc>
                          <a:spcPct val="110000"/>
                        </a:lnSpc>
                      </a:pPr>
                      <a:r>
                        <a:rPr sz="1400" b="0">
                          <a:solidFill>
                            <a:srgbClr val="1A1A1A"/>
                          </a:solidFill>
                          <a:latin typeface="Trebuchet MS"/>
                        </a:rPr>
                        <a:t>Wrong: the boundary is off. Counts </a:t>
                      </a:r>
                      <a:r>
                        <a:rPr b="1" sz="1400">
                          <a:solidFill>
                            <a:srgbClr val="1A1A1A"/>
                          </a:solidFill>
                          <a:latin typeface="Trebuchet MS"/>
                        </a:rPr>
                        <a:t>twice</a:t>
                      </a:r>
                      <a:r>
                        <a:rPr sz="1400" b="0">
                          <a:solidFill>
                            <a:srgbClr val="1A1A1A"/>
                          </a:solidFill>
                          <a:latin typeface="Trebuchet MS"/>
                        </a:rPr>
                        <a:t>, one FP and one FN</a:t>
                      </a:r>
                    </a:p>
                  </a:txBody>
                  <a:tcPr marL="118872" marR="91440" marT="27432" marB="27432" anchor="ctr">
                    <a:solidFill>
                      <a:srgbClr val="FDFCF9"/>
                    </a:solidFill>
                  </a:tcPr>
                </a:tc>
              </a:tr>
            </a:tbl>
          </a:graphicData>
        </a:graphic>
      </p:graphicFrame>
      <p:sp>
        <p:nvSpPr>
          <p:cNvPr id="7" name="TextBox 6"/>
          <p:cNvSpPr txBox="1"/>
          <p:nvPr/>
        </p:nvSpPr>
        <p:spPr>
          <a:xfrm>
            <a:off x="777240" y="411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This is strict. Partial-credit schemes exist, but exact match is the shared task standard and it avoids arguments about how much partial credit a half-right span deserves.</a:t>
            </a:r>
          </a:p>
        </p:txBody>
      </p:sp>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IV · Evaluation
and domain shift</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11 · SUMMARIZING 21 (OR 40) PER-CLASS SCORES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Micro versus macro</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5163159" cy="246888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Micro</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Pool all TP/FP/FN across classes, </a:t>
            </a:r>
            <a:r>
              <a:rPr b="1" sz="1500">
                <a:solidFill>
                  <a:srgbClr val="1A1A1A"/>
                </a:solidFill>
                <a:latin typeface="Trebuchet MS"/>
              </a:rPr>
              <a:t>then</a:t>
            </a:r>
            <a:r>
              <a:rPr sz="1500" b="0">
                <a:solidFill>
                  <a:srgbClr val="1A1A1A"/>
                </a:solidFill>
                <a:latin typeface="Trebuchet MS"/>
              </a:rPr>
              <a:t> compute one F1</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Every </a:t>
            </a:r>
            <a:r>
              <a:rPr b="1" sz="1500">
                <a:solidFill>
                  <a:srgbClr val="1A1A1A"/>
                </a:solidFill>
                <a:latin typeface="Trebuchet MS"/>
              </a:rPr>
              <a:t>instance</a:t>
            </a:r>
            <a:r>
              <a:rPr sz="1500" b="0">
                <a:solidFill>
                  <a:srgbClr val="1A1A1A"/>
                </a:solidFill>
                <a:latin typeface="Trebuchet MS"/>
              </a:rPr>
              <a:t> counts equally, so frequent classes dominate</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Asks: “how well does the system do on typical input?”</a:t>
            </a:r>
          </a:p>
        </p:txBody>
      </p:sp>
      <p:sp>
        <p:nvSpPr>
          <p:cNvPr id="6" name="Rounded Rectangle 5"/>
          <p:cNvSpPr/>
          <p:nvPr/>
        </p:nvSpPr>
        <p:spPr>
          <a:xfrm>
            <a:off x="6251295" y="1572768"/>
            <a:ext cx="5163159" cy="246888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Macro</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Compute F1 per class, </a:t>
            </a:r>
            <a:r>
              <a:rPr b="1" sz="1500">
                <a:solidFill>
                  <a:srgbClr val="1A1A1A"/>
                </a:solidFill>
                <a:latin typeface="Trebuchet MS"/>
              </a:rPr>
              <a:t>then</a:t>
            </a:r>
            <a:r>
              <a:rPr sz="1500" b="0">
                <a:solidFill>
                  <a:srgbClr val="1A1A1A"/>
                </a:solidFill>
                <a:latin typeface="Trebuchet MS"/>
              </a:rPr>
              <a:t> average the F1s</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Every </a:t>
            </a:r>
            <a:r>
              <a:rPr b="1" sz="1500">
                <a:solidFill>
                  <a:srgbClr val="1A1A1A"/>
                </a:solidFill>
                <a:latin typeface="Trebuchet MS"/>
              </a:rPr>
              <a:t>class</a:t>
            </a:r>
            <a:r>
              <a:rPr sz="1500" b="0">
                <a:solidFill>
                  <a:srgbClr val="1A1A1A"/>
                </a:solidFill>
                <a:latin typeface="Trebuchet MS"/>
              </a:rPr>
              <a:t> counts equally, so rare classes matter as much as common ones</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Asks: “does the system work across the board, or only on the easy majority?”</a:t>
            </a:r>
          </a:p>
        </p:txBody>
      </p:sp>
      <p:sp>
        <p:nvSpPr>
          <p:cNvPr id="7" name="TextBox 6"/>
          <p:cNvSpPr txBox="1"/>
          <p:nvPr/>
        </p:nvSpPr>
        <p:spPr>
          <a:xfrm>
            <a:off x="777240" y="4242816"/>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Our AdaptNER blind scores: </a:t>
            </a:r>
            <a:r>
              <a:rPr b="1" sz="1600">
                <a:solidFill>
                  <a:srgbClr val="6B6B6B"/>
                </a:solidFill>
                <a:latin typeface="Trebuchet MS"/>
              </a:rPr>
              <a:t>micro 0.7483</a:t>
            </a:r>
            <a:r>
              <a:rPr sz="1600" b="0">
                <a:solidFill>
                  <a:srgbClr val="6B6B6B"/>
                </a:solidFill>
                <a:latin typeface="Trebuchet MS"/>
              </a:rPr>
              <a:t> against </a:t>
            </a:r>
            <a:r>
              <a:rPr b="1" sz="1600">
                <a:solidFill>
                  <a:srgbClr val="6B6B6B"/>
                </a:solidFill>
                <a:latin typeface="Trebuchet MS"/>
              </a:rPr>
              <a:t>macro 0.6316</a:t>
            </a:r>
            <a:r>
              <a:rPr sz="1600" b="0">
                <a:solidFill>
                  <a:srgbClr val="6B6B6B"/>
                </a:solidFill>
                <a:latin typeface="Trebuchet MS"/>
              </a:rPr>
              <a:t>. That gap is the finding: rare types are being handled much worse than common ones.</a:t>
            </a:r>
          </a:p>
        </p:txBody>
      </p:sp>
      <p:sp>
        <p:nvSpPr>
          <p:cNvPr id="8" name="Rounded Rectangle 7"/>
          <p:cNvSpPr/>
          <p:nvPr/>
        </p:nvSpPr>
        <p:spPr>
          <a:xfrm>
            <a:off x="777240" y="4933696"/>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ALWAYS REPORT BOTH</a:t>
            </a:r>
          </a:p>
          <a:p>
            <a:pPr>
              <a:lnSpc>
                <a:spcPct val="124000"/>
              </a:lnSpc>
            </a:pPr>
            <a:r>
              <a:rPr sz="1500" b="0">
                <a:solidFill>
                  <a:srgbClr val="1A1A1A"/>
                </a:solidFill>
                <a:latin typeface="Trebuchet MS"/>
              </a:rPr>
              <a:t>Reporting only micro hides neglected classes. Reporting only macro lets one well-handled rare class flatter you.</a:t>
            </a:r>
          </a:p>
        </p:txBody>
      </p:sp>
      <p:sp>
        <p:nvSpPr>
          <p:cNvPr id="9" name="Rectangle 8"/>
          <p:cNvSpPr/>
          <p:nvPr/>
        </p:nvSpPr>
        <p:spPr>
          <a:xfrm>
            <a:off x="777240" y="4933696"/>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IV · Evaluation
and domain shift</a:t>
            </a:r>
          </a:p>
        </p:txBody>
      </p:sp>
      <p:sp>
        <p:nvSpPr>
          <p:cNvPr id="11" name="TextBox 10"/>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11 · AN IDENTITY, NOT A SHORTCUT</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Why micro-F1 = precision = recall for our RE task</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This surprises people, so here is the derivation. In forced choice the system outputs exactly one label per instance, and every instance has exactly one gold label.</a:t>
            </a:r>
          </a:p>
        </p:txBody>
      </p:sp>
      <p:sp>
        <p:nvSpPr>
          <p:cNvPr id="6" name="TextBox 5"/>
          <p:cNvSpPr txBox="1"/>
          <p:nvPr/>
        </p:nvSpPr>
        <p:spPr>
          <a:xfrm>
            <a:off x="777240" y="2263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number of predictions = number of gold labels = </a:t>
            </a:r>
            <a:r>
              <a:rPr b="1" sz="1700">
                <a:solidFill>
                  <a:srgbClr val="1A1A1A"/>
                </a:solidFill>
                <a:latin typeface="Trebuchet MS"/>
              </a:rPr>
              <a:t>N</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every prediction is either right (TP) or wrong (FP)</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every wrong prediction is </a:t>
            </a:r>
            <a:r>
              <a:rPr b="1" sz="1700">
                <a:solidFill>
                  <a:srgbClr val="1A1A1A"/>
                </a:solidFill>
                <a:latin typeface="Trebuchet MS"/>
              </a:rPr>
              <a:t>also</a:t>
            </a:r>
            <a:r>
              <a:rPr sz="1700" b="0">
                <a:solidFill>
                  <a:srgbClr val="1A1A1A"/>
                </a:solidFill>
                <a:latin typeface="Trebuchet MS"/>
              </a:rPr>
              <a:t> a missed gold label (FN)</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therefore </a:t>
            </a:r>
            <a:r>
              <a:rPr b="1" sz="1700">
                <a:solidFill>
                  <a:srgbClr val="1A1A1A"/>
                </a:solidFill>
                <a:latin typeface="Trebuchet MS"/>
              </a:rPr>
              <a:t>FP = FN</a:t>
            </a:r>
          </a:p>
        </p:txBody>
      </p:sp>
      <p:sp>
        <p:nvSpPr>
          <p:cNvPr id="7" name="Rounded Rectangle 6"/>
          <p:cNvSpPr/>
          <p:nvPr/>
        </p:nvSpPr>
        <p:spPr>
          <a:xfrm>
            <a:off x="777240" y="3902456"/>
            <a:ext cx="10637215" cy="733933"/>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tIns="146304"/>
          <a:lstStyle/>
          <a:p>
            <a:pPr algn="ctr">
              <a:lnSpc>
                <a:spcPct val="145000"/>
              </a:lnSpc>
              <a:spcAft>
                <a:spcPts val="0"/>
              </a:spcAft>
            </a:pPr>
            <a:r>
              <a:rPr sz="1900">
                <a:solidFill>
                  <a:srgbClr val="1F5673"/>
                </a:solidFill>
                <a:latin typeface="Cambria"/>
              </a:rPr>
              <a:t>P = TP / (TP + FP) = TP / N          R = TP / (TP + FN) = TP / N</a:t>
            </a:r>
          </a:p>
        </p:txBody>
      </p:sp>
      <p:sp>
        <p:nvSpPr>
          <p:cNvPr id="8" name="TextBox 7"/>
          <p:cNvSpPr txBox="1"/>
          <p:nvPr/>
        </p:nvSpPr>
        <p:spPr>
          <a:xfrm>
            <a:off x="777240" y="4819269"/>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Since P = R, their harmonic mean is the same value. All three are simply </a:t>
            </a:r>
            <a:r>
              <a:rPr b="1" sz="1600">
                <a:solidFill>
                  <a:srgbClr val="6B6B6B"/>
                </a:solidFill>
                <a:latin typeface="Trebuchet MS"/>
              </a:rPr>
              <a:t>accuracy</a:t>
            </a:r>
            <a:r>
              <a:rPr sz="1600" b="0">
                <a:solidFill>
                  <a:srgbClr val="6B6B6B"/>
                </a:solidFill>
                <a:latin typeface="Trebuchet MS"/>
              </a:rPr>
              <a:t>. This is why our RE table shows “=micro” for precision and recall. NER is different because NER systems choose </a:t>
            </a:r>
            <a:r>
              <a:rPr i="1" b="0" sz="1600">
                <a:solidFill>
                  <a:srgbClr val="6B6B6B"/>
                </a:solidFill>
                <a:latin typeface="Trebuchet MS"/>
              </a:rPr>
              <a:t>how many</a:t>
            </a:r>
            <a:r>
              <a:rPr sz="1600" b="0">
                <a:solidFill>
                  <a:srgbClr val="6B6B6B"/>
                </a:solidFill>
                <a:latin typeface="Trebuchet MS"/>
              </a:rPr>
              <a:t> spans to predict, so FP ≠ FN and P and R diverge meaningfully.</a:t>
            </a: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IV · Evaluation
and domain shift</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12 · WHAT IT IS</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Domain shift: the central problem of AdaptNER</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Machine learning assumes train and test data are drawn from the same distribution. </a:t>
            </a:r>
            <a:r>
              <a:rPr b="1" sz="1600">
                <a:solidFill>
                  <a:srgbClr val="6B6B6B"/>
                </a:solidFill>
                <a:latin typeface="Trebuchet MS"/>
              </a:rPr>
              <a:t>Domain shift</a:t>
            </a:r>
            <a:r>
              <a:rPr sz="1600" b="0">
                <a:solidFill>
                  <a:srgbClr val="6B6B6B"/>
                </a:solidFill>
                <a:latin typeface="Trebuchet MS"/>
              </a:rPr>
              <a:t> is when they are not. Our training text is Wojood news; our test text is Konooz agriculture, health, law, and seven other domains.</a:t>
            </a:r>
          </a:p>
        </p:txBody>
      </p:sp>
      <p:sp>
        <p:nvSpPr>
          <p:cNvPr id="6" name="TextBox 5"/>
          <p:cNvSpPr txBox="1"/>
          <p:nvPr/>
        </p:nvSpPr>
        <p:spPr>
          <a:xfrm>
            <a:off x="777240" y="2517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Different domains differ in </a:t>
            </a:r>
            <a:r>
              <a:rPr b="1" sz="1700">
                <a:solidFill>
                  <a:srgbClr val="1A1A1A"/>
                </a:solidFill>
                <a:latin typeface="Trebuchet MS"/>
              </a:rPr>
              <a:t>vocabulary</a:t>
            </a:r>
            <a:r>
              <a:rPr sz="1700" b="0">
                <a:solidFill>
                  <a:srgbClr val="1A1A1A"/>
                </a:solidFill>
                <a:latin typeface="Trebuchet MS"/>
              </a:rPr>
              <a:t> (crop names, medical terms, legal citations)</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in </a:t>
            </a:r>
            <a:r>
              <a:rPr b="1" sz="1700">
                <a:solidFill>
                  <a:srgbClr val="1A1A1A"/>
                </a:solidFill>
                <a:latin typeface="Trebuchet MS"/>
              </a:rPr>
              <a:t>which entity types are common</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in </a:t>
            </a:r>
            <a:r>
              <a:rPr b="1" sz="1700">
                <a:solidFill>
                  <a:srgbClr val="1A1A1A"/>
                </a:solidFill>
                <a:latin typeface="Trebuchet MS"/>
              </a:rPr>
              <a:t>sentence style</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and in </a:t>
            </a:r>
            <a:r>
              <a:rPr b="1" sz="1700">
                <a:solidFill>
                  <a:srgbClr val="1A1A1A"/>
                </a:solidFill>
                <a:latin typeface="Trebuchet MS"/>
              </a:rPr>
              <a:t>which surface forms signal an entity at all</a:t>
            </a:r>
          </a:p>
        </p:txBody>
      </p:sp>
      <p:graphicFrame>
        <p:nvGraphicFramePr>
          <p:cNvPr id="7" name="Table 6"/>
          <p:cNvGraphicFramePr>
            <a:graphicFrameLocks noGrp="1"/>
          </p:cNvGraphicFramePr>
          <p:nvPr/>
        </p:nvGraphicFramePr>
        <p:xfrm>
          <a:off x="777240" y="4156455"/>
          <a:ext cx="10637212" cy="1097280"/>
        </p:xfrm>
        <a:graphic>
          <a:graphicData uri="http://schemas.openxmlformats.org/drawingml/2006/table">
            <a:tbl>
              <a:tblPr firstRow="0" bandRow="0">
                <a:tableStyleId>{5C22544A-7EE6-4342-B048-85BDC9FD1C3A}</a:tableStyleId>
              </a:tblPr>
              <a:tblGrid>
                <a:gridCol w="5048169"/>
                <a:gridCol w="1983209"/>
                <a:gridCol w="1802917"/>
                <a:gridCol w="1802917"/>
              </a:tblGrid>
              <a:tr h="365760">
                <a:tc>
                  <a:txBody>
                    <a:bodyPr wrap="square"/>
                    <a:lstStyle/>
                    <a:p>
                      <a:pPr>
                        <a:lnSpc>
                          <a:spcPct val="110000"/>
                        </a:lnSpc>
                      </a:pPr>
                      <a:r>
                        <a:rPr sz="1500" b="1">
                          <a:solidFill>
                            <a:srgbClr val="FFFFFF"/>
                          </a:solidFill>
                          <a:latin typeface="Trebuchet MS"/>
                        </a:rPr>
                        <a:t>Setting</a:t>
                      </a:r>
                    </a:p>
                  </a:txBody>
                  <a:tcPr marL="118872" marR="91440" marT="27432" marB="27432" anchor="ctr">
                    <a:solidFill>
                      <a:srgbClr val="1F5673"/>
                    </a:solidFill>
                  </a:tcPr>
                </a:tc>
                <a:tc>
                  <a:txBody>
                    <a:bodyPr wrap="square"/>
                    <a:lstStyle/>
                    <a:p>
                      <a:pPr algn="ctr">
                        <a:lnSpc>
                          <a:spcPct val="110000"/>
                        </a:lnSpc>
                      </a:pPr>
                      <a:r>
                        <a:rPr sz="1500" b="1">
                          <a:solidFill>
                            <a:srgbClr val="FFFFFF"/>
                          </a:solidFill>
                          <a:latin typeface="Trebuchet MS"/>
                        </a:rPr>
                        <a:t>micro-F1</a:t>
                      </a:r>
                    </a:p>
                  </a:txBody>
                  <a:tcPr marL="118872" marR="91440" marT="27432" marB="27432" anchor="ctr">
                    <a:solidFill>
                      <a:srgbClr val="1F5673"/>
                    </a:solidFill>
                  </a:tcPr>
                </a:tc>
                <a:tc>
                  <a:txBody>
                    <a:bodyPr wrap="square"/>
                    <a:lstStyle/>
                    <a:p>
                      <a:pPr algn="ctr">
                        <a:lnSpc>
                          <a:spcPct val="110000"/>
                        </a:lnSpc>
                      </a:pPr>
                      <a:r>
                        <a:rPr sz="1500" b="1">
                          <a:solidFill>
                            <a:srgbClr val="FFFFFF"/>
                          </a:solidFill>
                          <a:latin typeface="Trebuchet MS"/>
                        </a:rPr>
                        <a:t>P</a:t>
                      </a:r>
                    </a:p>
                  </a:txBody>
                  <a:tcPr marL="118872" marR="91440" marT="27432" marB="27432" anchor="ctr">
                    <a:solidFill>
                      <a:srgbClr val="1F5673"/>
                    </a:solidFill>
                  </a:tcPr>
                </a:tc>
                <a:tc>
                  <a:txBody>
                    <a:bodyPr wrap="square"/>
                    <a:lstStyle/>
                    <a:p>
                      <a:pPr algn="ctr">
                        <a:lnSpc>
                          <a:spcPct val="110000"/>
                        </a:lnSpc>
                      </a:pPr>
                      <a:r>
                        <a:rPr sz="1500" b="1">
                          <a:solidFill>
                            <a:srgbClr val="FFFFFF"/>
                          </a:solidFill>
                          <a:latin typeface="Trebuchet MS"/>
                        </a:rPr>
                        <a:t>R</a:t>
                      </a:r>
                    </a:p>
                  </a:txBody>
                  <a:tcPr marL="118872" marR="91440" marT="27432" marB="27432" anchor="ctr">
                    <a:solidFill>
                      <a:srgbClr val="1F5673"/>
                    </a:solidFill>
                  </a:tcPr>
                </a:tc>
              </a:tr>
              <a:tr h="365760">
                <a:tc>
                  <a:txBody>
                    <a:bodyPr wrap="square"/>
                    <a:lstStyle/>
                    <a:p>
                      <a:pPr>
                        <a:lnSpc>
                          <a:spcPct val="110000"/>
                        </a:lnSpc>
                      </a:pPr>
                      <a:r>
                        <a:rPr sz="1500" b="0">
                          <a:solidFill>
                            <a:srgbClr val="1A1A1A"/>
                          </a:solidFill>
                          <a:latin typeface="Trebuchet MS"/>
                        </a:rPr>
                        <a:t>Wojood test (in-domain)</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0.9240</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0.9169</a:t>
                      </a:r>
                    </a:p>
                  </a:txBody>
                  <a:tcPr marL="118872" marR="91440" marT="27432" marB="27432" anchor="ctr">
                    <a:solidFill>
                      <a:srgbClr val="FDFCF9"/>
                    </a:solidFill>
                  </a:tcPr>
                </a:tc>
                <a:tc>
                  <a:txBody>
                    <a:bodyPr wrap="square"/>
                    <a:lstStyle/>
                    <a:p>
                      <a:pPr algn="ctr">
                        <a:lnSpc>
                          <a:spcPct val="110000"/>
                        </a:lnSpc>
                      </a:pPr>
                      <a:r>
                        <a:rPr sz="1500" b="0">
                          <a:solidFill>
                            <a:srgbClr val="1A1A1A"/>
                          </a:solidFill>
                          <a:latin typeface="Trebuchet MS"/>
                        </a:rPr>
                        <a:t>0.9313</a:t>
                      </a:r>
                    </a:p>
                  </a:txBody>
                  <a:tcPr marL="118872" marR="91440" marT="27432" marB="27432" anchor="ctr">
                    <a:solidFill>
                      <a:srgbClr val="FDFCF9"/>
                    </a:solidFill>
                  </a:tcPr>
                </a:tc>
              </a:tr>
              <a:tr h="365760">
                <a:tc>
                  <a:txBody>
                    <a:bodyPr wrap="square"/>
                    <a:lstStyle/>
                    <a:p>
                      <a:pPr>
                        <a:lnSpc>
                          <a:spcPct val="110000"/>
                        </a:lnSpc>
                      </a:pPr>
                      <a:r>
                        <a:rPr sz="1500" b="0">
                          <a:solidFill>
                            <a:srgbClr val="1A1A1A"/>
                          </a:solidFill>
                          <a:latin typeface="Trebuchet MS"/>
                        </a:rPr>
                        <a:t>Konooz blind (out-of-domain)</a:t>
                      </a:r>
                    </a:p>
                  </a:txBody>
                  <a:tcPr marL="118872" marR="91440" marT="27432" marB="27432" anchor="ctr">
                    <a:solidFill>
                      <a:srgbClr val="F4F1EA"/>
                    </a:solidFill>
                  </a:tcPr>
                </a:tc>
                <a:tc>
                  <a:txBody>
                    <a:bodyPr wrap="square"/>
                    <a:lstStyle/>
                    <a:p>
                      <a:pPr algn="ctr">
                        <a:lnSpc>
                          <a:spcPct val="110000"/>
                        </a:lnSpc>
                      </a:pPr>
                      <a:r>
                        <a:rPr b="1" sz="1500">
                          <a:solidFill>
                            <a:srgbClr val="1A1A1A"/>
                          </a:solidFill>
                          <a:latin typeface="Trebuchet MS"/>
                        </a:rPr>
                        <a:t>0.7385</a:t>
                      </a:r>
                    </a:p>
                  </a:txBody>
                  <a:tcPr marL="118872" marR="91440" marT="27432" marB="27432" anchor="ctr">
                    <a:solidFill>
                      <a:srgbClr val="FBE9C8"/>
                    </a:solidFill>
                  </a:tcPr>
                </a:tc>
                <a:tc>
                  <a:txBody>
                    <a:bodyPr wrap="square"/>
                    <a:lstStyle/>
                    <a:p>
                      <a:pPr algn="ctr">
                        <a:lnSpc>
                          <a:spcPct val="110000"/>
                        </a:lnSpc>
                      </a:pPr>
                      <a:r>
                        <a:rPr sz="1500" b="0">
                          <a:solidFill>
                            <a:srgbClr val="1A1A1A"/>
                          </a:solidFill>
                          <a:latin typeface="Trebuchet MS"/>
                        </a:rPr>
                        <a:t>0.7874</a:t>
                      </a:r>
                    </a:p>
                  </a:txBody>
                  <a:tcPr marL="118872" marR="91440" marT="27432" marB="27432" anchor="ctr">
                    <a:solidFill>
                      <a:srgbClr val="F4F1EA"/>
                    </a:solidFill>
                  </a:tcPr>
                </a:tc>
                <a:tc>
                  <a:txBody>
                    <a:bodyPr wrap="square"/>
                    <a:lstStyle/>
                    <a:p>
                      <a:pPr algn="ctr">
                        <a:lnSpc>
                          <a:spcPct val="110000"/>
                        </a:lnSpc>
                      </a:pPr>
                      <a:r>
                        <a:rPr b="1" sz="1500">
                          <a:solidFill>
                            <a:srgbClr val="1A1A1A"/>
                          </a:solidFill>
                          <a:latin typeface="Trebuchet MS"/>
                        </a:rPr>
                        <a:t>0.6953</a:t>
                      </a:r>
                    </a:p>
                  </a:txBody>
                  <a:tcPr marL="118872" marR="91440" marT="27432" marB="27432" anchor="ctr">
                    <a:solidFill>
                      <a:srgbClr val="FBE9C8"/>
                    </a:solidFill>
                  </a:tcPr>
                </a:tc>
              </a:tr>
            </a:tbl>
          </a:graphicData>
        </a:graphic>
      </p:graphicFrame>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IV · Evaluation
and domain shift</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12 · READING THE TAX</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An 18.6-point drop is not a bug</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5190591" cy="155448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3200" b="1">
                <a:solidFill>
                  <a:srgbClr val="1F5673"/>
                </a:solidFill>
                <a:latin typeface="Trebuchet MS"/>
              </a:rPr>
              <a:t>−18.6</a:t>
            </a:r>
          </a:p>
          <a:p>
            <a:pPr algn="ctr">
              <a:lnSpc>
                <a:spcPct val="115000"/>
              </a:lnSpc>
              <a:spcBef>
                <a:spcPts val="500"/>
              </a:spcBef>
            </a:pPr>
            <a:r>
              <a:rPr sz="1250" b="0">
                <a:solidFill>
                  <a:srgbClr val="6B6B6B"/>
                </a:solidFill>
                <a:latin typeface="Trebuchet MS"/>
              </a:rPr>
              <a:t>points of micro-F1, in-domain to out-of-domain</a:t>
            </a:r>
          </a:p>
        </p:txBody>
      </p:sp>
      <p:sp>
        <p:nvSpPr>
          <p:cNvPr id="6" name="Rounded Rectangle 5"/>
          <p:cNvSpPr/>
          <p:nvPr/>
        </p:nvSpPr>
        <p:spPr>
          <a:xfrm>
            <a:off x="6223863" y="1572768"/>
            <a:ext cx="5190591" cy="155448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3200" b="1">
                <a:solidFill>
                  <a:srgbClr val="1F5673"/>
                </a:solidFill>
                <a:latin typeface="Trebuchet MS"/>
              </a:rPr>
              <a:t>12 – 20</a:t>
            </a:r>
          </a:p>
          <a:p>
            <a:pPr algn="ctr">
              <a:lnSpc>
                <a:spcPct val="115000"/>
              </a:lnSpc>
              <a:spcBef>
                <a:spcPts val="500"/>
              </a:spcBef>
            </a:pPr>
            <a:r>
              <a:rPr sz="1250" b="0">
                <a:solidFill>
                  <a:srgbClr val="6B6B6B"/>
                </a:solidFill>
                <a:latin typeface="Trebuchet MS"/>
              </a:rPr>
              <a:t>points lost across domains in Konooz's own corpus paper</a:t>
            </a:r>
          </a:p>
        </p:txBody>
      </p:sp>
      <p:sp>
        <p:nvSpPr>
          <p:cNvPr id="7" name="TextBox 6"/>
          <p:cNvSpPr txBox="1"/>
          <p:nvPr/>
        </p:nvSpPr>
        <p:spPr>
          <a:xfrm>
            <a:off x="777240" y="3346704"/>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We land at the expected end of the published band. This is not a defect in our system; it is </a:t>
            </a:r>
            <a:r>
              <a:rPr b="1" sz="1600">
                <a:solidFill>
                  <a:srgbClr val="6B6B6B"/>
                </a:solidFill>
                <a:latin typeface="Trebuchet MS"/>
              </a:rPr>
              <a:t>the phenomenon the subtask was designed to measure</a:t>
            </a:r>
            <a:r>
              <a:rPr sz="1600" b="0">
                <a:solidFill>
                  <a:srgbClr val="6B6B6B"/>
                </a:solidFill>
                <a:latin typeface="Trebuchet MS"/>
              </a:rPr>
              <a:t>.</a:t>
            </a:r>
          </a:p>
        </p:txBody>
      </p:sp>
      <p:sp>
        <p:nvSpPr>
          <p:cNvPr id="8" name="Rounded Rectangle 7"/>
          <p:cNvSpPr/>
          <p:nvPr/>
        </p:nvSpPr>
        <p:spPr>
          <a:xfrm>
            <a:off x="777240" y="4037584"/>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NOW LOOK AT THE SHAPE, NOT THE SIZE</a:t>
            </a:r>
          </a:p>
          <a:p>
            <a:pPr>
              <a:lnSpc>
                <a:spcPct val="124000"/>
              </a:lnSpc>
            </a:pPr>
            <a:r>
              <a:rPr sz="1500" b="0">
                <a:solidFill>
                  <a:srgbClr val="1A1A1A"/>
                </a:solidFill>
                <a:latin typeface="Trebuchet MS"/>
              </a:rPr>
              <a:t>The size of the drop tells you how hard the problem is. The </a:t>
            </a:r>
            <a:r>
              <a:rPr i="1" b="0" sz="1500">
                <a:solidFill>
                  <a:srgbClr val="1A1A1A"/>
                </a:solidFill>
                <a:latin typeface="Trebuchet MS"/>
              </a:rPr>
              <a:t>shape</a:t>
            </a:r>
            <a:r>
              <a:rPr sz="1500" b="0">
                <a:solidFill>
                  <a:srgbClr val="1A1A1A"/>
                </a:solidFill>
                <a:latin typeface="Trebuchet MS"/>
              </a:rPr>
              <a:t> of the drop tells you what to do about it, and that is the more useful information.</a:t>
            </a:r>
          </a:p>
        </p:txBody>
      </p:sp>
      <p:sp>
        <p:nvSpPr>
          <p:cNvPr id="9" name="Rectangle 8"/>
          <p:cNvSpPr/>
          <p:nvPr/>
        </p:nvSpPr>
        <p:spPr>
          <a:xfrm>
            <a:off x="777240" y="4037584"/>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IV · Evaluation
and domain shift</a:t>
            </a:r>
          </a:p>
        </p:txBody>
      </p:sp>
      <p:sp>
        <p:nvSpPr>
          <p:cNvPr id="11" name="TextBox 10"/>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12 · THE DIAGNOSIS THAT SET OUR STRATEGY</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The shape of the failure: the model goes silent</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572768"/>
            <a:ext cx="5163159" cy="192024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In domain</a:t>
            </a:r>
          </a:p>
          <a:p>
            <a:pPr marL="182880" indent="-182880">
              <a:lnSpc>
                <a:spcPct val="120000"/>
              </a:lnSpc>
              <a:spcAft>
                <a:spcPts val="700"/>
              </a:spcAft>
            </a:pPr>
            <a:r>
              <a:rPr sz="1400">
                <a:solidFill>
                  <a:srgbClr val="9E4A2B"/>
                </a:solidFill>
                <a:latin typeface="Trebuchet MS"/>
              </a:rPr>
              <a:t>·  </a:t>
            </a:r>
            <a:r>
              <a:rPr b="1" sz="1500">
                <a:solidFill>
                  <a:srgbClr val="1A1A1A"/>
                </a:solidFill>
                <a:latin typeface="Trebuchet MS"/>
              </a:rPr>
              <a:t>P 0.9169</a:t>
            </a:r>
          </a:p>
          <a:p>
            <a:pPr marL="182880" indent="-182880">
              <a:lnSpc>
                <a:spcPct val="120000"/>
              </a:lnSpc>
              <a:spcAft>
                <a:spcPts val="700"/>
              </a:spcAft>
            </a:pPr>
            <a:r>
              <a:rPr sz="1400">
                <a:solidFill>
                  <a:srgbClr val="9E4A2B"/>
                </a:solidFill>
                <a:latin typeface="Trebuchet MS"/>
              </a:rPr>
              <a:t>·  </a:t>
            </a:r>
            <a:r>
              <a:rPr b="1" sz="1500">
                <a:solidFill>
                  <a:srgbClr val="1A1A1A"/>
                </a:solidFill>
                <a:latin typeface="Trebuchet MS"/>
              </a:rPr>
              <a:t>R 0.9313</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Recall is </a:t>
            </a:r>
            <a:r>
              <a:rPr i="1" b="0" sz="1500">
                <a:solidFill>
                  <a:srgbClr val="1A1A1A"/>
                </a:solidFill>
                <a:latin typeface="Trebuchet MS"/>
              </a:rPr>
              <a:t>higher</a:t>
            </a:r>
            <a:r>
              <a:rPr sz="1500" b="0">
                <a:solidFill>
                  <a:srgbClr val="1A1A1A"/>
                </a:solidFill>
                <a:latin typeface="Trebuchet MS"/>
              </a:rPr>
              <a:t> than precision: the model finds slightly more than it should</a:t>
            </a:r>
          </a:p>
        </p:txBody>
      </p:sp>
      <p:sp>
        <p:nvSpPr>
          <p:cNvPr id="6" name="Rounded Rectangle 5"/>
          <p:cNvSpPr/>
          <p:nvPr/>
        </p:nvSpPr>
        <p:spPr>
          <a:xfrm>
            <a:off x="6251295" y="1572768"/>
            <a:ext cx="5163159" cy="1920240"/>
          </a:xfrm>
          <a:prstGeom prst="roundRect">
            <a:avLst>
              <a:gd name="adj" fmla="val 3000"/>
            </a:avLst>
          </a:prstGeom>
          <a:solidFill>
            <a:srgbClr val="FBE9C8"/>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Out of domain</a:t>
            </a:r>
          </a:p>
          <a:p>
            <a:pPr marL="182880" indent="-182880">
              <a:lnSpc>
                <a:spcPct val="120000"/>
              </a:lnSpc>
              <a:spcAft>
                <a:spcPts val="700"/>
              </a:spcAft>
            </a:pPr>
            <a:r>
              <a:rPr sz="1400">
                <a:solidFill>
                  <a:srgbClr val="9E4A2B"/>
                </a:solidFill>
                <a:latin typeface="Trebuchet MS"/>
              </a:rPr>
              <a:t>·  </a:t>
            </a:r>
            <a:r>
              <a:rPr b="1" sz="1500">
                <a:solidFill>
                  <a:srgbClr val="1A1A1A"/>
                </a:solidFill>
                <a:latin typeface="Trebuchet MS"/>
              </a:rPr>
              <a:t>P 0.7874</a:t>
            </a:r>
          </a:p>
          <a:p>
            <a:pPr marL="182880" indent="-182880">
              <a:lnSpc>
                <a:spcPct val="120000"/>
              </a:lnSpc>
              <a:spcAft>
                <a:spcPts val="700"/>
              </a:spcAft>
            </a:pPr>
            <a:r>
              <a:rPr sz="1400">
                <a:solidFill>
                  <a:srgbClr val="9E4A2B"/>
                </a:solidFill>
                <a:latin typeface="Trebuchet MS"/>
              </a:rPr>
              <a:t>·  </a:t>
            </a:r>
            <a:r>
              <a:rPr b="1" sz="1500">
                <a:solidFill>
                  <a:srgbClr val="1A1A1A"/>
                </a:solidFill>
                <a:latin typeface="Trebuchet MS"/>
              </a:rPr>
              <a:t>R 0.6953</a:t>
            </a:r>
          </a:p>
          <a:p>
            <a:pPr marL="182880" indent="-182880">
              <a:lnSpc>
                <a:spcPct val="120000"/>
              </a:lnSpc>
              <a:spcAft>
                <a:spcPts val="700"/>
              </a:spcAft>
            </a:pPr>
            <a:r>
              <a:rPr sz="1400">
                <a:solidFill>
                  <a:srgbClr val="9E4A2B"/>
                </a:solidFill>
                <a:latin typeface="Trebuchet MS"/>
              </a:rPr>
              <a:t>·  </a:t>
            </a:r>
            <a:r>
              <a:rPr sz="1500" b="0">
                <a:solidFill>
                  <a:srgbClr val="1A1A1A"/>
                </a:solidFill>
                <a:latin typeface="Trebuchet MS"/>
              </a:rPr>
              <a:t>Recall is </a:t>
            </a:r>
            <a:r>
              <a:rPr b="1" sz="1500">
                <a:solidFill>
                  <a:srgbClr val="1A1A1A"/>
                </a:solidFill>
                <a:latin typeface="Trebuchet MS"/>
              </a:rPr>
              <a:t>9.2 points lower</a:t>
            </a:r>
            <a:r>
              <a:rPr sz="1500" b="0">
                <a:solidFill>
                  <a:srgbClr val="1A1A1A"/>
                </a:solidFill>
                <a:latin typeface="Trebuchet MS"/>
              </a:rPr>
              <a:t>: the model finds far too little</a:t>
            </a:r>
          </a:p>
        </p:txBody>
      </p:sp>
      <p:sp>
        <p:nvSpPr>
          <p:cNvPr id="7" name="TextBox 6"/>
          <p:cNvSpPr txBox="1"/>
          <p:nvPr/>
        </p:nvSpPr>
        <p:spPr>
          <a:xfrm>
            <a:off x="777240" y="3694176"/>
            <a:ext cx="10637215" cy="365760"/>
          </a:xfrm>
          <a:prstGeom prst="rect">
            <a:avLst/>
          </a:prstGeom>
          <a:noFill/>
        </p:spPr>
        <p:txBody>
          <a:bodyPr wrap="square" lIns="0" rIns="0" tIns="0" bIns="0">
            <a:spAutoFit/>
          </a:bodyPr>
          <a:lstStyle/>
          <a:p>
            <a:pPr>
              <a:lnSpc>
                <a:spcPct val="125000"/>
              </a:lnSpc>
            </a:pPr>
            <a:r>
              <a:rPr b="1" sz="1600">
                <a:solidFill>
                  <a:srgbClr val="6B6B6B"/>
                </a:solidFill>
                <a:latin typeface="Trebuchet MS"/>
              </a:rPr>
              <a:t>The relationship flips.</a:t>
            </a:r>
            <a:r>
              <a:rPr sz="1600" b="0">
                <a:solidFill>
                  <a:srgbClr val="6B6B6B"/>
                </a:solidFill>
                <a:latin typeface="Trebuchet MS"/>
              </a:rPr>
              <a:t> Out of domain the model is still usually right when it speaks; the failure is that it stays silent. Confronted with an unfamiliar agricultural term, it does not mislabel it, it simply fails to see it as an entity at all.</a:t>
            </a:r>
          </a:p>
        </p:txBody>
      </p:sp>
      <p:sp>
        <p:nvSpPr>
          <p:cNvPr id="8" name="Rounded Rectangle 7"/>
          <p:cNvSpPr/>
          <p:nvPr/>
        </p:nvSpPr>
        <p:spPr>
          <a:xfrm>
            <a:off x="777240" y="4639056"/>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THIS DIAGNOSIS DIRECTLY DETERMINED OUR STRATEGY</a:t>
            </a:r>
          </a:p>
          <a:p>
            <a:pPr>
              <a:lnSpc>
                <a:spcPct val="124000"/>
              </a:lnSpc>
            </a:pPr>
            <a:r>
              <a:rPr sz="1500" b="0">
                <a:solidFill>
                  <a:srgbClr val="1A1A1A"/>
                </a:solidFill>
                <a:latin typeface="Trebuchet MS"/>
              </a:rPr>
              <a:t>Recall was the bottleneck, so we needed a recall lever. That is what motivated the union ensemble in Part II, and why the 8%-headroom diagnostic mattered: the seeds agreed, so seed ensembling could not supply the missing recall.</a:t>
            </a:r>
          </a:p>
        </p:txBody>
      </p:sp>
      <p:sp>
        <p:nvSpPr>
          <p:cNvPr id="9" name="Rectangle 8"/>
          <p:cNvSpPr/>
          <p:nvPr/>
        </p:nvSpPr>
        <p:spPr>
          <a:xfrm>
            <a:off x="777240" y="4639056"/>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IV · Evaluation
and domain shift</a:t>
            </a:r>
          </a:p>
        </p:txBody>
      </p:sp>
      <p:sp>
        <p:nvSpPr>
          <p:cNvPr id="11" name="TextBox 10"/>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12 · FUTURE WORK, DESIGNED BUT NOT BUILT</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What would actually fix it</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The deficit is systematic, so the fix must inject new </a:t>
            </a:r>
            <a:r>
              <a:rPr b="1" sz="1600">
                <a:solidFill>
                  <a:srgbClr val="6B6B6B"/>
                </a:solidFill>
                <a:latin typeface="Trebuchet MS"/>
              </a:rPr>
              <a:t>knowledge</a:t>
            </a:r>
            <a:r>
              <a:rPr sz="1600" b="0">
                <a:solidFill>
                  <a:srgbClr val="6B6B6B"/>
                </a:solidFill>
                <a:latin typeface="Trebuchet MS"/>
              </a:rPr>
              <a:t> of the target domains, not new combinations of the same model.</a:t>
            </a:r>
          </a:p>
        </p:txBody>
      </p:sp>
      <p:sp>
        <p:nvSpPr>
          <p:cNvPr id="6" name="Rounded Rectangle 5"/>
          <p:cNvSpPr/>
          <p:nvPr/>
        </p:nvSpPr>
        <p:spPr>
          <a:xfrm>
            <a:off x="777240" y="2263648"/>
            <a:ext cx="3338474" cy="3063240"/>
          </a:xfrm>
          <a:prstGeom prst="roundRect">
            <a:avLst>
              <a:gd name="adj" fmla="val 3000"/>
            </a:avLst>
          </a:prstGeom>
          <a:solidFill>
            <a:srgbClr val="FBE9C8"/>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DAPT</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Continue masked-language-model pretraining on the </a:t>
            </a:r>
            <a:r>
              <a:rPr b="1" sz="1400">
                <a:solidFill>
                  <a:srgbClr val="1A1A1A"/>
                </a:solidFill>
                <a:latin typeface="Trebuchet MS"/>
              </a:rPr>
              <a:t>unlabeled</a:t>
            </a:r>
            <a:r>
              <a:rPr sz="1400" b="0">
                <a:solidFill>
                  <a:srgbClr val="1A1A1A"/>
                </a:solidFill>
                <a:latin typeface="Trebuchet MS"/>
              </a:rPr>
              <a:t> test-domain text</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No labels needed, so it is permitted</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The model learns agricultural and medical vocabulary before ever being asked to tag it</a:t>
            </a:r>
          </a:p>
          <a:p>
            <a:pPr>
              <a:lnSpc>
                <a:spcPct val="120000"/>
              </a:lnSpc>
              <a:spcBef>
                <a:spcPts val="900"/>
              </a:spcBef>
            </a:pPr>
            <a:r>
              <a:rPr b="1" sz="1300">
                <a:solidFill>
                  <a:srgbClr val="6B6B6B"/>
                </a:solidFill>
                <a:latin typeface="Trebuchet MS"/>
              </a:rPr>
              <a:t>Projected +2 to +5</a:t>
            </a:r>
          </a:p>
        </p:txBody>
      </p:sp>
      <p:sp>
        <p:nvSpPr>
          <p:cNvPr id="7" name="Rounded Rectangle 6"/>
          <p:cNvSpPr/>
          <p:nvPr/>
        </p:nvSpPr>
        <p:spPr>
          <a:xfrm>
            <a:off x="4426610" y="2263648"/>
            <a:ext cx="3338474" cy="306324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Self-training</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Predict on unlabeled target text, keep high-confidence predictions as pseudo-labels, retrain</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Risky: it amplifies its own errors, hence “guarded”</a:t>
            </a:r>
          </a:p>
          <a:p>
            <a:pPr>
              <a:lnSpc>
                <a:spcPct val="120000"/>
              </a:lnSpc>
              <a:spcBef>
                <a:spcPts val="900"/>
              </a:spcBef>
            </a:pPr>
            <a:r>
              <a:rPr b="1" sz="1300">
                <a:solidFill>
                  <a:srgbClr val="6B6B6B"/>
                </a:solidFill>
                <a:latin typeface="Trebuchet MS"/>
              </a:rPr>
              <a:t>Projected +1 to +2</a:t>
            </a:r>
          </a:p>
        </p:txBody>
      </p:sp>
      <p:sp>
        <p:nvSpPr>
          <p:cNvPr id="8" name="Rounded Rectangle 7"/>
          <p:cNvSpPr/>
          <p:nvPr/>
        </p:nvSpPr>
        <p:spPr>
          <a:xfrm>
            <a:off x="8075980" y="2263648"/>
            <a:ext cx="3338474" cy="3063240"/>
          </a:xfrm>
          <a:prstGeom prst="roundRect">
            <a:avLst>
              <a:gd name="adj" fmla="val 3000"/>
            </a:avLst>
          </a:prstGeom>
          <a:solidFill>
            <a:srgbClr val="F4F1EA"/>
          </a:solidFill>
          <a:ln w="1270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201168"/>
          <a:lstStyle/>
          <a:p>
            <a:pPr algn="l">
              <a:spcAft>
                <a:spcPts val="900"/>
              </a:spcAft>
            </a:pPr>
            <a:r>
              <a:rPr sz="1700" b="1">
                <a:solidFill>
                  <a:srgbClr val="1F5673"/>
                </a:solidFill>
                <a:latin typeface="Trebuchet MS"/>
              </a:rPr>
              <a:t>LLM data augmentation</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Generate synthetic in-domain training sentences</a:t>
            </a:r>
          </a:p>
          <a:p>
            <a:pPr marL="182880" indent="-182880">
              <a:lnSpc>
                <a:spcPct val="120000"/>
              </a:lnSpc>
              <a:spcAft>
                <a:spcPts val="700"/>
              </a:spcAft>
            </a:pPr>
            <a:r>
              <a:rPr sz="1400">
                <a:solidFill>
                  <a:srgbClr val="9E4A2B"/>
                </a:solidFill>
                <a:latin typeface="Trebuchet MS"/>
              </a:rPr>
              <a:t>·  </a:t>
            </a:r>
            <a:r>
              <a:rPr sz="1400" b="0">
                <a:solidFill>
                  <a:srgbClr val="1A1A1A"/>
                </a:solidFill>
                <a:latin typeface="Trebuchet MS"/>
              </a:rPr>
              <a:t>Explicitly recommended by the organizers</a:t>
            </a:r>
          </a:p>
        </p:txBody>
      </p:sp>
      <p:sp>
        <p:nvSpPr>
          <p:cNvPr id="9" name="TextBox 8"/>
          <p:cNvSpPr txBox="1"/>
          <p:nvPr/>
        </p:nvSpPr>
        <p:spPr>
          <a:xfrm>
            <a:off x="777240" y="5528056"/>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All three are legitimate: the rules ban Konooz </a:t>
            </a:r>
            <a:r>
              <a:rPr b="1" sz="1600">
                <a:solidFill>
                  <a:srgbClr val="6B6B6B"/>
                </a:solidFill>
                <a:latin typeface="Trebuchet MS"/>
              </a:rPr>
              <a:t>labels</a:t>
            </a:r>
            <a:r>
              <a:rPr sz="1600" b="0">
                <a:solidFill>
                  <a:srgbClr val="6B6B6B"/>
                </a:solidFill>
                <a:latin typeface="Trebuchet MS"/>
              </a:rPr>
              <a:t>, not the released unlabeled text. Using unlabeled test inputs at training time is </a:t>
            </a:r>
            <a:r>
              <a:rPr b="1" sz="1600">
                <a:solidFill>
                  <a:srgbClr val="6B6B6B"/>
                </a:solidFill>
                <a:latin typeface="Trebuchet MS"/>
              </a:rPr>
              <a:t>transductive learning</a:t>
            </a:r>
            <a:r>
              <a:rPr sz="1600" b="0">
                <a:solidFill>
                  <a:srgbClr val="6B6B6B"/>
                </a:solidFill>
                <a:latin typeface="Trebuchet MS"/>
              </a:rPr>
              <a:t>, and the organizers sanctioned it.</a:t>
            </a:r>
          </a:p>
        </p:txBody>
      </p:sp>
      <p:sp>
        <p:nvSpPr>
          <p:cNvPr id="10" name="TextBox 9"/>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IV · Evaluation
and domain shift</a:t>
            </a:r>
          </a:p>
        </p:txBody>
      </p:sp>
      <p:sp>
        <p:nvSpPr>
          <p:cNvPr id="11" name="TextBox 10"/>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F5673"/>
        </a:solidFill>
        <a:effectLst/>
      </p:bgPr>
    </p:bg>
    <p:spTree>
      <p:nvGrpSpPr>
        <p:cNvPr id="1" name=""/>
        <p:cNvGrpSpPr/>
        <p:nvPr/>
      </p:nvGrpSpPr>
      <p:grpSpPr/>
      <p:sp>
        <p:nvSpPr>
          <p:cNvPr id="2" name="TextBox 1"/>
          <p:cNvSpPr txBox="1"/>
          <p:nvPr/>
        </p:nvSpPr>
        <p:spPr>
          <a:xfrm>
            <a:off x="1005840" y="1371600"/>
            <a:ext cx="5120640" cy="1097280"/>
          </a:xfrm>
          <a:prstGeom prst="rect">
            <a:avLst/>
          </a:prstGeom>
          <a:noFill/>
        </p:spPr>
        <p:txBody>
          <a:bodyPr wrap="square" lIns="0" rIns="0" tIns="0" bIns="0">
            <a:spAutoFit/>
          </a:bodyPr>
          <a:lstStyle/>
          <a:p>
            <a:r>
              <a:rPr sz="1500" b="1">
                <a:solidFill>
                  <a:srgbClr val="E8A57C"/>
                </a:solidFill>
                <a:latin typeface="Trebuchet MS"/>
              </a:rPr>
              <a:t>PART V</a:t>
            </a:r>
          </a:p>
        </p:txBody>
      </p:sp>
      <p:sp>
        <p:nvSpPr>
          <p:cNvPr id="3" name="TextBox 2"/>
          <p:cNvSpPr txBox="1"/>
          <p:nvPr/>
        </p:nvSpPr>
        <p:spPr>
          <a:xfrm>
            <a:off x="1005840" y="1828800"/>
            <a:ext cx="5120640" cy="2011680"/>
          </a:xfrm>
          <a:prstGeom prst="rect">
            <a:avLst/>
          </a:prstGeom>
          <a:noFill/>
        </p:spPr>
        <p:txBody>
          <a:bodyPr wrap="square" lIns="0" rIns="0" tIns="0" bIns="0">
            <a:spAutoFit/>
          </a:bodyPr>
          <a:lstStyle/>
          <a:p>
            <a:pPr>
              <a:lnSpc>
                <a:spcPct val="110000"/>
              </a:lnSpc>
            </a:pPr>
            <a:r>
              <a:rPr sz="3400" b="1">
                <a:solidFill>
                  <a:srgbClr val="FFFFFF"/>
                </a:solidFill>
                <a:latin typeface="Trebuchet MS"/>
              </a:rPr>
              <a:t>Experimental</a:t>
            </a:r>
            <a:br/>
            <a:r>
              <a:rPr sz="3400" b="1">
                <a:solidFill>
                  <a:srgbClr val="FFFFFF"/>
                </a:solidFill>
                <a:latin typeface="Trebuchet MS"/>
              </a:rPr>
              <a:t>discipline</a:t>
            </a:r>
          </a:p>
        </p:txBody>
      </p:sp>
      <p:sp>
        <p:nvSpPr>
          <p:cNvPr id="4" name="TextBox 3"/>
          <p:cNvSpPr txBox="1"/>
          <p:nvPr/>
        </p:nvSpPr>
        <p:spPr>
          <a:xfrm>
            <a:off x="1005840" y="3886200"/>
            <a:ext cx="4937760" cy="1463040"/>
          </a:xfrm>
          <a:prstGeom prst="rect">
            <a:avLst/>
          </a:prstGeom>
          <a:noFill/>
        </p:spPr>
        <p:txBody>
          <a:bodyPr wrap="square" lIns="0" rIns="0" tIns="0" bIns="0">
            <a:spAutoFit/>
          </a:bodyPr>
          <a:lstStyle/>
          <a:p>
            <a:pPr>
              <a:lnSpc>
                <a:spcPct val="125000"/>
              </a:lnSpc>
            </a:pPr>
            <a:r>
              <a:rPr sz="1500">
                <a:solidFill>
                  <a:srgbClr val="CBDDE6"/>
                </a:solidFill>
                <a:latin typeface="Trebuchet MS"/>
              </a:rPr>
              <a:t>Section 13. The methods above are ordinary. What makes results trustworthy is protocol, which makes this the most transferable part of the whole document.</a:t>
            </a:r>
          </a:p>
        </p:txBody>
      </p:sp>
      <p:sp>
        <p:nvSpPr>
          <p:cNvPr id="5" name="Rectangle 4"/>
          <p:cNvSpPr/>
          <p:nvPr/>
        </p:nvSpPr>
        <p:spPr>
          <a:xfrm>
            <a:off x="6858000" y="1600200"/>
            <a:ext cx="9144" cy="1270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0" y="1463040"/>
            <a:ext cx="4297680" cy="3931920"/>
          </a:xfrm>
          <a:prstGeom prst="roundRect">
            <a:avLst>
              <a:gd name="adj" fmla="val 3000"/>
            </a:avLst>
          </a:prstGeom>
          <a:solidFill>
            <a:srgbClr val="1A49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4048" rIns="329184" tIns="347472"/>
          <a:lstStyle/>
          <a:p>
            <a:pPr algn="l" marL="256032" indent="-256032">
              <a:lnSpc>
                <a:spcPct val="115000"/>
              </a:lnSpc>
              <a:spcAft>
                <a:spcPts val="1100"/>
              </a:spcAft>
            </a:pPr>
            <a:r>
              <a:rPr sz="1400">
                <a:solidFill>
                  <a:srgbClr val="D9E7EE"/>
                </a:solidFill>
                <a:latin typeface="Trebuchet MS"/>
              </a:rPr>
              <a:t>·   Never touch the test set, and why</a:t>
            </a:r>
          </a:p>
          <a:p>
            <a:pPr algn="l" marL="256032" indent="-256032">
              <a:lnSpc>
                <a:spcPct val="115000"/>
              </a:lnSpc>
              <a:spcAft>
                <a:spcPts val="1100"/>
              </a:spcAft>
            </a:pPr>
            <a:r>
              <a:rPr sz="1400">
                <a:solidFill>
                  <a:srgbClr val="D9E7EE"/>
                </a:solidFill>
                <a:latin typeface="Trebuchet MS"/>
              </a:rPr>
              <a:t>·   What we gave up by training on train+validation</a:t>
            </a:r>
          </a:p>
          <a:p>
            <a:pPr algn="l" marL="256032" indent="-256032">
              <a:lnSpc>
                <a:spcPct val="115000"/>
              </a:lnSpc>
              <a:spcAft>
                <a:spcPts val="1100"/>
              </a:spcAft>
            </a:pPr>
            <a:r>
              <a:rPr sz="1400">
                <a:solidFill>
                  <a:srgbClr val="D9E7EE"/>
                </a:solidFill>
                <a:latin typeface="Trebuchet MS"/>
              </a:rPr>
              <a:t>·   Seeds, and knowing your noise floor</a:t>
            </a:r>
          </a:p>
          <a:p>
            <a:pPr algn="l" marL="256032" indent="-256032">
              <a:lnSpc>
                <a:spcPct val="115000"/>
              </a:lnSpc>
              <a:spcAft>
                <a:spcPts val="1100"/>
              </a:spcAft>
            </a:pPr>
            <a:r>
              <a:rPr sz="1400">
                <a:solidFill>
                  <a:srgbClr val="D9E7EE"/>
                </a:solidFill>
                <a:latin typeface="Trebuchet MS"/>
              </a:rPr>
              <a:t>·   Sanity gates before a run becomes a result</a:t>
            </a:r>
          </a:p>
          <a:p>
            <a:pPr algn="l" marL="256032" indent="-256032">
              <a:lnSpc>
                <a:spcPct val="115000"/>
              </a:lnSpc>
              <a:spcAft>
                <a:spcPts val="1100"/>
              </a:spcAft>
            </a:pPr>
            <a:r>
              <a:rPr sz="1400">
                <a:solidFill>
                  <a:srgbClr val="D9E7EE"/>
                </a:solidFill>
                <a:latin typeface="Trebuchet MS"/>
              </a:rPr>
              <a:t>·   Counting every approximation</a:t>
            </a:r>
          </a:p>
        </p:txBody>
      </p:sp>
      <p:sp>
        <p:nvSpPr>
          <p:cNvPr id="7" name="TextBox 6"/>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V · Experimental
discipline</a:t>
            </a:r>
          </a:p>
        </p:txBody>
      </p:sp>
      <p:sp>
        <p:nvSpPr>
          <p:cNvPr id="8" name="TextBox 7"/>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13 · THE FIRST RULE</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Never touch the test set</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Konooz never entered training, validation, or model selection. Every decision was made on Wojood-internal splits.</a:t>
            </a:r>
          </a:p>
        </p:txBody>
      </p:sp>
      <p:sp>
        <p:nvSpPr>
          <p:cNvPr id="6" name="Rounded Rectangle 5"/>
          <p:cNvSpPr/>
          <p:nvPr/>
        </p:nvSpPr>
        <p:spPr>
          <a:xfrm>
            <a:off x="777240" y="2263648"/>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WHY SO STRICT, WHEN PEEKING WOULD BE UNDETECTABLE?</a:t>
            </a:r>
          </a:p>
          <a:p>
            <a:pPr>
              <a:lnSpc>
                <a:spcPct val="124000"/>
              </a:lnSpc>
            </a:pPr>
            <a:r>
              <a:rPr sz="1500" b="0">
                <a:solidFill>
                  <a:srgbClr val="1A1A1A"/>
                </a:solidFill>
                <a:latin typeface="Trebuchet MS"/>
              </a:rPr>
              <a:t>Because each peek launders test information into your choices. Tune a hyperparameter on the test set and your reported number is no longer an estimate of generalization; it is a measure of how hard you searched.</a:t>
            </a:r>
          </a:p>
        </p:txBody>
      </p:sp>
      <p:sp>
        <p:nvSpPr>
          <p:cNvPr id="7" name="Rectangle 6"/>
          <p:cNvSpPr/>
          <p:nvPr/>
        </p:nvSpPr>
        <p:spPr>
          <a:xfrm>
            <a:off x="777240" y="2263648"/>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V · Experimental
discipline</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777240" y="1737360"/>
            <a:ext cx="2377440" cy="3175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234440"/>
            <a:ext cx="10637215" cy="365760"/>
          </a:xfrm>
          <a:prstGeom prst="rect">
            <a:avLst/>
          </a:prstGeom>
          <a:noFill/>
        </p:spPr>
        <p:txBody>
          <a:bodyPr wrap="square" lIns="0" rIns="0" tIns="0" bIns="0">
            <a:spAutoFit/>
          </a:bodyPr>
          <a:lstStyle/>
          <a:p>
            <a:r>
              <a:rPr sz="1300" b="1">
                <a:solidFill>
                  <a:srgbClr val="9E4A2B"/>
                </a:solidFill>
                <a:latin typeface="Trebuchet MS"/>
              </a:rPr>
              <a:t>SECTION 13 · THE CONSEQUENCE</a:t>
            </a:r>
          </a:p>
        </p:txBody>
      </p:sp>
      <p:sp>
        <p:nvSpPr>
          <p:cNvPr id="4" name="TextBox 3"/>
          <p:cNvSpPr txBox="1"/>
          <p:nvPr/>
        </p:nvSpPr>
        <p:spPr>
          <a:xfrm>
            <a:off x="777240" y="2148840"/>
            <a:ext cx="9905695" cy="2743200"/>
          </a:xfrm>
          <a:prstGeom prst="rect">
            <a:avLst/>
          </a:prstGeom>
          <a:noFill/>
        </p:spPr>
        <p:txBody>
          <a:bodyPr wrap="square" lIns="0" rIns="0" tIns="0" bIns="0">
            <a:spAutoFit/>
          </a:bodyPr>
          <a:lstStyle/>
          <a:p>
            <a:pPr>
              <a:lnSpc>
                <a:spcPct val="122000"/>
              </a:lnSpc>
            </a:pPr>
            <a:r>
              <a:rPr sz="3000" b="0">
                <a:solidFill>
                  <a:srgbClr val="1F5673"/>
                </a:solidFill>
                <a:latin typeface="Trebuchet MS"/>
              </a:rPr>
              <a:t>Once you have tuned on the test set, the number stops being </a:t>
            </a:r>
            <a:r>
              <a:rPr i="1" b="0" sz="3000">
                <a:solidFill>
                  <a:srgbClr val="1F5673"/>
                </a:solidFill>
                <a:latin typeface="Trebuchet MS"/>
              </a:rPr>
              <a:t>about</a:t>
            </a:r>
            <a:r>
              <a:rPr sz="3000" b="0">
                <a:solidFill>
                  <a:srgbClr val="1F5673"/>
                </a:solidFill>
                <a:latin typeface="Trebuchet MS"/>
              </a:rPr>
              <a:t> anything.</a:t>
            </a:r>
          </a:p>
        </p:txBody>
      </p:sp>
      <p:sp>
        <p:nvSpPr>
          <p:cNvPr id="5" name="TextBox 4"/>
          <p:cNvSpPr txBox="1"/>
          <p:nvPr/>
        </p:nvSpPr>
        <p:spPr>
          <a:xfrm>
            <a:off x="777240" y="5120640"/>
            <a:ext cx="9905695" cy="731520"/>
          </a:xfrm>
          <a:prstGeom prst="rect">
            <a:avLst/>
          </a:prstGeom>
          <a:noFill/>
        </p:spPr>
        <p:txBody>
          <a:bodyPr wrap="square" lIns="0" rIns="0" tIns="0" bIns="0">
            <a:spAutoFit/>
          </a:bodyPr>
          <a:lstStyle/>
          <a:p>
            <a:pPr>
              <a:lnSpc>
                <a:spcPct val="120000"/>
              </a:lnSpc>
            </a:pPr>
            <a:r>
              <a:rPr sz="1400" b="0">
                <a:solidFill>
                  <a:srgbClr val="6B6B6B"/>
                </a:solidFill>
                <a:latin typeface="Trebuchet MS"/>
              </a:rPr>
              <a:t>It is still a number. It is printed in a table, it has four decimal places, and it no longer predicts what the system will do on data it has not seen.</a:t>
            </a:r>
          </a:p>
        </p:txBody>
      </p:sp>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V · Experimental
discipline</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13 · EARLY STOPPING</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Model selection, and a safeguard we knowingly forfeited</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b="1" sz="1600">
                <a:solidFill>
                  <a:srgbClr val="6B6B6B"/>
                </a:solidFill>
                <a:latin typeface="Trebuchet MS"/>
              </a:rPr>
              <a:t>Early stopping</a:t>
            </a:r>
            <a:r>
              <a:rPr sz="1600" b="0">
                <a:solidFill>
                  <a:srgbClr val="6B6B6B"/>
                </a:solidFill>
                <a:latin typeface="Trebuchet MS"/>
              </a:rPr>
              <a:t> trains until a validation metric stops improving, then keeps the best checkpoint. It prevents overfitting. Note the subtlety in our ensemble runs:</a:t>
            </a:r>
          </a:p>
        </p:txBody>
      </p:sp>
      <p:sp>
        <p:nvSpPr>
          <p:cNvPr id="6" name="TextBox 5"/>
          <p:cNvSpPr txBox="1"/>
          <p:nvPr/>
        </p:nvSpPr>
        <p:spPr>
          <a:xfrm>
            <a:off x="777240" y="2263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We trained on </a:t>
            </a:r>
            <a:r>
              <a:rPr b="1" sz="1700">
                <a:solidFill>
                  <a:srgbClr val="1A1A1A"/>
                </a:solidFill>
                <a:latin typeface="Trebuchet MS"/>
              </a:rPr>
              <a:t>train + validation combined</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So there was no held-out validation data left</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So early stopping was impossible </a:t>
            </a:r>
            <a:r>
              <a:rPr b="1" sz="1700">
                <a:solidFill>
                  <a:srgbClr val="1A1A1A"/>
                </a:solidFill>
                <a:latin typeface="Trebuchet MS"/>
              </a:rPr>
              <a:t>by construction</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We fixed the schedule at </a:t>
            </a:r>
            <a:r>
              <a:rPr b="1" sz="1700">
                <a:solidFill>
                  <a:srgbClr val="1A1A1A"/>
                </a:solidFill>
                <a:latin typeface="Trebuchet MS"/>
              </a:rPr>
              <a:t>29 epochs</a:t>
            </a:r>
            <a:r>
              <a:rPr sz="1700" b="0">
                <a:solidFill>
                  <a:srgbClr val="1A1A1A"/>
                </a:solidFill>
                <a:latin typeface="Trebuchet MS"/>
              </a:rPr>
              <a:t>: the epoch where the earlier train-only model peaked, on a curve that was flat between epochs 26 and 33</a:t>
            </a:r>
          </a:p>
        </p:txBody>
      </p:sp>
      <p:sp>
        <p:nvSpPr>
          <p:cNvPr id="7" name="Rounded Rectangle 6"/>
          <p:cNvSpPr/>
          <p:nvPr/>
        </p:nvSpPr>
        <p:spPr>
          <a:xfrm>
            <a:off x="777240" y="4165854"/>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THE REASONING CHAIN IS THE POINT</a:t>
            </a:r>
          </a:p>
          <a:p>
            <a:pPr>
              <a:lnSpc>
                <a:spcPct val="124000"/>
              </a:lnSpc>
            </a:pPr>
            <a:r>
              <a:rPr sz="1500" b="0">
                <a:solidFill>
                  <a:srgbClr val="1A1A1A"/>
                </a:solidFill>
                <a:latin typeface="Trebuchet MS"/>
              </a:rPr>
              <a:t>We did not silently drop early stopping. We noted that our design forfeited it, borrowed the schedule from a comparable run, and verified the target region was flat so small errors would not hurt. </a:t>
            </a:r>
            <a:r>
              <a:rPr b="1" sz="1500">
                <a:solidFill>
                  <a:srgbClr val="1A1A1A"/>
                </a:solidFill>
                <a:latin typeface="Trebuchet MS"/>
              </a:rPr>
              <a:t>When you give up a safeguard, say so and explain what replaces it.</a:t>
            </a:r>
          </a:p>
        </p:txBody>
      </p:sp>
      <p:sp>
        <p:nvSpPr>
          <p:cNvPr id="8" name="Rectangle 7"/>
          <p:cNvSpPr/>
          <p:nvPr/>
        </p:nvSpPr>
        <p:spPr>
          <a:xfrm>
            <a:off x="777240" y="4165854"/>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V · Experimental
discipline</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13 · KNOWING WHAT COUNTS AS A REAL IMPROVEMENT</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Seeds, reproducibility, and your noise floor</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Neural training is stochastic. Fixing the random seed makes a run reproducible. Our seeds (13, 42, 77) are recorded for every experiment, alongside git commit hashes and data checksums, in </a:t>
            </a:r>
            <a:r>
              <a:rPr sz="1440" b="0">
                <a:solidFill>
                  <a:srgbClr val="1F5673"/>
                </a:solidFill>
                <a:latin typeface="Consolas"/>
              </a:rPr>
              <a:t>experiments/ledger.tsv</a:t>
            </a:r>
            <a:r>
              <a:rPr sz="1600" b="0">
                <a:solidFill>
                  <a:srgbClr val="6B6B6B"/>
                </a:solidFill>
                <a:latin typeface="Trebuchet MS"/>
              </a:rPr>
              <a:t>.</a:t>
            </a:r>
          </a:p>
        </p:txBody>
      </p:sp>
      <p:sp>
        <p:nvSpPr>
          <p:cNvPr id="6" name="Rounded Rectangle 5"/>
          <p:cNvSpPr/>
          <p:nvPr/>
        </p:nvSpPr>
        <p:spPr>
          <a:xfrm>
            <a:off x="777240" y="2517648"/>
            <a:ext cx="2467279" cy="137160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2700" b="1">
                <a:solidFill>
                  <a:srgbClr val="1F5673"/>
                </a:solidFill>
                <a:latin typeface="Trebuchet MS"/>
              </a:rPr>
              <a:t>0.9248</a:t>
            </a:r>
          </a:p>
          <a:p>
            <a:pPr algn="ctr">
              <a:lnSpc>
                <a:spcPct val="115000"/>
              </a:lnSpc>
              <a:spcBef>
                <a:spcPts val="500"/>
              </a:spcBef>
            </a:pPr>
            <a:r>
              <a:rPr sz="1250" b="0">
                <a:solidFill>
                  <a:srgbClr val="6B6B6B"/>
                </a:solidFill>
                <a:latin typeface="Trebuchet MS"/>
              </a:rPr>
              <a:t>seed 13</a:t>
            </a:r>
          </a:p>
        </p:txBody>
      </p:sp>
      <p:sp>
        <p:nvSpPr>
          <p:cNvPr id="7" name="Rounded Rectangle 6"/>
          <p:cNvSpPr/>
          <p:nvPr/>
        </p:nvSpPr>
        <p:spPr>
          <a:xfrm>
            <a:off x="3500551" y="2517648"/>
            <a:ext cx="2467279" cy="137160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2700" b="1">
                <a:solidFill>
                  <a:srgbClr val="1F5673"/>
                </a:solidFill>
                <a:latin typeface="Trebuchet MS"/>
              </a:rPr>
              <a:t>0.9253</a:t>
            </a:r>
          </a:p>
          <a:p>
            <a:pPr algn="ctr">
              <a:lnSpc>
                <a:spcPct val="115000"/>
              </a:lnSpc>
              <a:spcBef>
                <a:spcPts val="500"/>
              </a:spcBef>
            </a:pPr>
            <a:r>
              <a:rPr sz="1250" b="0">
                <a:solidFill>
                  <a:srgbClr val="6B6B6B"/>
                </a:solidFill>
                <a:latin typeface="Trebuchet MS"/>
              </a:rPr>
              <a:t>seed 42</a:t>
            </a:r>
          </a:p>
        </p:txBody>
      </p:sp>
      <p:sp>
        <p:nvSpPr>
          <p:cNvPr id="8" name="Rounded Rectangle 7"/>
          <p:cNvSpPr/>
          <p:nvPr/>
        </p:nvSpPr>
        <p:spPr>
          <a:xfrm>
            <a:off x="6223863" y="2517648"/>
            <a:ext cx="2467279" cy="137160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2700" b="1">
                <a:solidFill>
                  <a:srgbClr val="1F5673"/>
                </a:solidFill>
                <a:latin typeface="Trebuchet MS"/>
              </a:rPr>
              <a:t>0.9268</a:t>
            </a:r>
          </a:p>
          <a:p>
            <a:pPr algn="ctr">
              <a:lnSpc>
                <a:spcPct val="115000"/>
              </a:lnSpc>
              <a:spcBef>
                <a:spcPts val="500"/>
              </a:spcBef>
            </a:pPr>
            <a:r>
              <a:rPr sz="1250" b="0">
                <a:solidFill>
                  <a:srgbClr val="6B6B6B"/>
                </a:solidFill>
                <a:latin typeface="Trebuchet MS"/>
              </a:rPr>
              <a:t>seed 77</a:t>
            </a:r>
          </a:p>
        </p:txBody>
      </p:sp>
      <p:sp>
        <p:nvSpPr>
          <p:cNvPr id="9" name="Rounded Rectangle 8"/>
          <p:cNvSpPr/>
          <p:nvPr/>
        </p:nvSpPr>
        <p:spPr>
          <a:xfrm>
            <a:off x="8947175" y="2517648"/>
            <a:ext cx="2467279" cy="1371600"/>
          </a:xfrm>
          <a:prstGeom prst="roundRect">
            <a:avLst>
              <a:gd name="adj" fmla="val 4000"/>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28016" bIns="128016"/>
          <a:lstStyle/>
          <a:p>
            <a:pPr algn="ctr"/>
            <a:r>
              <a:rPr sz="2700" b="1">
                <a:solidFill>
                  <a:srgbClr val="1F5673"/>
                </a:solidFill>
                <a:latin typeface="Trebuchet MS"/>
              </a:rPr>
              <a:t>≈ 0.2</a:t>
            </a:r>
          </a:p>
          <a:p>
            <a:pPr algn="ctr">
              <a:lnSpc>
                <a:spcPct val="115000"/>
              </a:lnSpc>
              <a:spcBef>
                <a:spcPts val="500"/>
              </a:spcBef>
            </a:pPr>
            <a:r>
              <a:rPr sz="1250" b="0">
                <a:solidFill>
                  <a:srgbClr val="6B6B6B"/>
                </a:solidFill>
                <a:latin typeface="Trebuchet MS"/>
              </a:rPr>
              <a:t>points of spread: </a:t>
            </a:r>
            <a:r>
              <a:rPr b="1" sz="1250">
                <a:solidFill>
                  <a:srgbClr val="6B6B6B"/>
                </a:solidFill>
                <a:latin typeface="Trebuchet MS"/>
              </a:rPr>
              <a:t>the noise floor</a:t>
            </a:r>
          </a:p>
        </p:txBody>
      </p:sp>
      <p:sp>
        <p:nvSpPr>
          <p:cNvPr id="10" name="Rounded Rectangle 9"/>
          <p:cNvSpPr/>
          <p:nvPr/>
        </p:nvSpPr>
        <p:spPr>
          <a:xfrm>
            <a:off x="777240" y="4108704"/>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THE NUMBER THAT SAVES YOU FROM FOOLING YOURSELF</a:t>
            </a:r>
          </a:p>
          <a:p>
            <a:pPr>
              <a:lnSpc>
                <a:spcPct val="124000"/>
              </a:lnSpc>
            </a:pPr>
            <a:r>
              <a:rPr sz="1500" b="0">
                <a:solidFill>
                  <a:srgbClr val="1A1A1A"/>
                </a:solidFill>
                <a:latin typeface="Trebuchet MS"/>
              </a:rPr>
              <a:t>Any “improvement” smaller than your seed spread is indistinguishable from luck. This is why single-run comparisons of small deltas are untrustworthy, and why measuring the spread once is worth more than one extra experiment.</a:t>
            </a:r>
          </a:p>
        </p:txBody>
      </p:sp>
      <p:sp>
        <p:nvSpPr>
          <p:cNvPr id="11" name="Rectangle 10"/>
          <p:cNvSpPr/>
          <p:nvPr/>
        </p:nvSpPr>
        <p:spPr>
          <a:xfrm>
            <a:off x="777240" y="4108704"/>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V · Experimental
discipline</a:t>
            </a:r>
          </a:p>
        </p:txBody>
      </p:sp>
      <p:sp>
        <p:nvSpPr>
          <p:cNvPr id="13" name="TextBox 12"/>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13 · CATCHING A BROKEN RUN EARLY</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Sanity gates before trusting a run</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Our Kaggle jobs write a </a:t>
            </a:r>
            <a:r>
              <a:rPr b="1" sz="1600">
                <a:solidFill>
                  <a:srgbClr val="6B6B6B"/>
                </a:solidFill>
                <a:latin typeface="Trebuchet MS"/>
              </a:rPr>
              <a:t>completion sentinel</a:t>
            </a:r>
            <a:r>
              <a:rPr sz="1600" b="0">
                <a:solidFill>
                  <a:srgbClr val="6B6B6B"/>
                </a:solidFill>
                <a:latin typeface="Trebuchet MS"/>
              </a:rPr>
              <a:t> with pass/fail checks, and we refuse to use the output unless it passes:</a:t>
            </a:r>
          </a:p>
        </p:txBody>
      </p:sp>
      <p:sp>
        <p:nvSpPr>
          <p:cNvPr id="6" name="TextBox 5"/>
          <p:cNvSpPr txBox="1"/>
          <p:nvPr/>
        </p:nvSpPr>
        <p:spPr>
          <a:xfrm>
            <a:off x="777240" y="226364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every seed above a minimum F1</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the union a </a:t>
            </a:r>
            <a:r>
              <a:rPr b="1" sz="1700">
                <a:solidFill>
                  <a:srgbClr val="1A1A1A"/>
                </a:solidFill>
                <a:latin typeface="Trebuchet MS"/>
              </a:rPr>
              <a:t>superset</a:t>
            </a:r>
            <a:r>
              <a:rPr sz="1700" b="0">
                <a:solidFill>
                  <a:srgbClr val="1A1A1A"/>
                </a:solidFill>
                <a:latin typeface="Trebuchet MS"/>
              </a:rPr>
              <a:t> of the individual seeds (a structural invariant: if it fails, the merge logic is wrong)</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a minimum number of predicted spans</a:t>
            </a:r>
          </a:p>
          <a:p>
            <a:pPr marL="256032" indent="-256032">
              <a:lnSpc>
                <a:spcPct val="122000"/>
              </a:lnSpc>
              <a:spcBef>
                <a:spcPts val="0"/>
              </a:spcBef>
              <a:spcAft>
                <a:spcPts val="900"/>
              </a:spcAft>
            </a:pPr>
            <a:r>
              <a:rPr sz="1700">
                <a:solidFill>
                  <a:srgbClr val="9E4A2B"/>
                </a:solidFill>
                <a:latin typeface="Trebuchet MS"/>
              </a:rPr>
              <a:t>▪  </a:t>
            </a:r>
            <a:r>
              <a:rPr sz="1700" b="0">
                <a:solidFill>
                  <a:srgbClr val="1A1A1A"/>
                </a:solidFill>
                <a:latin typeface="Trebuchet MS"/>
              </a:rPr>
              <a:t>a full </a:t>
            </a:r>
            <a:r>
              <a:rPr b="1" sz="1700">
                <a:solidFill>
                  <a:srgbClr val="1A1A1A"/>
                </a:solidFill>
                <a:latin typeface="Trebuchet MS"/>
              </a:rPr>
              <a:t>submission-format rehearsal</a:t>
            </a:r>
          </a:p>
        </p:txBody>
      </p:sp>
      <p:sp>
        <p:nvSpPr>
          <p:cNvPr id="7" name="Rounded Rectangle 6"/>
          <p:cNvSpPr/>
          <p:nvPr/>
        </p:nvSpPr>
        <p:spPr>
          <a:xfrm>
            <a:off x="777240" y="4165854"/>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COST ASYMMETRY</a:t>
            </a:r>
          </a:p>
          <a:p>
            <a:pPr>
              <a:lnSpc>
                <a:spcPct val="124000"/>
              </a:lnSpc>
            </a:pPr>
            <a:r>
              <a:rPr sz="1500" b="0">
                <a:solidFill>
                  <a:srgbClr val="1A1A1A"/>
                </a:solidFill>
                <a:latin typeface="Trebuchet MS"/>
              </a:rPr>
              <a:t>Catching a broken run before it becomes a result is far cheaper than discovering it after it has become a table in your paper, and cheaper again than discovering it after a reviewer does.</a:t>
            </a:r>
          </a:p>
        </p:txBody>
      </p:sp>
      <p:sp>
        <p:nvSpPr>
          <p:cNvPr id="8" name="Rectangle 7"/>
          <p:cNvSpPr/>
          <p:nvPr/>
        </p:nvSpPr>
        <p:spPr>
          <a:xfrm>
            <a:off x="777240" y="4165854"/>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V · Experimental
discipline</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13 · THE RECURRING PATTERN, GATHERED IN ONE PLACE</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Counting your approximations</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572768"/>
          <a:ext cx="10637214" cy="2011680"/>
        </p:xfrm>
        <a:graphic>
          <a:graphicData uri="http://schemas.openxmlformats.org/drawingml/2006/table">
            <a:tbl>
              <a:tblPr firstRow="0" bandRow="0">
                <a:tableStyleId>{5C22544A-7EE6-4342-B048-85BDC9FD1C3A}</a:tableStyleId>
              </a:tblPr>
              <a:tblGrid>
                <a:gridCol w="4923008"/>
                <a:gridCol w="3076880"/>
                <a:gridCol w="2637326"/>
              </a:tblGrid>
              <a:tr h="402336">
                <a:tc>
                  <a:txBody>
                    <a:bodyPr wrap="square"/>
                    <a:lstStyle/>
                    <a:p>
                      <a:pPr>
                        <a:lnSpc>
                          <a:spcPct val="110000"/>
                        </a:lnSpc>
                      </a:pPr>
                      <a:r>
                        <a:rPr sz="1500" b="1">
                          <a:solidFill>
                            <a:srgbClr val="FFFFFF"/>
                          </a:solidFill>
                          <a:latin typeface="Trebuchet MS"/>
                        </a:rPr>
                        <a:t>Approximation</a:t>
                      </a:r>
                    </a:p>
                  </a:txBody>
                  <a:tcPr marL="118872" marR="91440" marT="27432" marB="27432" anchor="ctr">
                    <a:solidFill>
                      <a:srgbClr val="1F5673"/>
                    </a:solidFill>
                  </a:tcPr>
                </a:tc>
                <a:tc>
                  <a:txBody>
                    <a:bodyPr wrap="square"/>
                    <a:lstStyle/>
                    <a:p>
                      <a:pPr>
                        <a:lnSpc>
                          <a:spcPct val="110000"/>
                        </a:lnSpc>
                      </a:pPr>
                      <a:r>
                        <a:rPr sz="1500" b="1">
                          <a:solidFill>
                            <a:srgbClr val="FFFFFF"/>
                          </a:solidFill>
                          <a:latin typeface="Trebuchet MS"/>
                        </a:rPr>
                        <a:t>Where</a:t>
                      </a:r>
                    </a:p>
                  </a:txBody>
                  <a:tcPr marL="118872" marR="91440" marT="27432" marB="27432" anchor="ctr">
                    <a:solidFill>
                      <a:srgbClr val="1F5673"/>
                    </a:solidFill>
                  </a:tcPr>
                </a:tc>
                <a:tc>
                  <a:txBody>
                    <a:bodyPr wrap="square"/>
                    <a:lstStyle/>
                    <a:p>
                      <a:pPr algn="ctr">
                        <a:lnSpc>
                          <a:spcPct val="110000"/>
                        </a:lnSpc>
                      </a:pPr>
                      <a:r>
                        <a:rPr sz="1500" b="1">
                          <a:solidFill>
                            <a:srgbClr val="FFFFFF"/>
                          </a:solidFill>
                          <a:latin typeface="Trebuchet MS"/>
                        </a:rPr>
                        <a:t>Count</a:t>
                      </a:r>
                    </a:p>
                  </a:txBody>
                  <a:tcPr marL="118872" marR="91440" marT="27432" marB="27432" anchor="ctr">
                    <a:solidFill>
                      <a:srgbClr val="1F5673"/>
                    </a:solidFill>
                  </a:tcPr>
                </a:tc>
              </a:tr>
              <a:tr h="402336">
                <a:tc>
                  <a:txBody>
                    <a:bodyPr wrap="square"/>
                    <a:lstStyle/>
                    <a:p>
                      <a:pPr>
                        <a:lnSpc>
                          <a:spcPct val="110000"/>
                        </a:lnSpc>
                      </a:pPr>
                      <a:r>
                        <a:rPr sz="1500" b="0">
                          <a:solidFill>
                            <a:srgbClr val="1A1A1A"/>
                          </a:solidFill>
                          <a:latin typeface="Trebuchet MS"/>
                        </a:rPr>
                        <a:t>Orphan </a:t>
                      </a:r>
                      <a:r>
                        <a:rPr sz="1350" b="0">
                          <a:solidFill>
                            <a:srgbClr val="1F5673"/>
                          </a:solidFill>
                          <a:latin typeface="Consolas"/>
                        </a:rPr>
                        <a:t>I-</a:t>
                      </a:r>
                      <a:r>
                        <a:rPr sz="1500" b="0">
                          <a:solidFill>
                            <a:srgbClr val="1A1A1A"/>
                          </a:solidFill>
                          <a:latin typeface="Trebuchet MS"/>
                        </a:rPr>
                        <a:t> repaired into a new span</a:t>
                      </a:r>
                    </a:p>
                  </a:txBody>
                  <a:tcPr marL="118872" marR="91440" marT="27432" marB="27432" anchor="ctr">
                    <a:solidFill>
                      <a:srgbClr val="FDFCF9"/>
                    </a:solidFill>
                  </a:tcPr>
                </a:tc>
                <a:tc>
                  <a:txBody>
                    <a:bodyPr wrap="square"/>
                    <a:lstStyle/>
                    <a:p>
                      <a:pPr>
                        <a:lnSpc>
                          <a:spcPct val="110000"/>
                        </a:lnSpc>
                      </a:pPr>
                      <a:r>
                        <a:rPr sz="1500" b="0">
                          <a:solidFill>
                            <a:srgbClr val="1A1A1A"/>
                          </a:solidFill>
                          <a:latin typeface="Trebuchet MS"/>
                        </a:rPr>
                        <a:t>Section 6, decoding</a:t>
                      </a:r>
                    </a:p>
                  </a:txBody>
                  <a:tcPr marL="118872" marR="91440" marT="27432" marB="27432" anchor="ctr">
                    <a:solidFill>
                      <a:srgbClr val="FDFCF9"/>
                    </a:solidFill>
                  </a:tcPr>
                </a:tc>
                <a:tc>
                  <a:txBody>
                    <a:bodyPr wrap="square"/>
                    <a:lstStyle/>
                    <a:p>
                      <a:pPr algn="ctr">
                        <a:lnSpc>
                          <a:spcPct val="110000"/>
                        </a:lnSpc>
                      </a:pPr>
                      <a:r>
                        <a:rPr b="1" sz="1500">
                          <a:solidFill>
                            <a:srgbClr val="1A1A1A"/>
                          </a:solidFill>
                          <a:latin typeface="Trebuchet MS"/>
                        </a:rPr>
                        <a:t>201</a:t>
                      </a:r>
                    </a:p>
                  </a:txBody>
                  <a:tcPr marL="118872" marR="91440" marT="27432" marB="27432" anchor="ctr">
                    <a:solidFill>
                      <a:srgbClr val="FDFCF9"/>
                    </a:solidFill>
                  </a:tcPr>
                </a:tc>
              </a:tr>
              <a:tr h="402336">
                <a:tc>
                  <a:txBody>
                    <a:bodyPr wrap="square"/>
                    <a:lstStyle/>
                    <a:p>
                      <a:pPr>
                        <a:lnSpc>
                          <a:spcPct val="110000"/>
                        </a:lnSpc>
                      </a:pPr>
                      <a:r>
                        <a:rPr sz="1500" b="0">
                          <a:solidFill>
                            <a:srgbClr val="1A1A1A"/>
                          </a:solidFill>
                          <a:latin typeface="Trebuchet MS"/>
                        </a:rPr>
                        <a:t>Same-type overlaps dropped from the union</a:t>
                      </a:r>
                    </a:p>
                  </a:txBody>
                  <a:tcPr marL="118872" marR="91440" marT="27432" marB="27432" anchor="ctr">
                    <a:solidFill>
                      <a:srgbClr val="F4F1EA"/>
                    </a:solidFill>
                  </a:tcPr>
                </a:tc>
                <a:tc>
                  <a:txBody>
                    <a:bodyPr wrap="square"/>
                    <a:lstStyle/>
                    <a:p>
                      <a:pPr>
                        <a:lnSpc>
                          <a:spcPct val="110000"/>
                        </a:lnSpc>
                      </a:pPr>
                      <a:r>
                        <a:rPr sz="1500" b="0">
                          <a:solidFill>
                            <a:srgbClr val="1A1A1A"/>
                          </a:solidFill>
                          <a:latin typeface="Trebuchet MS"/>
                        </a:rPr>
                        <a:t>Section 7, ensembling</a:t>
                      </a:r>
                    </a:p>
                  </a:txBody>
                  <a:tcPr marL="118872" marR="91440" marT="27432" marB="27432" anchor="ctr">
                    <a:solidFill>
                      <a:srgbClr val="F4F1EA"/>
                    </a:solidFill>
                  </a:tcPr>
                </a:tc>
                <a:tc>
                  <a:txBody>
                    <a:bodyPr wrap="square"/>
                    <a:lstStyle/>
                    <a:p>
                      <a:pPr algn="ctr">
                        <a:lnSpc>
                          <a:spcPct val="110000"/>
                        </a:lnSpc>
                      </a:pPr>
                      <a:r>
                        <a:rPr b="1" sz="1500">
                          <a:solidFill>
                            <a:srgbClr val="1A1A1A"/>
                          </a:solidFill>
                          <a:latin typeface="Trebuchet MS"/>
                        </a:rPr>
                        <a:t>698</a:t>
                      </a:r>
                    </a:p>
                  </a:txBody>
                  <a:tcPr marL="118872" marR="91440" marT="27432" marB="27432" anchor="ctr">
                    <a:solidFill>
                      <a:srgbClr val="F4F1EA"/>
                    </a:solidFill>
                  </a:tcPr>
                </a:tc>
              </a:tr>
              <a:tr h="402336">
                <a:tc>
                  <a:txBody>
                    <a:bodyPr wrap="square"/>
                    <a:lstStyle/>
                    <a:p>
                      <a:pPr>
                        <a:lnSpc>
                          <a:spcPct val="110000"/>
                        </a:lnSpc>
                      </a:pPr>
                      <a:r>
                        <a:rPr sz="1500" b="0">
                          <a:solidFill>
                            <a:srgbClr val="1A1A1A"/>
                          </a:solidFill>
                          <a:latin typeface="Trebuchet MS"/>
                        </a:rPr>
                        <a:t>Untyped entity sides (UNK)</a:t>
                      </a:r>
                    </a:p>
                  </a:txBody>
                  <a:tcPr marL="118872" marR="91440" marT="27432" marB="27432" anchor="ctr">
                    <a:solidFill>
                      <a:srgbClr val="FDFCF9"/>
                    </a:solidFill>
                  </a:tcPr>
                </a:tc>
                <a:tc>
                  <a:txBody>
                    <a:bodyPr wrap="square"/>
                    <a:lstStyle/>
                    <a:p>
                      <a:pPr>
                        <a:lnSpc>
                          <a:spcPct val="110000"/>
                        </a:lnSpc>
                      </a:pPr>
                      <a:r>
                        <a:rPr sz="1500" b="0">
                          <a:solidFill>
                            <a:srgbClr val="1A1A1A"/>
                          </a:solidFill>
                          <a:latin typeface="Trebuchet MS"/>
                        </a:rPr>
                        <a:t>Section 8, type recovery</a:t>
                      </a:r>
                    </a:p>
                  </a:txBody>
                  <a:tcPr marL="118872" marR="91440" marT="27432" marB="27432" anchor="ctr">
                    <a:solidFill>
                      <a:srgbClr val="FDFCF9"/>
                    </a:solidFill>
                  </a:tcPr>
                </a:tc>
                <a:tc>
                  <a:txBody>
                    <a:bodyPr wrap="square"/>
                    <a:lstStyle/>
                    <a:p>
                      <a:pPr algn="ctr">
                        <a:lnSpc>
                          <a:spcPct val="110000"/>
                        </a:lnSpc>
                      </a:pPr>
                      <a:r>
                        <a:rPr b="1" sz="1500">
                          <a:solidFill>
                            <a:srgbClr val="1A1A1A"/>
                          </a:solidFill>
                          <a:latin typeface="Trebuchet MS"/>
                        </a:rPr>
                        <a:t>96 subj / 91 obj</a:t>
                      </a:r>
                    </a:p>
                  </a:txBody>
                  <a:tcPr marL="118872" marR="91440" marT="27432" marB="27432" anchor="ctr">
                    <a:solidFill>
                      <a:srgbClr val="FDFCF9"/>
                    </a:solidFill>
                  </a:tcPr>
                </a:tc>
              </a:tr>
              <a:tr h="402336">
                <a:tc>
                  <a:txBody>
                    <a:bodyPr wrap="square"/>
                    <a:lstStyle/>
                    <a:p>
                      <a:pPr>
                        <a:lnSpc>
                          <a:spcPct val="110000"/>
                        </a:lnSpc>
                      </a:pPr>
                      <a:r>
                        <a:rPr sz="1500" b="0">
                          <a:solidFill>
                            <a:srgbClr val="1A1A1A"/>
                          </a:solidFill>
                          <a:latin typeface="Trebuchet MS"/>
                        </a:rPr>
                        <a:t>Markers lost to 512-token truncation</a:t>
                      </a:r>
                    </a:p>
                  </a:txBody>
                  <a:tcPr marL="118872" marR="91440" marT="27432" marB="27432" anchor="ctr">
                    <a:solidFill>
                      <a:srgbClr val="F4F1EA"/>
                    </a:solidFill>
                  </a:tcPr>
                </a:tc>
                <a:tc>
                  <a:txBody>
                    <a:bodyPr wrap="square"/>
                    <a:lstStyle/>
                    <a:p>
                      <a:pPr>
                        <a:lnSpc>
                          <a:spcPct val="110000"/>
                        </a:lnSpc>
                      </a:pPr>
                      <a:r>
                        <a:rPr sz="1500" b="0">
                          <a:solidFill>
                            <a:srgbClr val="1A1A1A"/>
                          </a:solidFill>
                          <a:latin typeface="Trebuchet MS"/>
                        </a:rPr>
                        <a:t>Section 8, marking</a:t>
                      </a:r>
                    </a:p>
                  </a:txBody>
                  <a:tcPr marL="118872" marR="91440" marT="27432" marB="27432" anchor="ctr">
                    <a:solidFill>
                      <a:srgbClr val="F4F1EA"/>
                    </a:solidFill>
                  </a:tcPr>
                </a:tc>
                <a:tc>
                  <a:txBody>
                    <a:bodyPr wrap="square"/>
                    <a:lstStyle/>
                    <a:p>
                      <a:pPr algn="ctr">
                        <a:lnSpc>
                          <a:spcPct val="110000"/>
                        </a:lnSpc>
                      </a:pPr>
                      <a:r>
                        <a:rPr b="1" sz="1500">
                          <a:solidFill>
                            <a:srgbClr val="1A1A1A"/>
                          </a:solidFill>
                          <a:latin typeface="Trebuchet MS"/>
                        </a:rPr>
                        <a:t>0</a:t>
                      </a:r>
                    </a:p>
                  </a:txBody>
                  <a:tcPr marL="118872" marR="91440" marT="27432" marB="27432" anchor="ctr">
                    <a:solidFill>
                      <a:srgbClr val="F4F1EA"/>
                    </a:solidFill>
                  </a:tcPr>
                </a:tc>
              </a:tr>
            </a:tbl>
          </a:graphicData>
        </a:graphic>
      </p:graphicFrame>
      <p:sp>
        <p:nvSpPr>
          <p:cNvPr id="6" name="TextBox 5"/>
          <p:cNvSpPr txBox="1"/>
          <p:nvPr/>
        </p:nvSpPr>
        <p:spPr>
          <a:xfrm>
            <a:off x="777240" y="3785615"/>
            <a:ext cx="10637215" cy="365760"/>
          </a:xfrm>
          <a:prstGeom prst="rect">
            <a:avLst/>
          </a:prstGeom>
          <a:noFill/>
        </p:spPr>
        <p:txBody>
          <a:bodyPr wrap="square" lIns="0" rIns="0" tIns="0" bIns="0">
            <a:spAutoFit/>
          </a:bodyPr>
          <a:lstStyle/>
          <a:p>
            <a:pPr>
              <a:lnSpc>
                <a:spcPct val="125000"/>
              </a:lnSpc>
            </a:pPr>
            <a:r>
              <a:rPr sz="1600" b="0">
                <a:solidFill>
                  <a:srgbClr val="6B6B6B"/>
                </a:solidFill>
                <a:latin typeface="Trebuchet MS"/>
              </a:rPr>
              <a:t>Every place we approximate, we count and we report.</a:t>
            </a:r>
          </a:p>
        </p:txBody>
      </p:sp>
      <p:sp>
        <p:nvSpPr>
          <p:cNvPr id="7" name="Rounded Rectangle 6"/>
          <p:cNvSpPr/>
          <p:nvPr/>
        </p:nvSpPr>
        <p:spPr>
          <a:xfrm>
            <a:off x="777240" y="4222496"/>
            <a:ext cx="10637215" cy="136702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WHAT THIS ACTUALLY BUYS</a:t>
            </a:r>
          </a:p>
          <a:p>
            <a:pPr>
              <a:lnSpc>
                <a:spcPct val="124000"/>
              </a:lnSpc>
            </a:pPr>
            <a:r>
              <a:rPr sz="1500" b="0">
                <a:solidFill>
                  <a:srgbClr val="1A1A1A"/>
                </a:solidFill>
                <a:latin typeface="Trebuchet MS"/>
              </a:rPr>
              <a:t>A reader can judge whether an approximation invalidates our conclusions </a:t>
            </a:r>
            <a:r>
              <a:rPr b="1" sz="1500">
                <a:solidFill>
                  <a:srgbClr val="1A1A1A"/>
                </a:solidFill>
                <a:latin typeface="Trebuchet MS"/>
              </a:rPr>
              <a:t>only if we tell them how often it fired</a:t>
            </a:r>
            <a:r>
              <a:rPr sz="1500" b="0">
                <a:solidFill>
                  <a:srgbClr val="1A1A1A"/>
                </a:solidFill>
                <a:latin typeface="Trebuchet MS"/>
              </a:rPr>
              <a:t>. This is precisely what separates a documented limitation from a hidden bug, and it costs a counter and a line of text.</a:t>
            </a:r>
          </a:p>
        </p:txBody>
      </p:sp>
      <p:sp>
        <p:nvSpPr>
          <p:cNvPr id="8" name="Rectangle 7"/>
          <p:cNvSpPr/>
          <p:nvPr/>
        </p:nvSpPr>
        <p:spPr>
          <a:xfrm>
            <a:off x="777240" y="4222496"/>
            <a:ext cx="44450" cy="136702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V · Experimental
discipline</a:t>
            </a:r>
          </a:p>
        </p:txBody>
      </p:sp>
      <p:sp>
        <p:nvSpPr>
          <p:cNvPr id="10" name="TextBox 9"/>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F5673"/>
        </a:solidFill>
        <a:effectLst/>
      </p:bgPr>
    </p:bg>
    <p:spTree>
      <p:nvGrpSpPr>
        <p:cNvPr id="1" name=""/>
        <p:cNvGrpSpPr/>
        <p:nvPr/>
      </p:nvGrpSpPr>
      <p:grpSpPr/>
      <p:sp>
        <p:nvSpPr>
          <p:cNvPr id="2" name="TextBox 1"/>
          <p:cNvSpPr txBox="1"/>
          <p:nvPr/>
        </p:nvSpPr>
        <p:spPr>
          <a:xfrm>
            <a:off x="1005840" y="1371600"/>
            <a:ext cx="5120640" cy="1097280"/>
          </a:xfrm>
          <a:prstGeom prst="rect">
            <a:avLst/>
          </a:prstGeom>
          <a:noFill/>
        </p:spPr>
        <p:txBody>
          <a:bodyPr wrap="square" lIns="0" rIns="0" tIns="0" bIns="0">
            <a:spAutoFit/>
          </a:bodyPr>
          <a:lstStyle/>
          <a:p>
            <a:r>
              <a:rPr sz="1500" b="1">
                <a:solidFill>
                  <a:srgbClr val="E8A57C"/>
                </a:solidFill>
                <a:latin typeface="Trebuchet MS"/>
              </a:rPr>
              <a:t>PART VI</a:t>
            </a:r>
          </a:p>
        </p:txBody>
      </p:sp>
      <p:sp>
        <p:nvSpPr>
          <p:cNvPr id="3" name="TextBox 2"/>
          <p:cNvSpPr txBox="1"/>
          <p:nvPr/>
        </p:nvSpPr>
        <p:spPr>
          <a:xfrm>
            <a:off x="1005840" y="1828800"/>
            <a:ext cx="5120640" cy="2011680"/>
          </a:xfrm>
          <a:prstGeom prst="rect">
            <a:avLst/>
          </a:prstGeom>
          <a:noFill/>
        </p:spPr>
        <p:txBody>
          <a:bodyPr wrap="square" lIns="0" rIns="0" tIns="0" bIns="0">
            <a:spAutoFit/>
          </a:bodyPr>
          <a:lstStyle/>
          <a:p>
            <a:pPr>
              <a:lnSpc>
                <a:spcPct val="110000"/>
              </a:lnSpc>
            </a:pPr>
            <a:r>
              <a:rPr sz="3400" b="1">
                <a:solidFill>
                  <a:srgbClr val="FFFFFF"/>
                </a:solidFill>
                <a:latin typeface="Trebuchet MS"/>
              </a:rPr>
              <a:t>Glossary and</a:t>
            </a:r>
            <a:br/>
            <a:r>
              <a:rPr sz="3400" b="1">
                <a:solidFill>
                  <a:srgbClr val="FFFFFF"/>
                </a:solidFill>
                <a:latin typeface="Trebuchet MS"/>
              </a:rPr>
              <a:t>where to go next</a:t>
            </a:r>
          </a:p>
        </p:txBody>
      </p:sp>
      <p:sp>
        <p:nvSpPr>
          <p:cNvPr id="4" name="TextBox 3"/>
          <p:cNvSpPr txBox="1"/>
          <p:nvPr/>
        </p:nvSpPr>
        <p:spPr>
          <a:xfrm>
            <a:off x="1005840" y="3886200"/>
            <a:ext cx="4937760" cy="1463040"/>
          </a:xfrm>
          <a:prstGeom prst="rect">
            <a:avLst/>
          </a:prstGeom>
          <a:noFill/>
        </p:spPr>
        <p:txBody>
          <a:bodyPr wrap="square" lIns="0" rIns="0" tIns="0" bIns="0">
            <a:spAutoFit/>
          </a:bodyPr>
          <a:lstStyle/>
          <a:p>
            <a:pPr>
              <a:lnSpc>
                <a:spcPct val="125000"/>
              </a:lnSpc>
            </a:pPr>
            <a:r>
              <a:rPr sz="1500">
                <a:solidFill>
                  <a:srgbClr val="CBDDE6"/>
                </a:solidFill>
                <a:latin typeface="Trebuchet MS"/>
              </a:rPr>
              <a:t>Sections 14 and 15. Every term in one place, the order to read the code in, and the four experiments we consider most promising.</a:t>
            </a:r>
          </a:p>
        </p:txBody>
      </p:sp>
      <p:sp>
        <p:nvSpPr>
          <p:cNvPr id="5" name="Rectangle 4"/>
          <p:cNvSpPr/>
          <p:nvPr/>
        </p:nvSpPr>
        <p:spPr>
          <a:xfrm>
            <a:off x="6858000" y="1600200"/>
            <a:ext cx="9144" cy="1270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0" y="1463040"/>
            <a:ext cx="4297680" cy="3931920"/>
          </a:xfrm>
          <a:prstGeom prst="roundRect">
            <a:avLst>
              <a:gd name="adj" fmla="val 3000"/>
            </a:avLst>
          </a:prstGeom>
          <a:solidFill>
            <a:srgbClr val="1A49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4048" rIns="329184" tIns="347472"/>
          <a:lstStyle/>
          <a:p>
            <a:pPr algn="l" marL="256032" indent="-256032">
              <a:lnSpc>
                <a:spcPct val="115000"/>
              </a:lnSpc>
              <a:spcAft>
                <a:spcPts val="1100"/>
              </a:spcAft>
            </a:pPr>
            <a:r>
              <a:rPr sz="1400">
                <a:solidFill>
                  <a:srgbClr val="D9E7EE"/>
                </a:solidFill>
                <a:latin typeface="Trebuchet MS"/>
              </a:rPr>
              <a:t>·   The glossary, in three slides</a:t>
            </a:r>
          </a:p>
          <a:p>
            <a:pPr algn="l" marL="256032" indent="-256032">
              <a:lnSpc>
                <a:spcPct val="115000"/>
              </a:lnSpc>
              <a:spcAft>
                <a:spcPts val="1100"/>
              </a:spcAft>
            </a:pPr>
            <a:r>
              <a:rPr sz="1400">
                <a:solidFill>
                  <a:srgbClr val="D9E7EE"/>
                </a:solidFill>
                <a:latin typeface="Trebuchet MS"/>
              </a:rPr>
              <a:t>·   Reading the code in an order that makes sense</a:t>
            </a:r>
          </a:p>
          <a:p>
            <a:pPr algn="l" marL="256032" indent="-256032">
              <a:lnSpc>
                <a:spcPct val="115000"/>
              </a:lnSpc>
              <a:spcAft>
                <a:spcPts val="1100"/>
              </a:spcAft>
            </a:pPr>
            <a:r>
              <a:rPr sz="1400">
                <a:solidFill>
                  <a:srgbClr val="D9E7EE"/>
                </a:solidFill>
                <a:latin typeface="Trebuchet MS"/>
              </a:rPr>
              <a:t>·   Four open experiments, ranked</a:t>
            </a:r>
          </a:p>
          <a:p>
            <a:pPr algn="l" marL="256032" indent="-256032">
              <a:lnSpc>
                <a:spcPct val="115000"/>
              </a:lnSpc>
              <a:spcAft>
                <a:spcPts val="1100"/>
              </a:spcAft>
            </a:pPr>
            <a:r>
              <a:rPr sz="1400">
                <a:solidFill>
                  <a:srgbClr val="D9E7EE"/>
                </a:solidFill>
                <a:latin typeface="Trebuchet MS"/>
              </a:rPr>
              <a:t>·   How to record what you try</a:t>
            </a:r>
          </a:p>
        </p:txBody>
      </p:sp>
      <p:sp>
        <p:nvSpPr>
          <p:cNvPr id="7" name="TextBox 6"/>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VI · Glossary and
where to go next</a:t>
            </a:r>
          </a:p>
        </p:txBody>
      </p:sp>
      <p:sp>
        <p:nvSpPr>
          <p:cNvPr id="8" name="TextBox 7"/>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14</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Glossary  (1 of 3)</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572768"/>
          <a:ext cx="10637214" cy="4416552"/>
        </p:xfrm>
        <a:graphic>
          <a:graphicData uri="http://schemas.openxmlformats.org/drawingml/2006/table">
            <a:tbl>
              <a:tblPr firstRow="0" bandRow="0">
                <a:tableStyleId>{5C22544A-7EE6-4342-B048-85BDC9FD1C3A}</a:tableStyleId>
              </a:tblPr>
              <a:tblGrid>
                <a:gridCol w="3117804"/>
                <a:gridCol w="7519410"/>
              </a:tblGrid>
              <a:tr h="315468">
                <a:tc>
                  <a:txBody>
                    <a:bodyPr wrap="square"/>
                    <a:lstStyle/>
                    <a:p>
                      <a:pPr>
                        <a:lnSpc>
                          <a:spcPct val="110000"/>
                        </a:lnSpc>
                      </a:pPr>
                      <a:r>
                        <a:rPr sz="1350" b="1">
                          <a:solidFill>
                            <a:srgbClr val="FFFFFF"/>
                          </a:solidFill>
                          <a:latin typeface="Trebuchet MS"/>
                        </a:rPr>
                        <a:t>Term</a:t>
                      </a:r>
                    </a:p>
                  </a:txBody>
                  <a:tcPr marL="118872" marR="91440" marT="27432" marB="27432" anchor="ctr">
                    <a:solidFill>
                      <a:srgbClr val="1F5673"/>
                    </a:solidFill>
                  </a:tcPr>
                </a:tc>
                <a:tc>
                  <a:txBody>
                    <a:bodyPr wrap="square"/>
                    <a:lstStyle/>
                    <a:p>
                      <a:pPr>
                        <a:lnSpc>
                          <a:spcPct val="110000"/>
                        </a:lnSpc>
                      </a:pPr>
                      <a:r>
                        <a:rPr sz="1350" b="1">
                          <a:solidFill>
                            <a:srgbClr val="FFFFFF"/>
                          </a:solidFill>
                          <a:latin typeface="Trebuchet MS"/>
                        </a:rPr>
                        <a:t>Meaning</a:t>
                      </a:r>
                    </a:p>
                  </a:txBody>
                  <a:tcPr marL="118872" marR="91440" marT="27432" marB="27432" anchor="ctr">
                    <a:solidFill>
                      <a:srgbClr val="1F5673"/>
                    </a:solidFill>
                  </a:tcPr>
                </a:tc>
              </a:tr>
              <a:tr h="315468">
                <a:tc>
                  <a:txBody>
                    <a:bodyPr wrap="square"/>
                    <a:lstStyle/>
                    <a:p>
                      <a:pPr>
                        <a:lnSpc>
                          <a:spcPct val="110000"/>
                        </a:lnSpc>
                      </a:pPr>
                      <a:r>
                        <a:rPr b="1" sz="1350">
                          <a:solidFill>
                            <a:srgbClr val="1A1A1A"/>
                          </a:solidFill>
                          <a:latin typeface="Trebuchet MS"/>
                        </a:rPr>
                        <a:t>Ablation</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Removing a component to measure its contribution</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Argmax</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The index of the largest value; turns scores into a decision</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BIO / IOB2</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Tagging scheme: Beginning, Inside, Outside</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Checkpoint</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Saved model weights at a point in training</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Contextual embedding</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Token vector that depends on surrounding words</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CRF</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Layer enforcing valid label sequences via transition scores</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DAPT</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Domain-adaptive pretraining: more MLM on target-domain text</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Dev / validation set</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Held-out data used for tuning, not final scoring</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Domain shift</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Train and test data come from different distributions</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Dropout</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Randomly zeroing activations during training, to regularize</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Early stopping</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Halt training when validation stops improving</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Encoder</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Model mapping tokens to contextual vectors</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Ensemble</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Combining several models' predictions</a:t>
                      </a:r>
                    </a:p>
                  </a:txBody>
                  <a:tcPr marL="118872" marR="91440" marT="27432" marB="27432" anchor="ctr">
                    <a:solidFill>
                      <a:srgbClr val="FDFCF9"/>
                    </a:solidFill>
                  </a:tcPr>
                </a:tc>
              </a:tr>
            </a:tbl>
          </a:graphicData>
        </a:graphic>
      </p:graphicFrame>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VI · Glossary and
where to go next</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14</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Glossary  (2 of 3)</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572768"/>
          <a:ext cx="10637214" cy="4416552"/>
        </p:xfrm>
        <a:graphic>
          <a:graphicData uri="http://schemas.openxmlformats.org/drawingml/2006/table">
            <a:tbl>
              <a:tblPr firstRow="0" bandRow="0">
                <a:tableStyleId>{5C22544A-7EE6-4342-B048-85BDC9FD1C3A}</a:tableStyleId>
              </a:tblPr>
              <a:tblGrid>
                <a:gridCol w="3117804"/>
                <a:gridCol w="7519410"/>
              </a:tblGrid>
              <a:tr h="315468">
                <a:tc>
                  <a:txBody>
                    <a:bodyPr wrap="square"/>
                    <a:lstStyle/>
                    <a:p>
                      <a:pPr>
                        <a:lnSpc>
                          <a:spcPct val="110000"/>
                        </a:lnSpc>
                      </a:pPr>
                      <a:r>
                        <a:rPr sz="1350" b="1">
                          <a:solidFill>
                            <a:srgbClr val="FFFFFF"/>
                          </a:solidFill>
                          <a:latin typeface="Trebuchet MS"/>
                        </a:rPr>
                        <a:t>Term</a:t>
                      </a:r>
                    </a:p>
                  </a:txBody>
                  <a:tcPr marL="118872" marR="91440" marT="27432" marB="27432" anchor="ctr">
                    <a:solidFill>
                      <a:srgbClr val="1F5673"/>
                    </a:solidFill>
                  </a:tcPr>
                </a:tc>
                <a:tc>
                  <a:txBody>
                    <a:bodyPr wrap="square"/>
                    <a:lstStyle/>
                    <a:p>
                      <a:pPr>
                        <a:lnSpc>
                          <a:spcPct val="110000"/>
                        </a:lnSpc>
                      </a:pPr>
                      <a:r>
                        <a:rPr sz="1350" b="1">
                          <a:solidFill>
                            <a:srgbClr val="FFFFFF"/>
                          </a:solidFill>
                          <a:latin typeface="Trebuchet MS"/>
                        </a:rPr>
                        <a:t>Meaning</a:t>
                      </a:r>
                    </a:p>
                  </a:txBody>
                  <a:tcPr marL="118872" marR="91440" marT="27432" marB="27432" anchor="ctr">
                    <a:solidFill>
                      <a:srgbClr val="1F5673"/>
                    </a:solidFill>
                  </a:tcPr>
                </a:tc>
              </a:tr>
              <a:tr h="315468">
                <a:tc>
                  <a:txBody>
                    <a:bodyPr wrap="square"/>
                    <a:lstStyle/>
                    <a:p>
                      <a:pPr>
                        <a:lnSpc>
                          <a:spcPct val="110000"/>
                        </a:lnSpc>
                      </a:pPr>
                      <a:r>
                        <a:rPr b="1" sz="1350">
                          <a:solidFill>
                            <a:srgbClr val="1A1A1A"/>
                          </a:solidFill>
                          <a:latin typeface="Trebuchet MS"/>
                        </a:rPr>
                        <a:t>Epoch</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One full pass over the training data</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F1</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Harmonic mean of precision and recall</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Fine-tuning</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Adapting a pretrained model to a task with labeled data</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fp16 / fp32</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16- and 32-bit floating point</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Forced choice</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Every instance must receive a label; no abstention</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Head</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Small task-specific layer on top of an encoder</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Hidden state</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An encoder's output vector for one token</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Leakage</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Evaluation information contaminating training</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Logit</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Raw pre-softmax score</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Macro-average</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Average of per-class scores; classes weighted equally</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Micro-average</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Pool all instances, then score; instances weighted equally</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MLM</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Masked language modeling, BERT's pretraining objective</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MSA</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Modern Standard Arabic, the formal written register</a:t>
                      </a:r>
                    </a:p>
                  </a:txBody>
                  <a:tcPr marL="118872" marR="91440" marT="27432" marB="27432" anchor="ctr">
                    <a:solidFill>
                      <a:srgbClr val="FDFCF9"/>
                    </a:solidFill>
                  </a:tcPr>
                </a:tc>
              </a:tr>
            </a:tbl>
          </a:graphicData>
        </a:graphic>
      </p:graphicFrame>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VI · Glossary and
where to go next</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14</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Glossary  (3 of 3)</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572768"/>
          <a:ext cx="10637214" cy="3785616"/>
        </p:xfrm>
        <a:graphic>
          <a:graphicData uri="http://schemas.openxmlformats.org/drawingml/2006/table">
            <a:tbl>
              <a:tblPr firstRow="0" bandRow="0">
                <a:tableStyleId>{5C22544A-7EE6-4342-B048-85BDC9FD1C3A}</a:tableStyleId>
              </a:tblPr>
              <a:tblGrid>
                <a:gridCol w="3117804"/>
                <a:gridCol w="7519410"/>
              </a:tblGrid>
              <a:tr h="315468">
                <a:tc>
                  <a:txBody>
                    <a:bodyPr wrap="square"/>
                    <a:lstStyle/>
                    <a:p>
                      <a:pPr>
                        <a:lnSpc>
                          <a:spcPct val="110000"/>
                        </a:lnSpc>
                      </a:pPr>
                      <a:r>
                        <a:rPr sz="1350" b="1">
                          <a:solidFill>
                            <a:srgbClr val="FFFFFF"/>
                          </a:solidFill>
                          <a:latin typeface="Trebuchet MS"/>
                        </a:rPr>
                        <a:t>Term</a:t>
                      </a:r>
                    </a:p>
                  </a:txBody>
                  <a:tcPr marL="118872" marR="91440" marT="27432" marB="27432" anchor="ctr">
                    <a:solidFill>
                      <a:srgbClr val="1F5673"/>
                    </a:solidFill>
                  </a:tcPr>
                </a:tc>
                <a:tc>
                  <a:txBody>
                    <a:bodyPr wrap="square"/>
                    <a:lstStyle/>
                    <a:p>
                      <a:pPr>
                        <a:lnSpc>
                          <a:spcPct val="110000"/>
                        </a:lnSpc>
                      </a:pPr>
                      <a:r>
                        <a:rPr sz="1350" b="1">
                          <a:solidFill>
                            <a:srgbClr val="FFFFFF"/>
                          </a:solidFill>
                          <a:latin typeface="Trebuchet MS"/>
                        </a:rPr>
                        <a:t>Meaning</a:t>
                      </a:r>
                    </a:p>
                  </a:txBody>
                  <a:tcPr marL="118872" marR="91440" marT="27432" marB="27432" anchor="ctr">
                    <a:solidFill>
                      <a:srgbClr val="1F5673"/>
                    </a:solidFill>
                  </a:tcPr>
                </a:tc>
              </a:tr>
              <a:tr h="315468">
                <a:tc>
                  <a:txBody>
                    <a:bodyPr wrap="square"/>
                    <a:lstStyle/>
                    <a:p>
                      <a:pPr>
                        <a:lnSpc>
                          <a:spcPct val="110000"/>
                        </a:lnSpc>
                      </a:pPr>
                      <a:r>
                        <a:rPr b="1" sz="1350">
                          <a:solidFill>
                            <a:srgbClr val="1A1A1A"/>
                          </a:solidFill>
                          <a:latin typeface="Trebuchet MS"/>
                        </a:rPr>
                        <a:t>Nested entity</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An entity contained inside another entity</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OOF</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Out-of-fold: predictions from a model that never saw the record</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Overfitting</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Memorizing training data instead of generalizing</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Pseudo-label</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Model prediction used as a training label</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Seed</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Random-number initializer; fixing it makes runs reproducible</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Self-attention</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Mechanism letting each token attend to all others</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Softmax</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Turns logits into a probability distribution</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Span</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Contiguous token range plus a type</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Subword</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Vocabulary unit smaller than a word</a:t>
                      </a:r>
                    </a:p>
                  </a:txBody>
                  <a:tcPr marL="118872" marR="91440" marT="27432" marB="27432" anchor="ctr">
                    <a:solidFill>
                      <a:srgbClr val="FDFCF9"/>
                    </a:solidFill>
                  </a:tcPr>
                </a:tc>
              </a:tr>
              <a:tr h="315468">
                <a:tc>
                  <a:txBody>
                    <a:bodyPr wrap="square"/>
                    <a:lstStyle/>
                    <a:p>
                      <a:pPr>
                        <a:lnSpc>
                          <a:spcPct val="110000"/>
                        </a:lnSpc>
                      </a:pPr>
                      <a:r>
                        <a:rPr b="1" sz="1350">
                          <a:solidFill>
                            <a:srgbClr val="1A1A1A"/>
                          </a:solidFill>
                          <a:latin typeface="Trebuchet MS"/>
                        </a:rPr>
                        <a:t>Transductive learning</a:t>
                      </a:r>
                    </a:p>
                  </a:txBody>
                  <a:tcPr marL="118872" marR="91440" marT="27432" marB="27432" anchor="ctr">
                    <a:solidFill>
                      <a:srgbClr val="F4F1EA"/>
                    </a:solidFill>
                  </a:tcPr>
                </a:tc>
                <a:tc>
                  <a:txBody>
                    <a:bodyPr wrap="square"/>
                    <a:lstStyle/>
                    <a:p>
                      <a:pPr>
                        <a:lnSpc>
                          <a:spcPct val="110000"/>
                        </a:lnSpc>
                      </a:pPr>
                      <a:r>
                        <a:rPr sz="1350" b="0">
                          <a:solidFill>
                            <a:srgbClr val="1A1A1A"/>
                          </a:solidFill>
                          <a:latin typeface="Trebuchet MS"/>
                        </a:rPr>
                        <a:t>Using unlabeled test inputs during training</a:t>
                      </a:r>
                    </a:p>
                  </a:txBody>
                  <a:tcPr marL="118872" marR="91440" marT="27432" marB="27432" anchor="ctr">
                    <a:solidFill>
                      <a:srgbClr val="F4F1EA"/>
                    </a:solidFill>
                  </a:tcPr>
                </a:tc>
              </a:tr>
              <a:tr h="315468">
                <a:tc>
                  <a:txBody>
                    <a:bodyPr wrap="square"/>
                    <a:lstStyle/>
                    <a:p>
                      <a:pPr>
                        <a:lnSpc>
                          <a:spcPct val="110000"/>
                        </a:lnSpc>
                      </a:pPr>
                      <a:r>
                        <a:rPr b="1" sz="1350">
                          <a:solidFill>
                            <a:srgbClr val="1A1A1A"/>
                          </a:solidFill>
                          <a:latin typeface="Trebuchet MS"/>
                        </a:rPr>
                        <a:t>Zero-shot</a:t>
                      </a:r>
                    </a:p>
                  </a:txBody>
                  <a:tcPr marL="118872" marR="91440" marT="27432" marB="27432" anchor="ctr">
                    <a:solidFill>
                      <a:srgbClr val="FDFCF9"/>
                    </a:solidFill>
                  </a:tcPr>
                </a:tc>
                <a:tc>
                  <a:txBody>
                    <a:bodyPr wrap="square"/>
                    <a:lstStyle/>
                    <a:p>
                      <a:pPr>
                        <a:lnSpc>
                          <a:spcPct val="110000"/>
                        </a:lnSpc>
                      </a:pPr>
                      <a:r>
                        <a:rPr sz="1350" b="0">
                          <a:solidFill>
                            <a:srgbClr val="1A1A1A"/>
                          </a:solidFill>
                          <a:latin typeface="Trebuchet MS"/>
                        </a:rPr>
                        <a:t>Applying a model to a setting it saw no training data for</a:t>
                      </a:r>
                    </a:p>
                  </a:txBody>
                  <a:tcPr marL="118872" marR="91440" marT="27432" marB="27432" anchor="ctr">
                    <a:solidFill>
                      <a:srgbClr val="FDFCF9"/>
                    </a:solidFill>
                  </a:tcPr>
                </a:tc>
              </a:tr>
            </a:tbl>
          </a:graphicData>
        </a:graphic>
      </p:graphicFrame>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VI · Glossary and
where to go next</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15 · WHERE TO GO NEXT</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Read the code in this order</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572768"/>
          <a:ext cx="10637214" cy="2816352"/>
        </p:xfrm>
        <a:graphic>
          <a:graphicData uri="http://schemas.openxmlformats.org/drawingml/2006/table">
            <a:tbl>
              <a:tblPr firstRow="0" bandRow="0">
                <a:tableStyleId>{5C22544A-7EE6-4342-B048-85BDC9FD1C3A}</a:tableStyleId>
              </a:tblPr>
              <a:tblGrid>
                <a:gridCol w="550200"/>
                <a:gridCol w="2934404"/>
                <a:gridCol w="7152610"/>
              </a:tblGrid>
              <a:tr h="402336">
                <a:tc>
                  <a:txBody>
                    <a:bodyPr wrap="square"/>
                    <a:lstStyle/>
                    <a:p>
                      <a:pPr algn="ctr">
                        <a:lnSpc>
                          <a:spcPct val="110000"/>
                        </a:lnSpc>
                      </a:pPr>
                      <a:r>
                        <a:rPr sz="1500" b="1">
                          <a:solidFill>
                            <a:srgbClr val="FFFFFF"/>
                          </a:solidFill>
                          <a:latin typeface="Trebuchet MS"/>
                        </a:rPr>
                        <a:t>#</a:t>
                      </a:r>
                    </a:p>
                  </a:txBody>
                  <a:tcPr marL="118872" marR="91440" marT="27432" marB="27432" anchor="ctr">
                    <a:solidFill>
                      <a:srgbClr val="1F5673"/>
                    </a:solidFill>
                  </a:tcPr>
                </a:tc>
                <a:tc>
                  <a:txBody>
                    <a:bodyPr wrap="square"/>
                    <a:lstStyle/>
                    <a:p>
                      <a:pPr>
                        <a:lnSpc>
                          <a:spcPct val="110000"/>
                        </a:lnSpc>
                      </a:pPr>
                      <a:r>
                        <a:rPr sz="1500" b="1">
                          <a:solidFill>
                            <a:srgbClr val="FFFFFF"/>
                          </a:solidFill>
                          <a:latin typeface="Trebuchet MS"/>
                        </a:rPr>
                        <a:t>File</a:t>
                      </a:r>
                    </a:p>
                  </a:txBody>
                  <a:tcPr marL="118872" marR="91440" marT="27432" marB="27432" anchor="ctr">
                    <a:solidFill>
                      <a:srgbClr val="1F5673"/>
                    </a:solidFill>
                  </a:tcPr>
                </a:tc>
                <a:tc>
                  <a:txBody>
                    <a:bodyPr wrap="square"/>
                    <a:lstStyle/>
                    <a:p>
                      <a:pPr>
                        <a:lnSpc>
                          <a:spcPct val="110000"/>
                        </a:lnSpc>
                      </a:pPr>
                      <a:r>
                        <a:rPr sz="1500" b="1">
                          <a:solidFill>
                            <a:srgbClr val="FFFFFF"/>
                          </a:solidFill>
                          <a:latin typeface="Trebuchet MS"/>
                        </a:rPr>
                        <a:t>What you will learn</a:t>
                      </a:r>
                    </a:p>
                  </a:txBody>
                  <a:tcPr marL="118872" marR="91440" marT="27432" marB="27432" anchor="ctr">
                    <a:solidFill>
                      <a:srgbClr val="1F5673"/>
                    </a:solidFill>
                  </a:tcPr>
                </a:tc>
              </a:tr>
              <a:tr h="402336">
                <a:tc>
                  <a:txBody>
                    <a:bodyPr wrap="square"/>
                    <a:lstStyle/>
                    <a:p>
                      <a:pPr algn="ctr">
                        <a:lnSpc>
                          <a:spcPct val="110000"/>
                        </a:lnSpc>
                      </a:pPr>
                      <a:r>
                        <a:rPr sz="1500" b="0">
                          <a:solidFill>
                            <a:srgbClr val="1A1A1A"/>
                          </a:solidFill>
                          <a:latin typeface="Trebuchet MS"/>
                        </a:rPr>
                        <a:t>1</a:t>
                      </a:r>
                    </a:p>
                  </a:txBody>
                  <a:tcPr marL="118872" marR="91440" marT="27432" marB="27432" anchor="ctr">
                    <a:solidFill>
                      <a:srgbClr val="FDFCF9"/>
                    </a:solidFill>
                  </a:tcPr>
                </a:tc>
                <a:tc>
                  <a:txBody>
                    <a:bodyPr wrap="square"/>
                    <a:lstStyle/>
                    <a:p>
                      <a:pPr>
                        <a:lnSpc>
                          <a:spcPct val="110000"/>
                        </a:lnSpc>
                      </a:pPr>
                      <a:r>
                        <a:rPr sz="1350" b="0">
                          <a:solidFill>
                            <a:srgbClr val="1F5673"/>
                          </a:solidFill>
                          <a:latin typeface="Consolas"/>
                        </a:rPr>
                        <a:t>columns.py</a:t>
                      </a:r>
                    </a:p>
                  </a:txBody>
                  <a:tcPr marL="118872" marR="91440" marT="27432" marB="27432" anchor="ctr">
                    <a:solidFill>
                      <a:srgbClr val="FDFCF9"/>
                    </a:solidFill>
                  </a:tcPr>
                </a:tc>
                <a:tc>
                  <a:txBody>
                    <a:bodyPr wrap="square"/>
                    <a:lstStyle/>
                    <a:p>
                      <a:pPr>
                        <a:lnSpc>
                          <a:spcPct val="110000"/>
                        </a:lnSpc>
                      </a:pPr>
                      <a:r>
                        <a:rPr sz="1500" b="0">
                          <a:solidFill>
                            <a:srgbClr val="1A1A1A"/>
                          </a:solidFill>
                          <a:latin typeface="Trebuchet MS"/>
                        </a:rPr>
                        <a:t>The 21 types, and their fixed ordering</a:t>
                      </a:r>
                    </a:p>
                  </a:txBody>
                  <a:tcPr marL="118872" marR="91440" marT="27432" marB="27432" anchor="ctr">
                    <a:solidFill>
                      <a:srgbClr val="FDFCF9"/>
                    </a:solidFill>
                  </a:tcPr>
                </a:tc>
              </a:tr>
              <a:tr h="402336">
                <a:tc>
                  <a:txBody>
                    <a:bodyPr wrap="square"/>
                    <a:lstStyle/>
                    <a:p>
                      <a:pPr algn="ctr">
                        <a:lnSpc>
                          <a:spcPct val="110000"/>
                        </a:lnSpc>
                      </a:pPr>
                      <a:r>
                        <a:rPr sz="1500" b="0">
                          <a:solidFill>
                            <a:srgbClr val="1A1A1A"/>
                          </a:solidFill>
                          <a:latin typeface="Trebuchet MS"/>
                        </a:rPr>
                        <a:t>2</a:t>
                      </a:r>
                    </a:p>
                  </a:txBody>
                  <a:tcPr marL="118872" marR="91440" marT="27432" marB="27432" anchor="ctr">
                    <a:solidFill>
                      <a:srgbClr val="F4F1EA"/>
                    </a:solidFill>
                  </a:tcPr>
                </a:tc>
                <a:tc>
                  <a:txBody>
                    <a:bodyPr wrap="square"/>
                    <a:lstStyle/>
                    <a:p>
                      <a:pPr>
                        <a:lnSpc>
                          <a:spcPct val="110000"/>
                        </a:lnSpc>
                      </a:pPr>
                      <a:r>
                        <a:rPr sz="1350" b="0">
                          <a:solidFill>
                            <a:srgbClr val="1F5673"/>
                          </a:solidFill>
                          <a:latin typeface="Consolas"/>
                        </a:rPr>
                        <a:t>spans.py</a:t>
                      </a:r>
                    </a:p>
                  </a:txBody>
                  <a:tcPr marL="118872" marR="91440" marT="27432" marB="27432" anchor="ctr">
                    <a:solidFill>
                      <a:srgbClr val="F4F1EA"/>
                    </a:solidFill>
                  </a:tcPr>
                </a:tc>
                <a:tc>
                  <a:txBody>
                    <a:bodyPr wrap="square"/>
                    <a:lstStyle/>
                    <a:p>
                      <a:pPr>
                        <a:lnSpc>
                          <a:spcPct val="110000"/>
                        </a:lnSpc>
                      </a:pPr>
                      <a:r>
                        <a:rPr sz="1500" b="0">
                          <a:solidFill>
                            <a:srgbClr val="1A1A1A"/>
                          </a:solidFill>
                          <a:latin typeface="Trebuchet MS"/>
                        </a:rPr>
                        <a:t>BIO decoding and the ensemble vote. Small and self-contained: start here</a:t>
                      </a:r>
                    </a:p>
                  </a:txBody>
                  <a:tcPr marL="118872" marR="91440" marT="27432" marB="27432" anchor="ctr">
                    <a:solidFill>
                      <a:srgbClr val="F4F1EA"/>
                    </a:solidFill>
                  </a:tcPr>
                </a:tc>
              </a:tr>
              <a:tr h="402336">
                <a:tc>
                  <a:txBody>
                    <a:bodyPr wrap="square"/>
                    <a:lstStyle/>
                    <a:p>
                      <a:pPr algn="ctr">
                        <a:lnSpc>
                          <a:spcPct val="110000"/>
                        </a:lnSpc>
                      </a:pPr>
                      <a:r>
                        <a:rPr sz="1500" b="0">
                          <a:solidFill>
                            <a:srgbClr val="1A1A1A"/>
                          </a:solidFill>
                          <a:latin typeface="Trebuchet MS"/>
                        </a:rPr>
                        <a:t>3</a:t>
                      </a:r>
                    </a:p>
                  </a:txBody>
                  <a:tcPr marL="118872" marR="91440" marT="27432" marB="27432" anchor="ctr">
                    <a:solidFill>
                      <a:srgbClr val="FDFCF9"/>
                    </a:solidFill>
                  </a:tcPr>
                </a:tc>
                <a:tc>
                  <a:txBody>
                    <a:bodyPr wrap="square"/>
                    <a:lstStyle/>
                    <a:p>
                      <a:pPr>
                        <a:lnSpc>
                          <a:spcPct val="110000"/>
                        </a:lnSpc>
                      </a:pPr>
                      <a:r>
                        <a:rPr sz="1350" b="0">
                          <a:solidFill>
                            <a:srgbClr val="1F5673"/>
                          </a:solidFill>
                          <a:latin typeface="Consolas"/>
                        </a:rPr>
                        <a:t>ner_model.py</a:t>
                      </a:r>
                    </a:p>
                  </a:txBody>
                  <a:tcPr marL="118872" marR="91440" marT="27432" marB="27432" anchor="ctr">
                    <a:solidFill>
                      <a:srgbClr val="FDFCF9"/>
                    </a:solidFill>
                  </a:tcPr>
                </a:tc>
                <a:tc>
                  <a:txBody>
                    <a:bodyPr wrap="square"/>
                    <a:lstStyle/>
                    <a:p>
                      <a:pPr>
                        <a:lnSpc>
                          <a:spcPct val="110000"/>
                        </a:lnSpc>
                      </a:pPr>
                      <a:r>
                        <a:rPr sz="1500" b="0">
                          <a:solidFill>
                            <a:srgbClr val="1A1A1A"/>
                          </a:solidFill>
                          <a:latin typeface="Trebuchet MS"/>
                        </a:rPr>
                        <a:t>The architecture and the unified loss</a:t>
                      </a:r>
                    </a:p>
                  </a:txBody>
                  <a:tcPr marL="118872" marR="91440" marT="27432" marB="27432" anchor="ctr">
                    <a:solidFill>
                      <a:srgbClr val="FDFCF9"/>
                    </a:solidFill>
                  </a:tcPr>
                </a:tc>
              </a:tr>
              <a:tr h="402336">
                <a:tc>
                  <a:txBody>
                    <a:bodyPr wrap="square"/>
                    <a:lstStyle/>
                    <a:p>
                      <a:pPr algn="ctr">
                        <a:lnSpc>
                          <a:spcPct val="110000"/>
                        </a:lnSpc>
                      </a:pPr>
                      <a:r>
                        <a:rPr sz="1500" b="0">
                          <a:solidFill>
                            <a:srgbClr val="1A1A1A"/>
                          </a:solidFill>
                          <a:latin typeface="Trebuchet MS"/>
                        </a:rPr>
                        <a:t>4</a:t>
                      </a:r>
                    </a:p>
                  </a:txBody>
                  <a:tcPr marL="118872" marR="91440" marT="27432" marB="27432" anchor="ctr">
                    <a:solidFill>
                      <a:srgbClr val="F4F1EA"/>
                    </a:solidFill>
                  </a:tcPr>
                </a:tc>
                <a:tc>
                  <a:txBody>
                    <a:bodyPr wrap="square"/>
                    <a:lstStyle/>
                    <a:p>
                      <a:pPr>
                        <a:lnSpc>
                          <a:spcPct val="110000"/>
                        </a:lnSpc>
                      </a:pPr>
                      <a:r>
                        <a:rPr sz="1350" b="0">
                          <a:solidFill>
                            <a:srgbClr val="1F5673"/>
                          </a:solidFill>
                          <a:latin typeface="Consolas"/>
                        </a:rPr>
                        <a:t>re_markers.py</a:t>
                      </a:r>
                    </a:p>
                  </a:txBody>
                  <a:tcPr marL="118872" marR="91440" marT="27432" marB="27432" anchor="ctr">
                    <a:solidFill>
                      <a:srgbClr val="F4F1EA"/>
                    </a:solidFill>
                  </a:tcPr>
                </a:tc>
                <a:tc>
                  <a:txBody>
                    <a:bodyPr wrap="square"/>
                    <a:lstStyle/>
                    <a:p>
                      <a:pPr>
                        <a:lnSpc>
                          <a:spcPct val="110000"/>
                        </a:lnSpc>
                      </a:pPr>
                      <a:r>
                        <a:rPr sz="1500" b="0">
                          <a:solidFill>
                            <a:srgbClr val="1A1A1A"/>
                          </a:solidFill>
                          <a:latin typeface="Trebuchet MS"/>
                        </a:rPr>
                        <a:t>Marker insertion, including the nesting case</a:t>
                      </a:r>
                    </a:p>
                  </a:txBody>
                  <a:tcPr marL="118872" marR="91440" marT="27432" marB="27432" anchor="ctr">
                    <a:solidFill>
                      <a:srgbClr val="F4F1EA"/>
                    </a:solidFill>
                  </a:tcPr>
                </a:tc>
              </a:tr>
              <a:tr h="402336">
                <a:tc>
                  <a:txBody>
                    <a:bodyPr wrap="square"/>
                    <a:lstStyle/>
                    <a:p>
                      <a:pPr algn="ctr">
                        <a:lnSpc>
                          <a:spcPct val="110000"/>
                        </a:lnSpc>
                      </a:pPr>
                      <a:r>
                        <a:rPr sz="1500" b="0">
                          <a:solidFill>
                            <a:srgbClr val="1A1A1A"/>
                          </a:solidFill>
                          <a:latin typeface="Trebuchet MS"/>
                        </a:rPr>
                        <a:t>5</a:t>
                      </a:r>
                    </a:p>
                  </a:txBody>
                  <a:tcPr marL="118872" marR="91440" marT="27432" marB="27432" anchor="ctr">
                    <a:solidFill>
                      <a:srgbClr val="FDFCF9"/>
                    </a:solidFill>
                  </a:tcPr>
                </a:tc>
                <a:tc>
                  <a:txBody>
                    <a:bodyPr wrap="square"/>
                    <a:lstStyle/>
                    <a:p>
                      <a:pPr>
                        <a:lnSpc>
                          <a:spcPct val="110000"/>
                        </a:lnSpc>
                      </a:pPr>
                      <a:r>
                        <a:rPr sz="1350" b="0">
                          <a:solidFill>
                            <a:srgbClr val="1F5673"/>
                          </a:solidFill>
                          <a:latin typeface="Consolas"/>
                        </a:rPr>
                        <a:t>re_constraints.py</a:t>
                      </a:r>
                    </a:p>
                  </a:txBody>
                  <a:tcPr marL="118872" marR="91440" marT="27432" marB="27432" anchor="ctr">
                    <a:solidFill>
                      <a:srgbClr val="FDFCF9"/>
                    </a:solidFill>
                  </a:tcPr>
                </a:tc>
                <a:tc>
                  <a:txBody>
                    <a:bodyPr wrap="square"/>
                    <a:lstStyle/>
                    <a:p>
                      <a:pPr>
                        <a:lnSpc>
                          <a:spcPct val="110000"/>
                        </a:lnSpc>
                      </a:pPr>
                      <a:r>
                        <a:rPr sz="1500" b="0">
                          <a:solidFill>
                            <a:srgbClr val="1A1A1A"/>
                          </a:solidFill>
                          <a:latin typeface="Trebuchet MS"/>
                        </a:rPr>
                        <a:t>The type table and penalty logic</a:t>
                      </a:r>
                    </a:p>
                  </a:txBody>
                  <a:tcPr marL="118872" marR="91440" marT="27432" marB="27432" anchor="ctr">
                    <a:solidFill>
                      <a:srgbClr val="FDFCF9"/>
                    </a:solidFill>
                  </a:tcPr>
                </a:tc>
              </a:tr>
              <a:tr h="402336">
                <a:tc>
                  <a:txBody>
                    <a:bodyPr wrap="square"/>
                    <a:lstStyle/>
                    <a:p>
                      <a:pPr algn="ctr">
                        <a:lnSpc>
                          <a:spcPct val="110000"/>
                        </a:lnSpc>
                      </a:pPr>
                      <a:r>
                        <a:rPr sz="1500" b="0">
                          <a:solidFill>
                            <a:srgbClr val="1A1A1A"/>
                          </a:solidFill>
                          <a:latin typeface="Trebuchet MS"/>
                        </a:rPr>
                        <a:t>6</a:t>
                      </a:r>
                    </a:p>
                  </a:txBody>
                  <a:tcPr marL="118872" marR="91440" marT="27432" marB="27432" anchor="ctr">
                    <a:solidFill>
                      <a:srgbClr val="F4F1EA"/>
                    </a:solidFill>
                  </a:tcPr>
                </a:tc>
                <a:tc>
                  <a:txBody>
                    <a:bodyPr wrap="square"/>
                    <a:lstStyle/>
                    <a:p>
                      <a:pPr>
                        <a:lnSpc>
                          <a:spcPct val="110000"/>
                        </a:lnSpc>
                      </a:pPr>
                      <a:r>
                        <a:rPr sz="1350" b="0">
                          <a:solidFill>
                            <a:srgbClr val="1F5673"/>
                          </a:solidFill>
                          <a:latin typeface="Consolas"/>
                        </a:rPr>
                        <a:t>kaggle/*/kernel/*.py</a:t>
                      </a:r>
                    </a:p>
                  </a:txBody>
                  <a:tcPr marL="118872" marR="91440" marT="27432" marB="27432" anchor="ctr">
                    <a:solidFill>
                      <a:srgbClr val="F4F1EA"/>
                    </a:solidFill>
                  </a:tcPr>
                </a:tc>
                <a:tc>
                  <a:txBody>
                    <a:bodyPr wrap="square"/>
                    <a:lstStyle/>
                    <a:p>
                      <a:pPr>
                        <a:lnSpc>
                          <a:spcPct val="110000"/>
                        </a:lnSpc>
                      </a:pPr>
                      <a:r>
                        <a:rPr sz="1500" b="0">
                          <a:solidFill>
                            <a:srgbClr val="1A1A1A"/>
                          </a:solidFill>
                          <a:latin typeface="Trebuchet MS"/>
                        </a:rPr>
                        <a:t>How a full campaign is orchestrated</a:t>
                      </a:r>
                    </a:p>
                  </a:txBody>
                  <a:tcPr marL="118872" marR="91440" marT="27432" marB="27432" anchor="ctr">
                    <a:solidFill>
                      <a:srgbClr val="F4F1EA"/>
                    </a:solidFill>
                  </a:tcPr>
                </a:tc>
              </a:tr>
            </a:tbl>
          </a:graphicData>
        </a:graphic>
      </p:graphicFrame>
      <p:sp>
        <p:nvSpPr>
          <p:cNvPr id="6" name="Rounded Rectangle 5"/>
          <p:cNvSpPr/>
          <p:nvPr/>
        </p:nvSpPr>
        <p:spPr>
          <a:xfrm>
            <a:off x="777240" y="4590288"/>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DO NOT SKIP THE TESTS</a:t>
            </a:r>
          </a:p>
          <a:p>
            <a:pPr>
              <a:lnSpc>
                <a:spcPct val="124000"/>
              </a:lnSpc>
            </a:pPr>
            <a:r>
              <a:rPr sz="1350" b="0">
                <a:solidFill>
                  <a:srgbClr val="1F5673"/>
                </a:solidFill>
                <a:latin typeface="Consolas"/>
              </a:rPr>
              <a:t>tests/</a:t>
            </a:r>
            <a:r>
              <a:rPr sz="1500" b="0">
                <a:solidFill>
                  <a:srgbClr val="1A1A1A"/>
                </a:solidFill>
                <a:latin typeface="Trebuchet MS"/>
              </a:rPr>
              <a:t> is good reading in its own right: tests are executable documentation of what each component promises. When the prose and the test disagree, the test is the one that runs.</a:t>
            </a:r>
          </a:p>
        </p:txBody>
      </p:sp>
      <p:sp>
        <p:nvSpPr>
          <p:cNvPr id="7" name="Rectangle 6"/>
          <p:cNvSpPr/>
          <p:nvPr/>
        </p:nvSpPr>
        <p:spPr>
          <a:xfrm>
            <a:off x="777240" y="4590288"/>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VI · Glossary and
where to go next</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TextBox 1"/>
          <p:cNvSpPr txBox="1"/>
          <p:nvPr/>
        </p:nvSpPr>
        <p:spPr>
          <a:xfrm>
            <a:off x="777240" y="182880"/>
            <a:ext cx="10637215" cy="274320"/>
          </a:xfrm>
          <a:prstGeom prst="rect">
            <a:avLst/>
          </a:prstGeom>
          <a:noFill/>
        </p:spPr>
        <p:txBody>
          <a:bodyPr wrap="square" lIns="0" rIns="0" tIns="0" bIns="0">
            <a:spAutoFit/>
          </a:bodyPr>
          <a:lstStyle/>
          <a:p>
            <a:r>
              <a:rPr sz="1150" b="1">
                <a:solidFill>
                  <a:srgbClr val="9E4A2B"/>
                </a:solidFill>
                <a:latin typeface="Trebuchet MS"/>
              </a:rPr>
              <a:t>SECTION 15 · CONTRIBUTE SOMETHING</a:t>
            </a:r>
          </a:p>
        </p:txBody>
      </p:sp>
      <p:sp>
        <p:nvSpPr>
          <p:cNvPr id="3" name="TextBox 2"/>
          <p:cNvSpPr txBox="1"/>
          <p:nvPr/>
        </p:nvSpPr>
        <p:spPr>
          <a:xfrm>
            <a:off x="777240" y="530352"/>
            <a:ext cx="10637215" cy="822960"/>
          </a:xfrm>
          <a:prstGeom prst="rect">
            <a:avLst/>
          </a:prstGeom>
          <a:noFill/>
        </p:spPr>
        <p:txBody>
          <a:bodyPr wrap="square" lIns="0" rIns="0" tIns="0" bIns="0">
            <a:spAutoFit/>
          </a:bodyPr>
          <a:lstStyle/>
          <a:p>
            <a:pPr>
              <a:lnSpc>
                <a:spcPct val="105000"/>
              </a:lnSpc>
            </a:pPr>
            <a:r>
              <a:rPr sz="2700" b="1">
                <a:solidFill>
                  <a:srgbClr val="1F5673"/>
                </a:solidFill>
                <a:latin typeface="Trebuchet MS"/>
              </a:rPr>
              <a:t>Four open experiments, in the order we would try them</a:t>
            </a:r>
          </a:p>
        </p:txBody>
      </p:sp>
      <p:sp>
        <p:nvSpPr>
          <p:cNvPr id="4" name="Rectangle 3"/>
          <p:cNvSpPr/>
          <p:nvPr/>
        </p:nvSpPr>
        <p:spPr>
          <a:xfrm>
            <a:off x="777240" y="1335024"/>
            <a:ext cx="10637215" cy="12700"/>
          </a:xfrm>
          <a:prstGeom prst="rect">
            <a:avLst/>
          </a:prstGeom>
          <a:solidFill>
            <a:srgbClr val="D8D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72768"/>
            <a:ext cx="10637215" cy="365760"/>
          </a:xfrm>
          <a:prstGeom prst="rect">
            <a:avLst/>
          </a:prstGeom>
          <a:noFill/>
        </p:spPr>
        <p:txBody>
          <a:bodyPr wrap="square" lIns="0" rIns="0" tIns="0" bIns="0">
            <a:spAutoFit/>
          </a:bodyPr>
          <a:lstStyle/>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Tversky α &lt; 0.5</a:t>
            </a:r>
            <a:r>
              <a:rPr sz="1700" b="0">
                <a:solidFill>
                  <a:srgbClr val="1A1A1A"/>
                </a:solidFill>
                <a:latin typeface="Trebuchet MS"/>
              </a:rPr>
              <a:t>  (Section 5).  The loss has a precision/recall dial sitting at neutral while recall is our known weakness. Cheap to try, and it targets the deficit directly</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DAPT on the unlabeled test text</a:t>
            </a:r>
            <a:r>
              <a:rPr sz="1700" b="0">
                <a:solidFill>
                  <a:srgbClr val="1A1A1A"/>
                </a:solidFill>
                <a:latin typeface="Trebuchet MS"/>
              </a:rPr>
              <a:t>  (Section 12).  The largest projected gain (+2 to +5), organizer-sanctioned, and it attacks the systematic recall failure at its root</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A CRF layer or constrained decoding</a:t>
            </a:r>
            <a:r>
              <a:rPr sz="1700" b="0">
                <a:solidFill>
                  <a:srgbClr val="1A1A1A"/>
                </a:solidFill>
                <a:latin typeface="Trebuchet MS"/>
              </a:rPr>
              <a:t>  (Section 6).  Eliminate the 201 repairs rather than patching them</a:t>
            </a:r>
          </a:p>
          <a:p>
            <a:pPr marL="256032" indent="-256032">
              <a:lnSpc>
                <a:spcPct val="122000"/>
              </a:lnSpc>
              <a:spcBef>
                <a:spcPts val="0"/>
              </a:spcBef>
              <a:spcAft>
                <a:spcPts val="900"/>
              </a:spcAft>
            </a:pPr>
            <a:r>
              <a:rPr sz="1700">
                <a:solidFill>
                  <a:srgbClr val="9E4A2B"/>
                </a:solidFill>
                <a:latin typeface="Trebuchet MS"/>
              </a:rPr>
              <a:t>▪  </a:t>
            </a:r>
            <a:r>
              <a:rPr b="1" sz="1700">
                <a:solidFill>
                  <a:srgbClr val="1A1A1A"/>
                </a:solidFill>
                <a:latin typeface="Trebuchet MS"/>
              </a:rPr>
              <a:t>Reconcile our scorer with the official one</a:t>
            </a:r>
            <a:r>
              <a:rPr sz="1700" b="0">
                <a:solidFill>
                  <a:srgbClr val="1A1A1A"/>
                </a:solidFill>
                <a:latin typeface="Trebuchet MS"/>
              </a:rPr>
              <a:t>  (Section 13).  Our local numbers are self-consistent, but we have not verified they match the official implementation exactly</a:t>
            </a:r>
          </a:p>
        </p:txBody>
      </p:sp>
      <p:sp>
        <p:nvSpPr>
          <p:cNvPr id="6" name="Rounded Rectangle 5"/>
          <p:cNvSpPr/>
          <p:nvPr/>
        </p:nvSpPr>
        <p:spPr>
          <a:xfrm>
            <a:off x="777240" y="4265167"/>
            <a:ext cx="10637215" cy="1130808"/>
          </a:xfrm>
          <a:prstGeom prst="roundRect">
            <a:avLst>
              <a:gd name="adj" fmla="val 3000"/>
            </a:avLst>
          </a:prstGeom>
          <a:solidFill>
            <a:srgbClr val="FAF2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237744" tIns="155448"/>
          <a:lstStyle/>
          <a:p>
            <a:pPr algn="l">
              <a:spcAft>
                <a:spcPts val="500"/>
              </a:spcAft>
            </a:pPr>
            <a:r>
              <a:rPr sz="1150" b="1">
                <a:solidFill>
                  <a:srgbClr val="9E4A2B"/>
                </a:solidFill>
                <a:latin typeface="Trebuchet MS"/>
              </a:rPr>
              <a:t>WHATEVER YOU TRY, ADD A ROW TO `EXPERIMENTS/LEDGER.TSV`</a:t>
            </a:r>
          </a:p>
          <a:p>
            <a:pPr>
              <a:lnSpc>
                <a:spcPct val="124000"/>
              </a:lnSpc>
            </a:pPr>
            <a:r>
              <a:rPr sz="1500" b="0">
                <a:solidFill>
                  <a:srgbClr val="1A1A1A"/>
                </a:solidFill>
                <a:latin typeface="Trebuchet MS"/>
              </a:rPr>
              <a:t>Run id, git hash, config, seed, metric, score. Future you will need it, and so will the paper. An experiment you cannot reconstruct is an experiment you did not run.</a:t>
            </a:r>
          </a:p>
        </p:txBody>
      </p:sp>
      <p:sp>
        <p:nvSpPr>
          <p:cNvPr id="7" name="Rectangle 6"/>
          <p:cNvSpPr/>
          <p:nvPr/>
        </p:nvSpPr>
        <p:spPr>
          <a:xfrm>
            <a:off x="777240" y="4265167"/>
            <a:ext cx="44450" cy="1130808"/>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VI · Glossary and
where to go next</a:t>
            </a:r>
          </a:p>
        </p:txBody>
      </p:sp>
      <p:sp>
        <p:nvSpPr>
          <p:cNvPr id="9" name="TextBox 8"/>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Rectangle 1"/>
          <p:cNvSpPr/>
          <p:nvPr/>
        </p:nvSpPr>
        <p:spPr>
          <a:xfrm>
            <a:off x="777240" y="1737360"/>
            <a:ext cx="2377440" cy="31750"/>
          </a:xfrm>
          <a:prstGeom prst="rect">
            <a:avLst/>
          </a:prstGeom>
          <a:solidFill>
            <a:srgbClr val="9E4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234440"/>
            <a:ext cx="10637215" cy="365760"/>
          </a:xfrm>
          <a:prstGeom prst="rect">
            <a:avLst/>
          </a:prstGeom>
          <a:noFill/>
        </p:spPr>
        <p:txBody>
          <a:bodyPr wrap="square" lIns="0" rIns="0" tIns="0" bIns="0">
            <a:spAutoFit/>
          </a:bodyPr>
          <a:lstStyle/>
          <a:p>
            <a:r>
              <a:rPr sz="1300" b="1">
                <a:solidFill>
                  <a:srgbClr val="9E4A2B"/>
                </a:solidFill>
                <a:latin typeface="Trebuchet MS"/>
              </a:rPr>
              <a:t>THE THROUGH-LINE OF THIS WHOLE DECK</a:t>
            </a:r>
          </a:p>
        </p:txBody>
      </p:sp>
      <p:sp>
        <p:nvSpPr>
          <p:cNvPr id="4" name="TextBox 3"/>
          <p:cNvSpPr txBox="1"/>
          <p:nvPr/>
        </p:nvSpPr>
        <p:spPr>
          <a:xfrm>
            <a:off x="777240" y="2148840"/>
            <a:ext cx="9905695" cy="2743200"/>
          </a:xfrm>
          <a:prstGeom prst="rect">
            <a:avLst/>
          </a:prstGeom>
          <a:noFill/>
        </p:spPr>
        <p:txBody>
          <a:bodyPr wrap="square" lIns="0" rIns="0" tIns="0" bIns="0">
            <a:spAutoFit/>
          </a:bodyPr>
          <a:lstStyle/>
          <a:p>
            <a:pPr>
              <a:lnSpc>
                <a:spcPct val="122000"/>
              </a:lnSpc>
            </a:pPr>
            <a:r>
              <a:rPr sz="3000" b="0">
                <a:solidFill>
                  <a:srgbClr val="1F5673"/>
                </a:solidFill>
                <a:latin typeface="Trebuchet MS"/>
              </a:rPr>
              <a:t>Nearly every choice here was ordinary. What makes the results believable is that each approximation was measured, each safeguard we dropped was named, and each fix was tested against the problem we actually had.</a:t>
            </a:r>
          </a:p>
        </p:txBody>
      </p:sp>
      <p:sp>
        <p:nvSpPr>
          <p:cNvPr id="5" name="TextBox 4"/>
          <p:cNvSpPr txBox="1"/>
          <p:nvPr/>
        </p:nvSpPr>
        <p:spPr>
          <a:xfrm>
            <a:off x="777240" y="5120640"/>
            <a:ext cx="9905695" cy="731520"/>
          </a:xfrm>
          <a:prstGeom prst="rect">
            <a:avLst/>
          </a:prstGeom>
          <a:noFill/>
        </p:spPr>
        <p:txBody>
          <a:bodyPr wrap="square" lIns="0" rIns="0" tIns="0" bIns="0">
            <a:spAutoFit/>
          </a:bodyPr>
          <a:lstStyle/>
          <a:p>
            <a:pPr>
              <a:lnSpc>
                <a:spcPct val="120000"/>
              </a:lnSpc>
            </a:pPr>
            <a:r>
              <a:rPr sz="1400" b="0">
                <a:solidFill>
                  <a:srgbClr val="6B6B6B"/>
                </a:solidFill>
                <a:latin typeface="Trebuchet MS"/>
              </a:rPr>
              <a:t>Team Rabt · KnowledgeGraphEval 2026 · companion to </a:t>
            </a:r>
            <a:r>
              <a:rPr sz="1260" b="0">
                <a:solidFill>
                  <a:srgbClr val="1F5673"/>
                </a:solidFill>
                <a:latin typeface="Consolas"/>
              </a:rPr>
              <a:t>docs/learning-corner/paper-companion.md</a:t>
            </a:r>
          </a:p>
        </p:txBody>
      </p:sp>
      <p:sp>
        <p:nvSpPr>
          <p:cNvPr id="6" name="TextBox 5"/>
          <p:cNvSpPr txBox="1"/>
          <p:nvPr/>
        </p:nvSpPr>
        <p:spPr>
          <a:xfrm>
            <a:off x="777240" y="6364224"/>
            <a:ext cx="10637215" cy="274320"/>
          </a:xfrm>
          <a:prstGeom prst="rect">
            <a:avLst/>
          </a:prstGeom>
          <a:noFill/>
        </p:spPr>
        <p:txBody>
          <a:bodyPr wrap="square" lIns="0" rIns="0" tIns="0" bIns="0">
            <a:spAutoFit/>
          </a:bodyPr>
          <a:lstStyle/>
          <a:p>
            <a:r>
              <a:rPr sz="1000">
                <a:solidFill>
                  <a:srgbClr val="6B6B6B"/>
                </a:solidFill>
                <a:latin typeface="Trebuchet MS"/>
              </a:rPr>
              <a:t>Part VI · Glossary and
where to go next</a:t>
            </a:r>
          </a:p>
        </p:txBody>
      </p:sp>
      <p:sp>
        <p:nvSpPr>
          <p:cNvPr id="7" name="TextBox 6"/>
          <p:cNvSpPr txBox="1"/>
          <p:nvPr/>
        </p:nvSpPr>
        <p:spPr>
          <a:xfrm>
            <a:off x="10500055" y="6364224"/>
            <a:ext cx="914400" cy="274320"/>
          </a:xfrm>
          <a:prstGeom prst="rect">
            <a:avLst/>
          </a:prstGeom>
          <a:noFill/>
        </p:spPr>
        <p:txBody>
          <a:bodyPr wrap="square" lIns="0" rIns="0" tIns="0" bIns="0">
            <a:spAutoFit/>
          </a:bodyPr>
          <a:lstStyle/>
          <a:p>
            <a:pPr algn="r"/>
            <a:r>
              <a:rPr sz="1000">
                <a:solidFill>
                  <a:srgbClr val="6B6B6B"/>
                </a:solidFill>
                <a:latin typeface="Trebuchet MS"/>
              </a:rPr>
              <a:t>83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